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362" r:id="rId2"/>
    <p:sldId id="2363" r:id="rId3"/>
    <p:sldId id="2364" r:id="rId4"/>
    <p:sldId id="322" r:id="rId5"/>
    <p:sldId id="274" r:id="rId6"/>
    <p:sldId id="287" r:id="rId7"/>
    <p:sldId id="329" r:id="rId8"/>
    <p:sldId id="323" r:id="rId9"/>
    <p:sldId id="316" r:id="rId10"/>
    <p:sldId id="332" r:id="rId11"/>
    <p:sldId id="310" r:id="rId12"/>
    <p:sldId id="330" r:id="rId13"/>
    <p:sldId id="280" r:id="rId14"/>
    <p:sldId id="325" r:id="rId15"/>
    <p:sldId id="324" r:id="rId16"/>
    <p:sldId id="326" r:id="rId17"/>
    <p:sldId id="317" r:id="rId18"/>
    <p:sldId id="333" r:id="rId19"/>
    <p:sldId id="311" r:id="rId20"/>
    <p:sldId id="331" r:id="rId21"/>
    <p:sldId id="327" r:id="rId22"/>
    <p:sldId id="318" r:id="rId23"/>
    <p:sldId id="334" r:id="rId24"/>
    <p:sldId id="321" r:id="rId25"/>
    <p:sldId id="297" r:id="rId26"/>
    <p:sldId id="27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9F0BD1-07B3-42E2-930E-B8C12CBE83F7}" v="5" dt="2022-03-02T21:57:54.8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867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8263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573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30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112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2052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103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61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278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7109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9379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5169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sql/relational-databases/databases/system-databases?view=sql-server-ver15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158F480-2B77-C8B1-943E-B5513865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704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0A0F398-111E-5E44-E55A-A72D942D859E}"/>
              </a:ext>
            </a:extLst>
          </p:cNvPr>
          <p:cNvSpPr txBox="1"/>
          <p:nvPr/>
        </p:nvSpPr>
        <p:spPr>
          <a:xfrm>
            <a:off x="1" y="1073436"/>
            <a:ext cx="1219200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solidFill>
                  <a:srgbClr val="007DA9"/>
                </a:solidFill>
                <a:latin typeface="Impact" panose="020B0806030902050204" pitchFamily="34" charset="0"/>
              </a:rPr>
              <a:t>DIA 8</a:t>
            </a:r>
          </a:p>
        </p:txBody>
      </p:sp>
    </p:spTree>
    <p:extLst>
      <p:ext uri="{BB962C8B-B14F-4D97-AF65-F5344CB8AC3E}">
        <p14:creationId xmlns:p14="http://schemas.microsoft.com/office/powerpoint/2010/main" val="40811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158F480-2B77-C8B1-943E-B5513865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A19FF47-FE0D-B7B4-B69B-041B5B40F464}"/>
              </a:ext>
            </a:extLst>
          </p:cNvPr>
          <p:cNvSpPr txBox="1"/>
          <p:nvPr/>
        </p:nvSpPr>
        <p:spPr>
          <a:xfrm>
            <a:off x="6456216" y="5513354"/>
            <a:ext cx="64654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latin typeface="Impact" panose="020B0806030902050204" pitchFamily="34" charset="0"/>
              </a:rPr>
              <a:t>SQL </a:t>
            </a:r>
            <a:r>
              <a:rPr lang="pt-BR" sz="7200" dirty="0" err="1">
                <a:latin typeface="Impact" panose="020B0806030902050204" pitchFamily="34" charset="0"/>
              </a:rPr>
              <a:t>Engines</a:t>
            </a:r>
            <a:endParaRPr lang="pt-BR" sz="72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530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19">
            <a:extLst>
              <a:ext uri="{FF2B5EF4-FFF2-40B4-BE49-F238E27FC236}">
                <a16:creationId xmlns:a16="http://schemas.microsoft.com/office/drawing/2014/main" id="{C22DF9EC-E1CF-49F0-8245-4EC4B3224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DA93DFC2-F728-40FC-BB00-B28F571423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8" name="Rectangle 21">
            <a:extLst>
              <a:ext uri="{FF2B5EF4-FFF2-40B4-BE49-F238E27FC236}">
                <a16:creationId xmlns:a16="http://schemas.microsoft.com/office/drawing/2014/main" id="{2127E00B-321B-4F10-B503-F67C9A05B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23">
            <a:extLst>
              <a:ext uri="{FF2B5EF4-FFF2-40B4-BE49-F238E27FC236}">
                <a16:creationId xmlns:a16="http://schemas.microsoft.com/office/drawing/2014/main" id="{77FA2C2B-2359-4B23-86CF-404AD05B7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06A00D9-9BA3-4ED3-A1D8-07189F2AC203}"/>
              </a:ext>
            </a:extLst>
          </p:cNvPr>
          <p:cNvSpPr txBox="1"/>
          <p:nvPr/>
        </p:nvSpPr>
        <p:spPr>
          <a:xfrm>
            <a:off x="352426" y="3091928"/>
            <a:ext cx="1168717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6600" b="1" dirty="0">
                <a:latin typeface="+mj-lt"/>
                <a:ea typeface="+mj-ea"/>
                <a:cs typeface="+mj-cs"/>
              </a:rPr>
              <a:t>FUNÇÕES DE AGREGAÇÃO</a:t>
            </a:r>
            <a:endParaRPr lang="en-US" sz="66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21800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230008" y="1307333"/>
            <a:ext cx="4786571" cy="7313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 err="1">
                <a:latin typeface="+mj-lt"/>
                <a:ea typeface="+mj-ea"/>
                <a:cs typeface="+mj-cs"/>
              </a:rPr>
              <a:t>Funções</a:t>
            </a:r>
            <a:r>
              <a:rPr lang="en-US" sz="3600" b="1" dirty="0">
                <a:latin typeface="+mj-lt"/>
                <a:ea typeface="+mj-ea"/>
                <a:cs typeface="+mj-cs"/>
              </a:rPr>
              <a:t> de </a:t>
            </a:r>
            <a:r>
              <a:rPr lang="en-US" sz="3600" b="1" dirty="0" err="1">
                <a:latin typeface="+mj-lt"/>
                <a:ea typeface="+mj-ea"/>
                <a:cs typeface="+mj-cs"/>
              </a:rPr>
              <a:t>Agregação</a:t>
            </a:r>
            <a:endParaRPr lang="en-US" sz="3600" b="1" dirty="0">
              <a:latin typeface="+mj-lt"/>
              <a:ea typeface="+mj-ea"/>
              <a:cs typeface="+mj-cs"/>
            </a:endParaRPr>
          </a:p>
        </p:txBody>
      </p:sp>
      <p:sp>
        <p:nvSpPr>
          <p:cNvPr id="16" name="Freeform: Shape 1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D195509-717A-46FB-B99F-6404C6E20256}"/>
              </a:ext>
            </a:extLst>
          </p:cNvPr>
          <p:cNvSpPr txBox="1"/>
          <p:nvPr/>
        </p:nvSpPr>
        <p:spPr>
          <a:xfrm>
            <a:off x="7367432" y="2534895"/>
            <a:ext cx="464914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/>
            <a:r>
              <a:rPr lang="pt-BR" sz="3200" b="0" i="0" dirty="0">
                <a:effectLst/>
                <a:latin typeface="+mj-lt"/>
              </a:rPr>
              <a:t>Neste tópico, iremos abordar as principais e mais usadas funções de agregação da linguagem SQL </a:t>
            </a:r>
            <a:r>
              <a:rPr lang="pt-BR" sz="3200" b="0" i="1" dirty="0">
                <a:effectLst/>
                <a:latin typeface="+mj-lt"/>
              </a:rPr>
              <a:t>MIN, MAX, SUM, COUNT e AVG</a:t>
            </a:r>
            <a:r>
              <a:rPr lang="pt-BR" sz="3200" b="0" i="0" dirty="0">
                <a:effectLst/>
                <a:latin typeface="+mj-lt"/>
              </a:rPr>
              <a:t>.</a:t>
            </a:r>
            <a:endParaRPr lang="pt-BR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360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188052" y="2352674"/>
            <a:ext cx="5168677" cy="27717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3200" dirty="0">
                <a:latin typeface="+mj-lt"/>
              </a:rPr>
              <a:t>A sintaxe! Em todas elas a sintaxe é a mesma.</a:t>
            </a:r>
          </a:p>
          <a:p>
            <a:endParaRPr lang="pt-BR" sz="3200" dirty="0">
              <a:latin typeface="+mj-lt"/>
            </a:endParaRPr>
          </a:p>
          <a:p>
            <a:r>
              <a:rPr lang="pt-BR" sz="3200" dirty="0">
                <a:latin typeface="+mj-lt"/>
              </a:rPr>
              <a:t>Sintaxe:</a:t>
            </a:r>
          </a:p>
          <a:p>
            <a:pPr lvl="1"/>
            <a:r>
              <a:rPr lang="pt-BR" sz="3200" dirty="0" err="1">
                <a:latin typeface="+mj-lt"/>
              </a:rPr>
              <a:t>tipo_de_funcao</a:t>
            </a:r>
            <a:r>
              <a:rPr lang="pt-BR" sz="3200" dirty="0">
                <a:latin typeface="+mj-lt"/>
              </a:rPr>
              <a:t>(coluna)</a:t>
            </a: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8932E9D-A238-4B0B-A5C6-DE18B28A5BBF}"/>
              </a:ext>
            </a:extLst>
          </p:cNvPr>
          <p:cNvSpPr txBox="1"/>
          <p:nvPr/>
        </p:nvSpPr>
        <p:spPr>
          <a:xfrm>
            <a:off x="7188052" y="1120039"/>
            <a:ext cx="4786571" cy="11251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latin typeface="+mj-lt"/>
                <a:ea typeface="+mj-ea"/>
                <a:cs typeface="+mj-cs"/>
              </a:rPr>
              <a:t>O que as </a:t>
            </a:r>
            <a:r>
              <a:rPr lang="en-US" sz="3600" b="1" dirty="0" err="1">
                <a:latin typeface="+mj-lt"/>
                <a:ea typeface="+mj-ea"/>
                <a:cs typeface="+mj-cs"/>
              </a:rPr>
              <a:t>funções</a:t>
            </a:r>
            <a:r>
              <a:rPr lang="en-US" sz="3600" b="1" dirty="0">
                <a:latin typeface="+mj-lt"/>
                <a:ea typeface="+mj-ea"/>
                <a:cs typeface="+mj-cs"/>
              </a:rPr>
              <a:t> </a:t>
            </a:r>
            <a:r>
              <a:rPr lang="en-US" sz="3600" b="1" dirty="0" err="1">
                <a:latin typeface="+mj-lt"/>
                <a:ea typeface="+mj-ea"/>
                <a:cs typeface="+mj-cs"/>
              </a:rPr>
              <a:t>possuem</a:t>
            </a:r>
            <a:r>
              <a:rPr lang="en-US" sz="3600" b="1" dirty="0">
                <a:latin typeface="+mj-lt"/>
                <a:ea typeface="+mj-ea"/>
                <a:cs typeface="+mj-cs"/>
              </a:rPr>
              <a:t> </a:t>
            </a:r>
            <a:r>
              <a:rPr lang="en-US" sz="3600" b="1" dirty="0" err="1">
                <a:latin typeface="+mj-lt"/>
                <a:ea typeface="+mj-ea"/>
                <a:cs typeface="+mj-cs"/>
              </a:rPr>
              <a:t>em</a:t>
            </a:r>
            <a:r>
              <a:rPr lang="en-US" sz="3600" b="1" dirty="0">
                <a:latin typeface="+mj-lt"/>
                <a:ea typeface="+mj-ea"/>
                <a:cs typeface="+mj-cs"/>
              </a:rPr>
              <a:t> </a:t>
            </a:r>
            <a:r>
              <a:rPr lang="en-US" sz="3600" b="1" dirty="0" err="1">
                <a:latin typeface="+mj-lt"/>
                <a:ea typeface="+mj-ea"/>
                <a:cs typeface="+mj-cs"/>
              </a:rPr>
              <a:t>comum</a:t>
            </a:r>
            <a:r>
              <a:rPr lang="en-US" sz="3600" b="1" dirty="0">
                <a:latin typeface="+mj-lt"/>
                <a:ea typeface="+mj-ea"/>
                <a:cs typeface="+mj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8715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 descr="Nuvem estrutura de tópicos">
            <a:extLst>
              <a:ext uri="{FF2B5EF4-FFF2-40B4-BE49-F238E27FC236}">
                <a16:creationId xmlns:a16="http://schemas.microsoft.com/office/drawing/2014/main" id="{9D9D30B7-9581-4BC8-A308-4E8CBAD79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5981" y="3628305"/>
            <a:ext cx="6234696" cy="4270429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6" name="Gráfico 5" descr="Building">
            <a:extLst>
              <a:ext uri="{FF2B5EF4-FFF2-40B4-BE49-F238E27FC236}">
                <a16:creationId xmlns:a16="http://schemas.microsoft.com/office/drawing/2014/main" id="{FE25F290-4E95-4B39-9D57-516B366D4E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23735" y="701941"/>
            <a:ext cx="1889760" cy="1516257"/>
          </a:xfrm>
          <a:prstGeom prst="rect">
            <a:avLst/>
          </a:prstGeom>
        </p:spPr>
      </p:pic>
      <p:pic>
        <p:nvPicPr>
          <p:cNvPr id="21" name="Gráfico 5" descr="Users">
            <a:extLst>
              <a:ext uri="{FF2B5EF4-FFF2-40B4-BE49-F238E27FC236}">
                <a16:creationId xmlns:a16="http://schemas.microsoft.com/office/drawing/2014/main" id="{FEFC976B-86A0-4212-8930-A6F2876E53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22859" y="3591560"/>
            <a:ext cx="914400" cy="914400"/>
          </a:xfrm>
          <a:prstGeom prst="rect">
            <a:avLst/>
          </a:prstGeom>
        </p:spPr>
      </p:pic>
      <p:pic>
        <p:nvPicPr>
          <p:cNvPr id="25" name="Gráfico 37" descr="Users">
            <a:extLst>
              <a:ext uri="{FF2B5EF4-FFF2-40B4-BE49-F238E27FC236}">
                <a16:creationId xmlns:a16="http://schemas.microsoft.com/office/drawing/2014/main" id="{83319940-1F67-48B4-8B92-368637F91E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17031" y="2457980"/>
            <a:ext cx="914400" cy="914400"/>
          </a:xfrm>
          <a:prstGeom prst="rect">
            <a:avLst/>
          </a:prstGeom>
        </p:spPr>
      </p:pic>
      <p:pic>
        <p:nvPicPr>
          <p:cNvPr id="26" name="Gráfico 5" descr="Users">
            <a:extLst>
              <a:ext uri="{FF2B5EF4-FFF2-40B4-BE49-F238E27FC236}">
                <a16:creationId xmlns:a16="http://schemas.microsoft.com/office/drawing/2014/main" id="{94A772B7-C20D-4D2F-AA0C-850F891C25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34143" y="2457980"/>
            <a:ext cx="914400" cy="914400"/>
          </a:xfrm>
          <a:prstGeom prst="rect">
            <a:avLst/>
          </a:prstGeom>
        </p:spPr>
      </p:pic>
      <p:pic>
        <p:nvPicPr>
          <p:cNvPr id="27" name="Gráfico 26" descr="Users">
            <a:extLst>
              <a:ext uri="{FF2B5EF4-FFF2-40B4-BE49-F238E27FC236}">
                <a16:creationId xmlns:a16="http://schemas.microsoft.com/office/drawing/2014/main" id="{2E94EE8F-214A-438F-92EF-A450724A6D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28489" y="3591560"/>
            <a:ext cx="914400" cy="914400"/>
          </a:xfrm>
          <a:prstGeom prst="rect">
            <a:avLst/>
          </a:prstGeom>
        </p:spPr>
      </p:pic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8EB3F35D-91DB-415D-AC99-26233CE4FF48}"/>
              </a:ext>
            </a:extLst>
          </p:cNvPr>
          <p:cNvCxnSpPr>
            <a:cxnSpLocks/>
          </p:cNvCxnSpPr>
          <p:nvPr/>
        </p:nvCxnSpPr>
        <p:spPr>
          <a:xfrm flipH="1">
            <a:off x="7574231" y="1460070"/>
            <a:ext cx="1049504" cy="9979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B130CCB4-FA38-49F9-9784-29D78159E87E}"/>
              </a:ext>
            </a:extLst>
          </p:cNvPr>
          <p:cNvCxnSpPr>
            <a:cxnSpLocks/>
          </p:cNvCxnSpPr>
          <p:nvPr/>
        </p:nvCxnSpPr>
        <p:spPr>
          <a:xfrm>
            <a:off x="10513495" y="1460070"/>
            <a:ext cx="1077848" cy="9979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BC6BC662-B955-4AAB-8778-C9BA107FF0BD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8680059" y="2218198"/>
            <a:ext cx="888556" cy="13733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8B14EB07-4193-4C64-9F46-6361841B7CA9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9568615" y="2218198"/>
            <a:ext cx="817074" cy="13733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F2A7F7C-B905-4E21-A29A-601EA18A19C5}"/>
              </a:ext>
            </a:extLst>
          </p:cNvPr>
          <p:cNvSpPr txBox="1"/>
          <p:nvPr/>
        </p:nvSpPr>
        <p:spPr>
          <a:xfrm>
            <a:off x="8736383" y="262104"/>
            <a:ext cx="17172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Empresa XPTO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6662D34-8937-42BB-B4AB-9C2B7704B3B7}"/>
              </a:ext>
            </a:extLst>
          </p:cNvPr>
          <p:cNvSpPr txBox="1"/>
          <p:nvPr/>
        </p:nvSpPr>
        <p:spPr>
          <a:xfrm>
            <a:off x="9735923" y="6168658"/>
            <a:ext cx="21380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/>
              <a:t>Quantos Funcionários?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33876D2-1E9E-4654-AB6C-910090CDE7E9}"/>
              </a:ext>
            </a:extLst>
          </p:cNvPr>
          <p:cNvSpPr txBox="1"/>
          <p:nvPr/>
        </p:nvSpPr>
        <p:spPr>
          <a:xfrm>
            <a:off x="8332296" y="5318254"/>
            <a:ext cx="24726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Qual o Gasto com Salário?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860D639-96D5-401B-9A07-7CF5F5BE1438}"/>
              </a:ext>
            </a:extLst>
          </p:cNvPr>
          <p:cNvSpPr txBox="1"/>
          <p:nvPr/>
        </p:nvSpPr>
        <p:spPr>
          <a:xfrm>
            <a:off x="7188052" y="6199436"/>
            <a:ext cx="2138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Qual a Média Salarial?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6A245E3-1EB8-4996-8E20-2E69D5F135BB}"/>
              </a:ext>
            </a:extLst>
          </p:cNvPr>
          <p:cNvSpPr txBox="1"/>
          <p:nvPr/>
        </p:nvSpPr>
        <p:spPr>
          <a:xfrm>
            <a:off x="7117031" y="5754954"/>
            <a:ext cx="21774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Qual o Maior Salário?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243DA47-18F6-4CD1-A81D-42195A127143}"/>
              </a:ext>
            </a:extLst>
          </p:cNvPr>
          <p:cNvSpPr txBox="1"/>
          <p:nvPr/>
        </p:nvSpPr>
        <p:spPr>
          <a:xfrm>
            <a:off x="7069245" y="3141547"/>
            <a:ext cx="962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Depto</a:t>
            </a:r>
            <a:r>
              <a:rPr lang="pt-BR" b="1" dirty="0"/>
              <a:t> 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79AF5D3-C869-42AD-B98B-13E364F27036}"/>
              </a:ext>
            </a:extLst>
          </p:cNvPr>
          <p:cNvSpPr txBox="1"/>
          <p:nvPr/>
        </p:nvSpPr>
        <p:spPr>
          <a:xfrm>
            <a:off x="11093453" y="3141547"/>
            <a:ext cx="968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Depto</a:t>
            </a:r>
            <a:r>
              <a:rPr lang="pt-BR" b="1" dirty="0"/>
              <a:t> D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6F848DD-ADE1-4DBB-AFF5-BCF68E8E158D}"/>
              </a:ext>
            </a:extLst>
          </p:cNvPr>
          <p:cNvSpPr txBox="1"/>
          <p:nvPr/>
        </p:nvSpPr>
        <p:spPr>
          <a:xfrm>
            <a:off x="8188464" y="4317810"/>
            <a:ext cx="95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Depto</a:t>
            </a:r>
            <a:r>
              <a:rPr lang="pt-BR" b="1" dirty="0"/>
              <a:t> B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ECF6DAE-FCDE-43A2-9CB0-AC12BDC263E4}"/>
              </a:ext>
            </a:extLst>
          </p:cNvPr>
          <p:cNvSpPr txBox="1"/>
          <p:nvPr/>
        </p:nvSpPr>
        <p:spPr>
          <a:xfrm>
            <a:off x="9913412" y="4304035"/>
            <a:ext cx="944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Depto</a:t>
            </a:r>
            <a:r>
              <a:rPr lang="pt-BR" b="1" dirty="0"/>
              <a:t> C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E241D24-74C2-43D7-B87A-DE9A38760121}"/>
              </a:ext>
            </a:extLst>
          </p:cNvPr>
          <p:cNvSpPr txBox="1"/>
          <p:nvPr/>
        </p:nvSpPr>
        <p:spPr>
          <a:xfrm>
            <a:off x="9137259" y="5743456"/>
            <a:ext cx="2128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Qual o Menor Salário?</a:t>
            </a:r>
          </a:p>
        </p:txBody>
      </p:sp>
    </p:spTree>
    <p:extLst>
      <p:ext uri="{BB962C8B-B14F-4D97-AF65-F5344CB8AC3E}">
        <p14:creationId xmlns:p14="http://schemas.microsoft.com/office/powerpoint/2010/main" val="2260188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" grpId="0"/>
      <p:bldP spid="17" grpId="0"/>
      <p:bldP spid="18" grpId="0"/>
      <p:bldP spid="20" grpId="0"/>
      <p:bldP spid="7" grpId="0"/>
      <p:bldP spid="24" grpId="0"/>
      <p:bldP spid="29" grpId="0"/>
      <p:bldP spid="30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411348" y="1411550"/>
            <a:ext cx="4573506" cy="49803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pt-BR" sz="2800" dirty="0">
                <a:latin typeface="+mj-lt"/>
              </a:rPr>
              <a:t>Enquete: É possível em uma query existir mais de uma função de agregação?</a:t>
            </a:r>
          </a:p>
          <a:p>
            <a:endParaRPr lang="pt-BR" sz="2800" dirty="0">
              <a:latin typeface="+mj-lt"/>
            </a:endParaRPr>
          </a:p>
          <a:p>
            <a:r>
              <a:rPr lang="pt-BR" sz="2800" dirty="0">
                <a:latin typeface="+mj-lt"/>
              </a:rPr>
              <a:t>Exemplo: Da Tabela Funcionários apresentar as informações:</a:t>
            </a:r>
          </a:p>
          <a:p>
            <a:endParaRPr lang="pt-BR" sz="2800" dirty="0">
              <a:latin typeface="+mj-lt"/>
            </a:endParaRPr>
          </a:p>
          <a:p>
            <a:r>
              <a:rPr lang="pt-BR" sz="2800" dirty="0">
                <a:latin typeface="+mj-lt"/>
              </a:rPr>
              <a:t>1 – Maior Salário</a:t>
            </a:r>
          </a:p>
          <a:p>
            <a:r>
              <a:rPr lang="pt-BR" sz="2800" dirty="0">
                <a:latin typeface="+mj-lt"/>
              </a:rPr>
              <a:t>2 – Média de Salário</a:t>
            </a:r>
          </a:p>
          <a:p>
            <a:r>
              <a:rPr lang="pt-BR" sz="2800" dirty="0">
                <a:latin typeface="+mj-lt"/>
              </a:rPr>
              <a:t>3 – Total de Funcionários</a:t>
            </a:r>
          </a:p>
          <a:p>
            <a:r>
              <a:rPr lang="pt-BR" sz="2800" dirty="0">
                <a:latin typeface="+mj-lt"/>
              </a:rPr>
              <a:t>4 – Média Salarial</a:t>
            </a:r>
          </a:p>
          <a:p>
            <a:endParaRPr lang="pt-BR" sz="2800" dirty="0">
              <a:latin typeface="+mj-lt"/>
            </a:endParaRPr>
          </a:p>
          <a:p>
            <a:r>
              <a:rPr lang="pt-BR" sz="2800" dirty="0">
                <a:latin typeface="+mj-lt"/>
              </a:rPr>
              <a:t>Sim ou Não?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43912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Hands On!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Você é hands-on? | Robert Half">
            <a:extLst>
              <a:ext uri="{FF2B5EF4-FFF2-40B4-BE49-F238E27FC236}">
                <a16:creationId xmlns:a16="http://schemas.microsoft.com/office/drawing/2014/main" id="{785272BA-B1FD-40E4-AF67-60C22563FD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7" r="12918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146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19">
            <a:extLst>
              <a:ext uri="{FF2B5EF4-FFF2-40B4-BE49-F238E27FC236}">
                <a16:creationId xmlns:a16="http://schemas.microsoft.com/office/drawing/2014/main" id="{C22DF9EC-E1CF-49F0-8245-4EC4B3224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DA93DFC2-F728-40FC-BB00-B28F571423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8" name="Rectangle 21">
            <a:extLst>
              <a:ext uri="{FF2B5EF4-FFF2-40B4-BE49-F238E27FC236}">
                <a16:creationId xmlns:a16="http://schemas.microsoft.com/office/drawing/2014/main" id="{2127E00B-321B-4F10-B503-F67C9A05B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23">
            <a:extLst>
              <a:ext uri="{FF2B5EF4-FFF2-40B4-BE49-F238E27FC236}">
                <a16:creationId xmlns:a16="http://schemas.microsoft.com/office/drawing/2014/main" id="{77FA2C2B-2359-4B23-86CF-404AD05B7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06A00D9-9BA3-4ED3-A1D8-07189F2AC203}"/>
              </a:ext>
            </a:extLst>
          </p:cNvPr>
          <p:cNvSpPr txBox="1"/>
          <p:nvPr/>
        </p:nvSpPr>
        <p:spPr>
          <a:xfrm>
            <a:off x="352426" y="3091928"/>
            <a:ext cx="1168717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6600" b="1" dirty="0">
                <a:latin typeface="+mj-lt"/>
                <a:ea typeface="+mj-ea"/>
                <a:cs typeface="+mj-cs"/>
              </a:rPr>
              <a:t>FUNÇÕES DE AGRUPAMENTO</a:t>
            </a:r>
            <a:endParaRPr lang="en-US" sz="66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75156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4E44439-84C9-4B2D-A51A-58C5054AC038}"/>
              </a:ext>
            </a:extLst>
          </p:cNvPr>
          <p:cNvSpPr txBox="1"/>
          <p:nvPr/>
        </p:nvSpPr>
        <p:spPr>
          <a:xfrm>
            <a:off x="7230008" y="1307333"/>
            <a:ext cx="4786571" cy="7313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 err="1">
                <a:latin typeface="+mj-lt"/>
                <a:ea typeface="+mj-ea"/>
                <a:cs typeface="+mj-cs"/>
              </a:rPr>
              <a:t>Função</a:t>
            </a:r>
            <a:r>
              <a:rPr lang="en-US" sz="3600" b="1" dirty="0">
                <a:latin typeface="+mj-lt"/>
                <a:ea typeface="+mj-ea"/>
                <a:cs typeface="+mj-cs"/>
              </a:rPr>
              <a:t> de </a:t>
            </a:r>
            <a:r>
              <a:rPr lang="en-US" sz="3600" b="1" dirty="0" err="1">
                <a:latin typeface="+mj-lt"/>
                <a:ea typeface="+mj-ea"/>
                <a:cs typeface="+mj-cs"/>
              </a:rPr>
              <a:t>Agrupamento</a:t>
            </a:r>
            <a:endParaRPr lang="en-US" sz="3600" b="1" dirty="0">
              <a:latin typeface="+mj-lt"/>
              <a:ea typeface="+mj-ea"/>
              <a:cs typeface="+mj-cs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74BF52B-A6C3-4C91-9C4A-CC2C55DA4B7A}"/>
              </a:ext>
            </a:extLst>
          </p:cNvPr>
          <p:cNvSpPr txBox="1"/>
          <p:nvPr/>
        </p:nvSpPr>
        <p:spPr>
          <a:xfrm>
            <a:off x="7367432" y="2534895"/>
            <a:ext cx="464914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dirty="0">
                <a:effectLst/>
                <a:latin typeface="+mj-lt"/>
              </a:rPr>
              <a:t>Neste tópico, </a:t>
            </a:r>
            <a:r>
              <a:rPr lang="pt-BR" sz="3200" b="0" i="1" dirty="0">
                <a:latin typeface="+mj-lt"/>
              </a:rPr>
              <a:t>i</a:t>
            </a:r>
            <a:r>
              <a:rPr lang="pt-BR" sz="3200" i="1" dirty="0">
                <a:effectLst/>
                <a:latin typeface="+mj-lt"/>
              </a:rPr>
              <a:t>remos abordar as funções GROUP BY e HAVING.</a:t>
            </a:r>
            <a:endParaRPr lang="pt-BR" sz="3200" i="0" dirty="0">
              <a:effectLst/>
              <a:latin typeface="+mj-lt"/>
            </a:endParaRPr>
          </a:p>
          <a:p>
            <a:endParaRPr lang="pt-BR" sz="3200" dirty="0">
              <a:latin typeface="+mj-lt"/>
            </a:endParaRPr>
          </a:p>
          <a:p>
            <a:endParaRPr lang="pt-BR" sz="3200" dirty="0">
              <a:latin typeface="+mj-lt"/>
            </a:endParaRPr>
          </a:p>
          <a:p>
            <a:pPr rtl="0" fontAlgn="base"/>
            <a:endParaRPr lang="pt-BR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02483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63" name="Gráfico 62" descr="Nuvem estrutura de tópicos">
            <a:extLst>
              <a:ext uri="{FF2B5EF4-FFF2-40B4-BE49-F238E27FC236}">
                <a16:creationId xmlns:a16="http://schemas.microsoft.com/office/drawing/2014/main" id="{617AE373-9D48-4F3D-BA18-D9D88DBA09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4147" y="3803761"/>
            <a:ext cx="6036527" cy="3924497"/>
          </a:xfrm>
          <a:prstGeom prst="rect">
            <a:avLst/>
          </a:prstGeom>
        </p:spPr>
      </p:pic>
      <p:pic>
        <p:nvPicPr>
          <p:cNvPr id="64" name="Gráfico 63" descr="Building">
            <a:extLst>
              <a:ext uri="{FF2B5EF4-FFF2-40B4-BE49-F238E27FC236}">
                <a16:creationId xmlns:a16="http://schemas.microsoft.com/office/drawing/2014/main" id="{95FBE927-9E2C-4572-90BB-D2FF1E5026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23735" y="701941"/>
            <a:ext cx="1889760" cy="1516257"/>
          </a:xfrm>
          <a:prstGeom prst="rect">
            <a:avLst/>
          </a:prstGeom>
        </p:spPr>
      </p:pic>
      <p:pic>
        <p:nvPicPr>
          <p:cNvPr id="65" name="Gráfico 5" descr="Users">
            <a:extLst>
              <a:ext uri="{FF2B5EF4-FFF2-40B4-BE49-F238E27FC236}">
                <a16:creationId xmlns:a16="http://schemas.microsoft.com/office/drawing/2014/main" id="{47600260-4524-48B6-9D90-CA77F27D7B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22859" y="3591560"/>
            <a:ext cx="914400" cy="914400"/>
          </a:xfrm>
          <a:prstGeom prst="rect">
            <a:avLst/>
          </a:prstGeom>
        </p:spPr>
      </p:pic>
      <p:pic>
        <p:nvPicPr>
          <p:cNvPr id="66" name="Gráfico 37" descr="Users">
            <a:extLst>
              <a:ext uri="{FF2B5EF4-FFF2-40B4-BE49-F238E27FC236}">
                <a16:creationId xmlns:a16="http://schemas.microsoft.com/office/drawing/2014/main" id="{6560DCB8-686C-43B5-ACE1-AF7D277325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17031" y="2457980"/>
            <a:ext cx="914400" cy="914400"/>
          </a:xfrm>
          <a:prstGeom prst="rect">
            <a:avLst/>
          </a:prstGeom>
        </p:spPr>
      </p:pic>
      <p:pic>
        <p:nvPicPr>
          <p:cNvPr id="67" name="Gráfico 5" descr="Users">
            <a:extLst>
              <a:ext uri="{FF2B5EF4-FFF2-40B4-BE49-F238E27FC236}">
                <a16:creationId xmlns:a16="http://schemas.microsoft.com/office/drawing/2014/main" id="{C92D6795-DFFC-4A0D-B771-FB2746DBC1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34143" y="2457980"/>
            <a:ext cx="914400" cy="914400"/>
          </a:xfrm>
          <a:prstGeom prst="rect">
            <a:avLst/>
          </a:prstGeom>
        </p:spPr>
      </p:pic>
      <p:pic>
        <p:nvPicPr>
          <p:cNvPr id="68" name="Gráfico 67" descr="Users">
            <a:extLst>
              <a:ext uri="{FF2B5EF4-FFF2-40B4-BE49-F238E27FC236}">
                <a16:creationId xmlns:a16="http://schemas.microsoft.com/office/drawing/2014/main" id="{20963E9A-748A-4EF5-9F44-9968F17AA4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28489" y="3591560"/>
            <a:ext cx="914400" cy="914400"/>
          </a:xfrm>
          <a:prstGeom prst="rect">
            <a:avLst/>
          </a:prstGeom>
        </p:spPr>
      </p:pic>
      <p:cxnSp>
        <p:nvCxnSpPr>
          <p:cNvPr id="69" name="Conector de Seta Reta 68">
            <a:extLst>
              <a:ext uri="{FF2B5EF4-FFF2-40B4-BE49-F238E27FC236}">
                <a16:creationId xmlns:a16="http://schemas.microsoft.com/office/drawing/2014/main" id="{5D39D6B6-62D4-4A17-AD8E-D5A9724381D0}"/>
              </a:ext>
            </a:extLst>
          </p:cNvPr>
          <p:cNvCxnSpPr>
            <a:cxnSpLocks/>
          </p:cNvCxnSpPr>
          <p:nvPr/>
        </p:nvCxnSpPr>
        <p:spPr>
          <a:xfrm flipH="1">
            <a:off x="7574231" y="1460070"/>
            <a:ext cx="1049504" cy="9979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>
            <a:extLst>
              <a:ext uri="{FF2B5EF4-FFF2-40B4-BE49-F238E27FC236}">
                <a16:creationId xmlns:a16="http://schemas.microsoft.com/office/drawing/2014/main" id="{26A553CC-911D-42AE-B8A0-83CF6CB42D37}"/>
              </a:ext>
            </a:extLst>
          </p:cNvPr>
          <p:cNvCxnSpPr>
            <a:cxnSpLocks/>
          </p:cNvCxnSpPr>
          <p:nvPr/>
        </p:nvCxnSpPr>
        <p:spPr>
          <a:xfrm>
            <a:off x="10513495" y="1460070"/>
            <a:ext cx="1077848" cy="9979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de Seta Reta 70">
            <a:extLst>
              <a:ext uri="{FF2B5EF4-FFF2-40B4-BE49-F238E27FC236}">
                <a16:creationId xmlns:a16="http://schemas.microsoft.com/office/drawing/2014/main" id="{EF589DD5-8F4B-4282-ADE2-A247383DE2BA}"/>
              </a:ext>
            </a:extLst>
          </p:cNvPr>
          <p:cNvCxnSpPr>
            <a:cxnSpLocks/>
            <a:endCxn id="65" idx="0"/>
          </p:cNvCxnSpPr>
          <p:nvPr/>
        </p:nvCxnSpPr>
        <p:spPr>
          <a:xfrm flipH="1">
            <a:off x="8680059" y="2218198"/>
            <a:ext cx="888556" cy="13733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71">
            <a:extLst>
              <a:ext uri="{FF2B5EF4-FFF2-40B4-BE49-F238E27FC236}">
                <a16:creationId xmlns:a16="http://schemas.microsoft.com/office/drawing/2014/main" id="{2A34CE41-0D9A-4561-8A83-A5F0D1C31807}"/>
              </a:ext>
            </a:extLst>
          </p:cNvPr>
          <p:cNvCxnSpPr>
            <a:cxnSpLocks/>
            <a:endCxn id="68" idx="0"/>
          </p:cNvCxnSpPr>
          <p:nvPr/>
        </p:nvCxnSpPr>
        <p:spPr>
          <a:xfrm>
            <a:off x="9568615" y="2218198"/>
            <a:ext cx="817074" cy="13733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46DD52A9-3B82-4C96-94D1-FF9FA101D4BE}"/>
              </a:ext>
            </a:extLst>
          </p:cNvPr>
          <p:cNvSpPr txBox="1"/>
          <p:nvPr/>
        </p:nvSpPr>
        <p:spPr>
          <a:xfrm>
            <a:off x="8736383" y="262104"/>
            <a:ext cx="17172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Empresa XPTO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13FC9F14-DA89-4354-84E6-00AF259ED6DA}"/>
              </a:ext>
            </a:extLst>
          </p:cNvPr>
          <p:cNvSpPr txBox="1"/>
          <p:nvPr/>
        </p:nvSpPr>
        <p:spPr>
          <a:xfrm>
            <a:off x="8445722" y="5351319"/>
            <a:ext cx="22985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Qual Departamento Tem Maior Média Salarial?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200F1925-A534-4C17-856A-F560340DFF5B}"/>
              </a:ext>
            </a:extLst>
          </p:cNvPr>
          <p:cNvSpPr txBox="1"/>
          <p:nvPr/>
        </p:nvSpPr>
        <p:spPr>
          <a:xfrm>
            <a:off x="7276587" y="6272928"/>
            <a:ext cx="4737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Qual departamento Possui Maior Nº de Funcionários?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D1436E05-1719-45EB-9486-1240E169E741}"/>
              </a:ext>
            </a:extLst>
          </p:cNvPr>
          <p:cNvSpPr txBox="1"/>
          <p:nvPr/>
        </p:nvSpPr>
        <p:spPr>
          <a:xfrm>
            <a:off x="7069245" y="3141547"/>
            <a:ext cx="962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Depto</a:t>
            </a:r>
            <a:r>
              <a:rPr lang="pt-BR" b="1" dirty="0"/>
              <a:t> A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0CBCC045-96A2-4892-8274-F312CD3E1FD0}"/>
              </a:ext>
            </a:extLst>
          </p:cNvPr>
          <p:cNvSpPr txBox="1"/>
          <p:nvPr/>
        </p:nvSpPr>
        <p:spPr>
          <a:xfrm>
            <a:off x="11093453" y="3141547"/>
            <a:ext cx="968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Depto</a:t>
            </a:r>
            <a:r>
              <a:rPr lang="pt-BR" b="1" dirty="0"/>
              <a:t> D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40D7D5FD-47D8-40B5-BD8D-971A2E55AA64}"/>
              </a:ext>
            </a:extLst>
          </p:cNvPr>
          <p:cNvSpPr txBox="1"/>
          <p:nvPr/>
        </p:nvSpPr>
        <p:spPr>
          <a:xfrm>
            <a:off x="8188464" y="4317810"/>
            <a:ext cx="95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Depto</a:t>
            </a:r>
            <a:r>
              <a:rPr lang="pt-BR" b="1" dirty="0"/>
              <a:t> B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8AC3B827-10C3-47CC-A357-7F9C2A6D6EBD}"/>
              </a:ext>
            </a:extLst>
          </p:cNvPr>
          <p:cNvSpPr txBox="1"/>
          <p:nvPr/>
        </p:nvSpPr>
        <p:spPr>
          <a:xfrm>
            <a:off x="9913412" y="4304035"/>
            <a:ext cx="944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Depto</a:t>
            </a:r>
            <a:r>
              <a:rPr lang="pt-BR" b="1" dirty="0"/>
              <a:t> C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9C1B7F44-DC33-4175-81C5-B397E3F0EF55}"/>
              </a:ext>
            </a:extLst>
          </p:cNvPr>
          <p:cNvSpPr txBox="1"/>
          <p:nvPr/>
        </p:nvSpPr>
        <p:spPr>
          <a:xfrm>
            <a:off x="7661266" y="5920599"/>
            <a:ext cx="4225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Qual Menor/Maior salário do departamento?</a:t>
            </a:r>
          </a:p>
        </p:txBody>
      </p:sp>
    </p:spTree>
    <p:extLst>
      <p:ext uri="{BB962C8B-B14F-4D97-AF65-F5344CB8AC3E}">
        <p14:creationId xmlns:p14="http://schemas.microsoft.com/office/powerpoint/2010/main" val="928995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7" grpId="0"/>
      <p:bldP spid="79" grpId="0"/>
      <p:bldP spid="80" grpId="0"/>
      <p:bldP spid="81" grpId="0"/>
      <p:bldP spid="82" grpId="0"/>
      <p:bldP spid="83" grpId="0"/>
      <p:bldP spid="8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C68C712-3EB5-4548-B017-0B4D8DE9FFB9}"/>
              </a:ext>
            </a:extLst>
          </p:cNvPr>
          <p:cNvSpPr txBox="1"/>
          <p:nvPr/>
        </p:nvSpPr>
        <p:spPr>
          <a:xfrm>
            <a:off x="7398056" y="2989554"/>
            <a:ext cx="4927108" cy="8788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rtl="0" fontAlgn="base"/>
            <a:r>
              <a:rPr lang="pt-BR" sz="4000" b="1" i="1" dirty="0"/>
              <a:t>Função de Agrupamento </a:t>
            </a:r>
          </a:p>
          <a:p>
            <a:pPr rtl="0" fontAlgn="base"/>
            <a:r>
              <a:rPr lang="pt-BR" sz="4000" b="1" i="1" dirty="0" err="1"/>
              <a:t>Group</a:t>
            </a:r>
            <a:r>
              <a:rPr lang="pt-BR" sz="4000" b="1" i="1" dirty="0"/>
              <a:t> </a:t>
            </a:r>
            <a:r>
              <a:rPr lang="pt-BR" sz="4000" b="1" i="1" dirty="0" err="1"/>
              <a:t>By</a:t>
            </a:r>
            <a:endParaRPr lang="pt-BR" sz="40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E04DEE3-EEF4-4985-A2DD-88A8B36FD41B}"/>
              </a:ext>
            </a:extLst>
          </p:cNvPr>
          <p:cNvSpPr txBox="1"/>
          <p:nvPr/>
        </p:nvSpPr>
        <p:spPr>
          <a:xfrm>
            <a:off x="6921965" y="4429958"/>
            <a:ext cx="44380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effectLst/>
                <a:latin typeface="+mj-lt"/>
              </a:rPr>
              <a:t>A função </a:t>
            </a:r>
            <a:r>
              <a:rPr lang="pt-BR" sz="2400" i="1" dirty="0">
                <a:effectLst/>
                <a:latin typeface="+mj-lt"/>
              </a:rPr>
              <a:t>GROUP BY </a:t>
            </a:r>
            <a:r>
              <a:rPr lang="pt-BR" sz="2400" dirty="0">
                <a:effectLst/>
                <a:latin typeface="+mj-lt"/>
              </a:rPr>
              <a:t>é usada quando precisamos dividir os registros que serão agregados em grupos de valores.</a:t>
            </a:r>
          </a:p>
          <a:p>
            <a:endParaRPr lang="pt-BR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9913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384715" y="4269707"/>
            <a:ext cx="4807284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400" dirty="0">
                <a:latin typeface="+mj-lt"/>
                <a:ea typeface="+mj-ea"/>
                <a:cs typeface="+mj-cs"/>
              </a:rPr>
              <a:t>Vamos voltar na nossa enquete e alterar o cenário? Bora lá então...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pt-BR" sz="2400" dirty="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400" dirty="0">
                <a:latin typeface="+mj-lt"/>
                <a:ea typeface="+mj-ea"/>
                <a:cs typeface="+mj-cs"/>
              </a:rPr>
              <a:t>Enquete: Preciso de três informações dos departamentos da minha empresa.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pt-BR" sz="2400" dirty="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400" dirty="0">
                <a:latin typeface="+mj-lt"/>
                <a:ea typeface="+mj-ea"/>
                <a:cs typeface="+mj-cs"/>
              </a:rPr>
              <a:t>Exemplo: A nossa origem será a tabela funcionários do sistema que roda a folha de pagamento.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pt-BR" sz="2400" dirty="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400" dirty="0">
                <a:latin typeface="+mj-lt"/>
                <a:ea typeface="+mj-ea"/>
                <a:cs typeface="+mj-cs"/>
              </a:rPr>
              <a:t>1 - Maior Salário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400" dirty="0">
                <a:latin typeface="+mj-lt"/>
                <a:ea typeface="+mj-ea"/>
                <a:cs typeface="+mj-cs"/>
              </a:rPr>
              <a:t>2 - Menor Salário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400" dirty="0">
                <a:latin typeface="+mj-lt"/>
                <a:ea typeface="+mj-ea"/>
                <a:cs typeface="+mj-cs"/>
              </a:rPr>
              <a:t>3 - Média Salarial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pt-BR" sz="2400" dirty="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400" dirty="0">
                <a:latin typeface="+mj-lt"/>
                <a:ea typeface="+mj-ea"/>
                <a:cs typeface="+mj-cs"/>
              </a:rPr>
              <a:t>Lembrando que preciso receber essas informações por departamento!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pt-BR" sz="2400" dirty="0" err="1">
              <a:latin typeface="+mj-lt"/>
              <a:ea typeface="+mj-ea"/>
              <a:cs typeface="+mj-cs"/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65782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EC9B57E-9CB1-4AC6-9EE4-46A88A30D625}"/>
              </a:ext>
            </a:extLst>
          </p:cNvPr>
          <p:cNvSpPr txBox="1"/>
          <p:nvPr/>
        </p:nvSpPr>
        <p:spPr>
          <a:xfrm>
            <a:off x="7398056" y="2989554"/>
            <a:ext cx="4927108" cy="8788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rtl="0" fontAlgn="base"/>
            <a:r>
              <a:rPr lang="pt-BR" sz="4000" b="1" i="1" dirty="0"/>
              <a:t>Função de Agrupamento </a:t>
            </a:r>
          </a:p>
          <a:p>
            <a:pPr rtl="0" fontAlgn="base"/>
            <a:r>
              <a:rPr lang="pt-BR" sz="4000" b="1" i="1" dirty="0" err="1"/>
              <a:t>Having</a:t>
            </a:r>
            <a:endParaRPr lang="pt-BR" sz="40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BD12955-49C4-4E59-AF82-CF5A49E19470}"/>
              </a:ext>
            </a:extLst>
          </p:cNvPr>
          <p:cNvSpPr txBox="1"/>
          <p:nvPr/>
        </p:nvSpPr>
        <p:spPr>
          <a:xfrm>
            <a:off x="6921965" y="4429958"/>
            <a:ext cx="4438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effectLst/>
                <a:latin typeface="+mj-lt"/>
              </a:rPr>
              <a:t>A função </a:t>
            </a:r>
            <a:r>
              <a:rPr lang="pt-BR" sz="2400" i="1" dirty="0">
                <a:effectLst/>
                <a:latin typeface="+mj-lt"/>
              </a:rPr>
              <a:t>HAVING</a:t>
            </a:r>
            <a:r>
              <a:rPr lang="pt-BR" sz="2400" dirty="0">
                <a:effectLst/>
                <a:latin typeface="+mj-lt"/>
              </a:rPr>
              <a:t> é usada quando precisarmos aplicar algum filtro em uma coluna agrupada.</a:t>
            </a:r>
            <a:endParaRPr lang="pt-BR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690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8416471-A237-4F3C-9AD8-8A46803D3190}"/>
              </a:ext>
            </a:extLst>
          </p:cNvPr>
          <p:cNvSpPr txBox="1"/>
          <p:nvPr/>
        </p:nvSpPr>
        <p:spPr>
          <a:xfrm>
            <a:off x="7384715" y="4269707"/>
            <a:ext cx="4807284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3000" dirty="0">
                <a:latin typeface="+mj-lt"/>
                <a:ea typeface="+mj-ea"/>
                <a:cs typeface="+mj-cs"/>
              </a:rPr>
              <a:t>Novamente vamos voltar na nossa enquete e alterar o cenário?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pt-BR" sz="3000" dirty="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3000" dirty="0">
                <a:latin typeface="+mj-lt"/>
                <a:ea typeface="+mj-ea"/>
                <a:cs typeface="+mj-cs"/>
              </a:rPr>
              <a:t>Enquete: Agora eu preciso saber qual departamentos da minha empresa tem a média salarial maior que R$ 25000,00.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pt-BR" sz="3000" dirty="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3000" dirty="0">
                <a:latin typeface="+mj-lt"/>
                <a:ea typeface="+mj-ea"/>
                <a:cs typeface="+mj-cs"/>
              </a:rPr>
              <a:t>Lembrando que preciso saber apenas o departamento e a média salarial!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pt-BR" sz="3000" dirty="0" err="1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36536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Hands On!</a:t>
            </a:r>
          </a:p>
        </p:txBody>
      </p:sp>
      <p:sp>
        <p:nvSpPr>
          <p:cNvPr id="5124" name="Freeform: Shape 7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Você é hands-on? | Robert Half">
            <a:extLst>
              <a:ext uri="{FF2B5EF4-FFF2-40B4-BE49-F238E27FC236}">
                <a16:creationId xmlns:a16="http://schemas.microsoft.com/office/drawing/2014/main" id="{785272BA-B1FD-40E4-AF67-60C22563FD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7" r="12918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8195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19">
            <a:extLst>
              <a:ext uri="{FF2B5EF4-FFF2-40B4-BE49-F238E27FC236}">
                <a16:creationId xmlns:a16="http://schemas.microsoft.com/office/drawing/2014/main" id="{C22DF9EC-E1CF-49F0-8245-4EC4B3224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DA93DFC2-F728-40FC-BB00-B28F571423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8" name="Rectangle 21">
            <a:extLst>
              <a:ext uri="{FF2B5EF4-FFF2-40B4-BE49-F238E27FC236}">
                <a16:creationId xmlns:a16="http://schemas.microsoft.com/office/drawing/2014/main" id="{2127E00B-321B-4F10-B503-F67C9A05B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23">
            <a:extLst>
              <a:ext uri="{FF2B5EF4-FFF2-40B4-BE49-F238E27FC236}">
                <a16:creationId xmlns:a16="http://schemas.microsoft.com/office/drawing/2014/main" id="{77FA2C2B-2359-4B23-86CF-404AD05B7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06A00D9-9BA3-4ED3-A1D8-07189F2AC203}"/>
              </a:ext>
            </a:extLst>
          </p:cNvPr>
          <p:cNvSpPr txBox="1"/>
          <p:nvPr/>
        </p:nvSpPr>
        <p:spPr>
          <a:xfrm>
            <a:off x="352426" y="3091928"/>
            <a:ext cx="1168717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6600" b="1" dirty="0">
                <a:latin typeface="+mj-lt"/>
                <a:ea typeface="+mj-ea"/>
                <a:cs typeface="+mj-cs"/>
              </a:rPr>
              <a:t>FUNÇÕES DE ORDENAÇÃO</a:t>
            </a:r>
            <a:endParaRPr lang="en-US" sz="66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79089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9271859-B66C-4141-97F6-5B1BDEB57619}"/>
              </a:ext>
            </a:extLst>
          </p:cNvPr>
          <p:cNvSpPr txBox="1"/>
          <p:nvPr/>
        </p:nvSpPr>
        <p:spPr>
          <a:xfrm>
            <a:off x="7230008" y="1307333"/>
            <a:ext cx="4786571" cy="7313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 err="1">
                <a:latin typeface="+mj-lt"/>
                <a:ea typeface="+mj-ea"/>
                <a:cs typeface="+mj-cs"/>
              </a:rPr>
              <a:t>Funções</a:t>
            </a:r>
            <a:r>
              <a:rPr lang="en-US" sz="3600" b="1" dirty="0">
                <a:latin typeface="+mj-lt"/>
                <a:ea typeface="+mj-ea"/>
                <a:cs typeface="+mj-cs"/>
              </a:rPr>
              <a:t> de </a:t>
            </a:r>
            <a:r>
              <a:rPr lang="en-US" sz="3600" b="1" dirty="0" err="1">
                <a:latin typeface="+mj-lt"/>
                <a:ea typeface="+mj-ea"/>
                <a:cs typeface="+mj-cs"/>
              </a:rPr>
              <a:t>Ordenação</a:t>
            </a:r>
            <a:endParaRPr lang="en-US" sz="3600" b="1" dirty="0">
              <a:latin typeface="+mj-lt"/>
              <a:ea typeface="+mj-ea"/>
              <a:cs typeface="+mj-cs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52D24E8-9AD7-4F1F-8F44-2D2B1EF4829A}"/>
              </a:ext>
            </a:extLst>
          </p:cNvPr>
          <p:cNvSpPr txBox="1"/>
          <p:nvPr/>
        </p:nvSpPr>
        <p:spPr>
          <a:xfrm>
            <a:off x="7367432" y="2534895"/>
            <a:ext cx="464914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dirty="0">
                <a:effectLst/>
                <a:latin typeface="+mj-lt"/>
              </a:rPr>
              <a:t>Neste tópico, </a:t>
            </a:r>
            <a:r>
              <a:rPr lang="pt-BR" sz="3200" b="0" i="1" dirty="0">
                <a:latin typeface="+mj-lt"/>
              </a:rPr>
              <a:t>i</a:t>
            </a:r>
            <a:r>
              <a:rPr lang="pt-BR" sz="3200" i="1" dirty="0">
                <a:effectLst/>
                <a:latin typeface="+mj-lt"/>
              </a:rPr>
              <a:t>remos abordar a função ORDER BY que pode realizar a ordenaçã</a:t>
            </a:r>
            <a:r>
              <a:rPr lang="pt-BR" sz="3200" i="1" dirty="0">
                <a:latin typeface="+mj-lt"/>
              </a:rPr>
              <a:t>o de um resultado na forma Crescente (ASC) e Descendente (DESC)</a:t>
            </a:r>
            <a:r>
              <a:rPr lang="pt-BR" sz="3200" i="1" dirty="0">
                <a:effectLst/>
                <a:latin typeface="+mj-lt"/>
              </a:rPr>
              <a:t>.</a:t>
            </a:r>
            <a:endParaRPr lang="pt-BR" sz="3200" i="0" dirty="0">
              <a:effectLst/>
              <a:latin typeface="+mj-lt"/>
            </a:endParaRPr>
          </a:p>
          <a:p>
            <a:endParaRPr lang="pt-BR" sz="3200" dirty="0">
              <a:latin typeface="+mj-lt"/>
            </a:endParaRPr>
          </a:p>
          <a:p>
            <a:endParaRPr lang="pt-BR" sz="3200" dirty="0">
              <a:latin typeface="+mj-lt"/>
            </a:endParaRPr>
          </a:p>
          <a:p>
            <a:pPr rtl="0" fontAlgn="base"/>
            <a:endParaRPr lang="pt-BR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00697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 descr="Nuvem estrutura de tópicos">
            <a:extLst>
              <a:ext uri="{FF2B5EF4-FFF2-40B4-BE49-F238E27FC236}">
                <a16:creationId xmlns:a16="http://schemas.microsoft.com/office/drawing/2014/main" id="{DF8C6C19-8A36-438A-BB28-EB71ADF1F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7001" y="3803761"/>
            <a:ext cx="6234696" cy="3924497"/>
          </a:xfrm>
          <a:prstGeom prst="rect">
            <a:avLst/>
          </a:prstGeom>
        </p:spPr>
      </p:pic>
      <p:sp>
        <p:nvSpPr>
          <p:cNvPr id="7" name="Freeform: Shape 8">
            <a:extLst>
              <a:ext uri="{FF2B5EF4-FFF2-40B4-BE49-F238E27FC236}">
                <a16:creationId xmlns:a16="http://schemas.microsoft.com/office/drawing/2014/main" id="{D4CA8527-8134-473C-A637-3425D0234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2B6DE04-E0BA-4998-863D-E0CB9AF6440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9" name="Gráfico 8" descr="Building">
            <a:extLst>
              <a:ext uri="{FF2B5EF4-FFF2-40B4-BE49-F238E27FC236}">
                <a16:creationId xmlns:a16="http://schemas.microsoft.com/office/drawing/2014/main" id="{6D7FD59F-4E10-4CE9-A633-9463187F6A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23735" y="701941"/>
            <a:ext cx="1889760" cy="1516257"/>
          </a:xfrm>
          <a:prstGeom prst="rect">
            <a:avLst/>
          </a:prstGeom>
        </p:spPr>
      </p:pic>
      <p:pic>
        <p:nvPicPr>
          <p:cNvPr id="10" name="Gráfico 5" descr="Users">
            <a:extLst>
              <a:ext uri="{FF2B5EF4-FFF2-40B4-BE49-F238E27FC236}">
                <a16:creationId xmlns:a16="http://schemas.microsoft.com/office/drawing/2014/main" id="{782D8B2E-B295-478C-AAAC-0F1682A4EB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22859" y="3591560"/>
            <a:ext cx="914400" cy="914400"/>
          </a:xfrm>
          <a:prstGeom prst="rect">
            <a:avLst/>
          </a:prstGeom>
        </p:spPr>
      </p:pic>
      <p:pic>
        <p:nvPicPr>
          <p:cNvPr id="11" name="Gráfico 37" descr="Users">
            <a:extLst>
              <a:ext uri="{FF2B5EF4-FFF2-40B4-BE49-F238E27FC236}">
                <a16:creationId xmlns:a16="http://schemas.microsoft.com/office/drawing/2014/main" id="{5F667E8A-6783-4420-BEAA-37660E15CE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17031" y="2457980"/>
            <a:ext cx="914400" cy="914400"/>
          </a:xfrm>
          <a:prstGeom prst="rect">
            <a:avLst/>
          </a:prstGeom>
        </p:spPr>
      </p:pic>
      <p:pic>
        <p:nvPicPr>
          <p:cNvPr id="12" name="Gráfico 5" descr="Users">
            <a:extLst>
              <a:ext uri="{FF2B5EF4-FFF2-40B4-BE49-F238E27FC236}">
                <a16:creationId xmlns:a16="http://schemas.microsoft.com/office/drawing/2014/main" id="{A8F0F95D-F2DD-4DA7-AD1A-3CF749924A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34143" y="2457980"/>
            <a:ext cx="914400" cy="914400"/>
          </a:xfrm>
          <a:prstGeom prst="rect">
            <a:avLst/>
          </a:prstGeom>
        </p:spPr>
      </p:pic>
      <p:pic>
        <p:nvPicPr>
          <p:cNvPr id="13" name="Gráfico 12" descr="Users">
            <a:extLst>
              <a:ext uri="{FF2B5EF4-FFF2-40B4-BE49-F238E27FC236}">
                <a16:creationId xmlns:a16="http://schemas.microsoft.com/office/drawing/2014/main" id="{DF020D05-613D-4A72-A88C-834F3890A3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28489" y="3591560"/>
            <a:ext cx="914400" cy="914400"/>
          </a:xfrm>
          <a:prstGeom prst="rect">
            <a:avLst/>
          </a:prstGeom>
        </p:spPr>
      </p:pic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923687BD-8DEF-4709-8A79-81B8EF5390B5}"/>
              </a:ext>
            </a:extLst>
          </p:cNvPr>
          <p:cNvCxnSpPr>
            <a:cxnSpLocks/>
          </p:cNvCxnSpPr>
          <p:nvPr/>
        </p:nvCxnSpPr>
        <p:spPr>
          <a:xfrm flipH="1">
            <a:off x="7574231" y="1460070"/>
            <a:ext cx="1049504" cy="9979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33B91D27-4373-4C66-9954-EE064ABAF0CC}"/>
              </a:ext>
            </a:extLst>
          </p:cNvPr>
          <p:cNvCxnSpPr>
            <a:cxnSpLocks/>
          </p:cNvCxnSpPr>
          <p:nvPr/>
        </p:nvCxnSpPr>
        <p:spPr>
          <a:xfrm>
            <a:off x="10513495" y="1460070"/>
            <a:ext cx="1077848" cy="9979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0BDA759A-D138-4A3D-8F50-95EFC8B1D23B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8680059" y="2218198"/>
            <a:ext cx="888556" cy="13733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79E0B591-8D0D-434C-98FE-0682E037EA24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9568615" y="2218198"/>
            <a:ext cx="817074" cy="13733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94F3318-7CD5-4523-9092-E339C0D76CAF}"/>
              </a:ext>
            </a:extLst>
          </p:cNvPr>
          <p:cNvSpPr txBox="1"/>
          <p:nvPr/>
        </p:nvSpPr>
        <p:spPr>
          <a:xfrm>
            <a:off x="8736383" y="262104"/>
            <a:ext cx="17172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Empresa XPTO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2B7D167-ABDA-4BF5-BFB8-2CF311FDABF4}"/>
              </a:ext>
            </a:extLst>
          </p:cNvPr>
          <p:cNvSpPr txBox="1"/>
          <p:nvPr/>
        </p:nvSpPr>
        <p:spPr>
          <a:xfrm>
            <a:off x="7550338" y="5602433"/>
            <a:ext cx="4217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Preciso ordenar os resultados de forma a identificar os TOP departamentos em gasto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AB1DB24-E5EE-4581-BE53-275C99E13061}"/>
              </a:ext>
            </a:extLst>
          </p:cNvPr>
          <p:cNvSpPr txBox="1"/>
          <p:nvPr/>
        </p:nvSpPr>
        <p:spPr>
          <a:xfrm>
            <a:off x="7069245" y="3141547"/>
            <a:ext cx="962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Depto</a:t>
            </a:r>
            <a:r>
              <a:rPr lang="pt-BR" b="1" dirty="0"/>
              <a:t> 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445B4C7-14E5-4FCA-8CD6-713118A86F2E}"/>
              </a:ext>
            </a:extLst>
          </p:cNvPr>
          <p:cNvSpPr txBox="1"/>
          <p:nvPr/>
        </p:nvSpPr>
        <p:spPr>
          <a:xfrm>
            <a:off x="11093453" y="3141547"/>
            <a:ext cx="968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Depto</a:t>
            </a:r>
            <a:r>
              <a:rPr lang="pt-BR" b="1" dirty="0"/>
              <a:t> D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719DA90-BA08-450D-A3A8-F3A8171D98A1}"/>
              </a:ext>
            </a:extLst>
          </p:cNvPr>
          <p:cNvSpPr txBox="1"/>
          <p:nvPr/>
        </p:nvSpPr>
        <p:spPr>
          <a:xfrm>
            <a:off x="8188464" y="4317810"/>
            <a:ext cx="95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Depto</a:t>
            </a:r>
            <a:r>
              <a:rPr lang="pt-BR" b="1" dirty="0"/>
              <a:t> B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F8E4B7B-3503-4403-B8CE-65349E720EBD}"/>
              </a:ext>
            </a:extLst>
          </p:cNvPr>
          <p:cNvSpPr txBox="1"/>
          <p:nvPr/>
        </p:nvSpPr>
        <p:spPr>
          <a:xfrm>
            <a:off x="9913412" y="4304035"/>
            <a:ext cx="944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Depto</a:t>
            </a:r>
            <a:r>
              <a:rPr lang="pt-BR" b="1" dirty="0"/>
              <a:t> C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72FA335-90A2-4A38-A9FE-D94DE81A6F7F}"/>
              </a:ext>
            </a:extLst>
          </p:cNvPr>
          <p:cNvSpPr txBox="1"/>
          <p:nvPr/>
        </p:nvSpPr>
        <p:spPr>
          <a:xfrm>
            <a:off x="7278749" y="6123166"/>
            <a:ext cx="46324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Preciso identificar a quantidade de funcionário por departamento ordenando da maior </a:t>
            </a:r>
            <a:r>
              <a:rPr lang="pt-BR" sz="1600" b="1" dirty="0" err="1"/>
              <a:t>qtd</a:t>
            </a:r>
            <a:r>
              <a:rPr lang="pt-BR" sz="1600" b="1" dirty="0"/>
              <a:t> para menor</a:t>
            </a:r>
          </a:p>
        </p:txBody>
      </p:sp>
    </p:spTree>
    <p:extLst>
      <p:ext uri="{BB962C8B-B14F-4D97-AF65-F5344CB8AC3E}">
        <p14:creationId xmlns:p14="http://schemas.microsoft.com/office/powerpoint/2010/main" val="168794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23" grpId="0"/>
      <p:bldP spid="24" grpId="0"/>
      <p:bldP spid="25" grpId="0"/>
      <p:bldP spid="26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28416471-A237-4F3C-9AD8-8A46803D3190}"/>
              </a:ext>
            </a:extLst>
          </p:cNvPr>
          <p:cNvSpPr txBox="1"/>
          <p:nvPr/>
        </p:nvSpPr>
        <p:spPr>
          <a:xfrm>
            <a:off x="7188053" y="3186632"/>
            <a:ext cx="5003947" cy="45280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dirty="0" err="1">
                <a:latin typeface="+mj-lt"/>
                <a:ea typeface="+mj-ea"/>
                <a:cs typeface="+mj-cs"/>
              </a:rPr>
              <a:t>Novamente</a:t>
            </a: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  <a:r>
              <a:rPr lang="en-US" sz="3000" dirty="0" err="1">
                <a:latin typeface="+mj-lt"/>
                <a:ea typeface="+mj-ea"/>
                <a:cs typeface="+mj-cs"/>
              </a:rPr>
              <a:t>vamos</a:t>
            </a: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  <a:r>
              <a:rPr lang="en-US" sz="3000" dirty="0" err="1">
                <a:latin typeface="+mj-lt"/>
                <a:ea typeface="+mj-ea"/>
                <a:cs typeface="+mj-cs"/>
              </a:rPr>
              <a:t>voltar</a:t>
            </a: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  <a:r>
              <a:rPr lang="en-US" sz="3000" dirty="0" err="1">
                <a:latin typeface="+mj-lt"/>
                <a:ea typeface="+mj-ea"/>
                <a:cs typeface="+mj-cs"/>
              </a:rPr>
              <a:t>na</a:t>
            </a: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  <a:r>
              <a:rPr lang="en-US" sz="3000" dirty="0" err="1">
                <a:latin typeface="+mj-lt"/>
                <a:ea typeface="+mj-ea"/>
                <a:cs typeface="+mj-cs"/>
              </a:rPr>
              <a:t>nossa</a:t>
            </a: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  <a:r>
              <a:rPr lang="en-US" sz="3000" dirty="0" err="1">
                <a:latin typeface="+mj-lt"/>
                <a:ea typeface="+mj-ea"/>
                <a:cs typeface="+mj-cs"/>
              </a:rPr>
              <a:t>enquete</a:t>
            </a:r>
            <a:r>
              <a:rPr lang="en-US" sz="3000" dirty="0">
                <a:latin typeface="+mj-lt"/>
                <a:ea typeface="+mj-ea"/>
                <a:cs typeface="+mj-cs"/>
              </a:rPr>
              <a:t> e </a:t>
            </a:r>
            <a:r>
              <a:rPr lang="en-US" sz="3000" dirty="0" err="1">
                <a:latin typeface="+mj-lt"/>
                <a:ea typeface="+mj-ea"/>
                <a:cs typeface="+mj-cs"/>
              </a:rPr>
              <a:t>alterar</a:t>
            </a:r>
            <a:r>
              <a:rPr lang="en-US" sz="3000" dirty="0">
                <a:latin typeface="+mj-lt"/>
                <a:ea typeface="+mj-ea"/>
                <a:cs typeface="+mj-cs"/>
              </a:rPr>
              <a:t> o </a:t>
            </a:r>
            <a:r>
              <a:rPr lang="en-US" sz="3000" dirty="0" err="1">
                <a:latin typeface="+mj-lt"/>
                <a:ea typeface="+mj-ea"/>
                <a:cs typeface="+mj-cs"/>
              </a:rPr>
              <a:t>resultado</a:t>
            </a:r>
            <a:r>
              <a:rPr lang="en-US" sz="3000" dirty="0">
                <a:latin typeface="+mj-lt"/>
                <a:ea typeface="+mj-ea"/>
                <a:cs typeface="+mj-cs"/>
              </a:rPr>
              <a:t>.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dirty="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3000" dirty="0">
                <a:latin typeface="+mj-lt"/>
                <a:ea typeface="+mj-ea"/>
                <a:cs typeface="+mj-cs"/>
              </a:rPr>
              <a:t>Enquete: Agora eu preciso saber qual departamentos da minha empresa tem a média salarial maior que R$ 25000,00 e preciso que o resultado seja ordenado da menor média para a maior média.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pt-BR" sz="3000" dirty="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3000" dirty="0">
                <a:latin typeface="+mj-lt"/>
                <a:ea typeface="+mj-ea"/>
                <a:cs typeface="+mj-cs"/>
              </a:rPr>
              <a:t>Lembrando que preciso saber apenas o departamento e a média salarial!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pt-BR" sz="3000" dirty="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dirty="0">
              <a:latin typeface="+mj-lt"/>
              <a:ea typeface="+mj-ea"/>
              <a:cs typeface="+mj-cs"/>
            </a:endParaRPr>
          </a:p>
        </p:txBody>
      </p:sp>
      <p:sp>
        <p:nvSpPr>
          <p:cNvPr id="24" name="Freeform: Shape 11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45008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Hands On!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Você é hands-on? | Robert Half">
            <a:extLst>
              <a:ext uri="{FF2B5EF4-FFF2-40B4-BE49-F238E27FC236}">
                <a16:creationId xmlns:a16="http://schemas.microsoft.com/office/drawing/2014/main" id="{785272BA-B1FD-40E4-AF67-60C22563FD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7" r="12918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416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56">
            <a:extLst>
              <a:ext uri="{FF2B5EF4-FFF2-40B4-BE49-F238E27FC236}">
                <a16:creationId xmlns:a16="http://schemas.microsoft.com/office/drawing/2014/main" id="{3DAD47A6-FC98-42AC-BF55-B17F95B63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8B6B2A7-7F4D-4D52-9762-9CE4944B0CAA}"/>
              </a:ext>
            </a:extLst>
          </p:cNvPr>
          <p:cNvSpPr txBox="1"/>
          <p:nvPr/>
        </p:nvSpPr>
        <p:spPr>
          <a:xfrm>
            <a:off x="645064" y="525982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 que aprendemos até aqui?</a:t>
            </a:r>
          </a:p>
        </p:txBody>
      </p:sp>
      <p:sp>
        <p:nvSpPr>
          <p:cNvPr id="8" name="Rectangle 58">
            <a:extLst>
              <a:ext uri="{FF2B5EF4-FFF2-40B4-BE49-F238E27FC236}">
                <a16:creationId xmlns:a16="http://schemas.microsoft.com/office/drawing/2014/main" id="{80D349BB-9111-4FD6-ADC8-76B686ACE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988074C-6BC5-4E54-987A-F3B6E33D7506}"/>
              </a:ext>
            </a:extLst>
          </p:cNvPr>
          <p:cNvSpPr txBox="1"/>
          <p:nvPr/>
        </p:nvSpPr>
        <p:spPr>
          <a:xfrm>
            <a:off x="645066" y="1516194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Conhecemos</a:t>
            </a:r>
            <a:r>
              <a:rPr lang="en-US" dirty="0"/>
              <a:t> as </a:t>
            </a:r>
            <a:r>
              <a:rPr lang="en-US" dirty="0" err="1"/>
              <a:t>funções</a:t>
            </a:r>
            <a:r>
              <a:rPr lang="en-US" dirty="0"/>
              <a:t> de </a:t>
            </a:r>
            <a:r>
              <a:rPr lang="en-US" dirty="0" err="1"/>
              <a:t>Agregação</a:t>
            </a:r>
            <a:r>
              <a:rPr lang="en-US" dirty="0"/>
              <a:t>;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Conhecemos</a:t>
            </a:r>
            <a:r>
              <a:rPr lang="en-US" dirty="0"/>
              <a:t> as </a:t>
            </a:r>
            <a:r>
              <a:rPr lang="en-US" dirty="0" err="1"/>
              <a:t>funções</a:t>
            </a:r>
            <a:r>
              <a:rPr lang="en-US" dirty="0"/>
              <a:t> de </a:t>
            </a:r>
            <a:r>
              <a:rPr lang="en-US" dirty="0" err="1"/>
              <a:t>Agrupamento</a:t>
            </a:r>
            <a:r>
              <a:rPr lang="en-US" dirty="0"/>
              <a:t>;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Conhecemos</a:t>
            </a:r>
            <a:r>
              <a:rPr lang="en-US" dirty="0"/>
              <a:t> as </a:t>
            </a:r>
            <a:r>
              <a:rPr lang="en-US" dirty="0" err="1"/>
              <a:t>funções</a:t>
            </a:r>
            <a:r>
              <a:rPr lang="en-US" dirty="0"/>
              <a:t> de </a:t>
            </a:r>
            <a:r>
              <a:rPr lang="en-US" dirty="0" err="1"/>
              <a:t>Ordenação</a:t>
            </a:r>
            <a:r>
              <a:rPr lang="en-US" dirty="0"/>
              <a:t>.</a:t>
            </a:r>
          </a:p>
        </p:txBody>
      </p:sp>
      <p:sp>
        <p:nvSpPr>
          <p:cNvPr id="10" name="Rectangle 60">
            <a:extLst>
              <a:ext uri="{FF2B5EF4-FFF2-40B4-BE49-F238E27FC236}">
                <a16:creationId xmlns:a16="http://schemas.microsoft.com/office/drawing/2014/main" id="{52D6B48D-4330-40FC-9AD6-B683326E9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2">
            <a:extLst>
              <a:ext uri="{FF2B5EF4-FFF2-40B4-BE49-F238E27FC236}">
                <a16:creationId xmlns:a16="http://schemas.microsoft.com/office/drawing/2014/main" id="{6F3667B1-1358-4FEC-AD97-027277833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64">
            <a:extLst>
              <a:ext uri="{FF2B5EF4-FFF2-40B4-BE49-F238E27FC236}">
                <a16:creationId xmlns:a16="http://schemas.microsoft.com/office/drawing/2014/main" id="{FAC59B2D-5448-4560-9C7B-EA4DC282F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Vídeo 36" descr="Tela de computador com fundo verde&#10;&#10;Descrição gerada automaticamente com confiança média">
            <a:extLst>
              <a:ext uri="{FF2B5EF4-FFF2-40B4-BE49-F238E27FC236}">
                <a16:creationId xmlns:a16="http://schemas.microsoft.com/office/drawing/2014/main" id="{AEB55B55-1C14-4D63-9635-DEE5C10B25D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84" r="1" b="1"/>
          <a:stretch/>
        </p:blipFill>
        <p:spPr>
          <a:xfrm>
            <a:off x="5987738" y="1734180"/>
            <a:ext cx="5628018" cy="315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725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38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ECE45D1-F65A-44E4-88A0-371BF51EE333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>
                <a:latin typeface="+mj-lt"/>
                <a:ea typeface="+mj-ea"/>
                <a:cs typeface="+mj-cs"/>
              </a:rPr>
              <a:t>Arquivos usados no treinamento, onde ficarão?</a:t>
            </a: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562467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ECE45D1-F65A-44E4-88A0-371BF51EE333}"/>
              </a:ext>
            </a:extLst>
          </p:cNvPr>
          <p:cNvSpPr txBox="1"/>
          <p:nvPr/>
        </p:nvSpPr>
        <p:spPr>
          <a:xfrm>
            <a:off x="7393591" y="559293"/>
            <a:ext cx="4493607" cy="8911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dirty="0">
                <a:latin typeface="+mj-lt"/>
                <a:ea typeface="+mj-ea"/>
                <a:cs typeface="+mj-cs"/>
              </a:rPr>
              <a:t>Links de </a:t>
            </a:r>
            <a:r>
              <a:rPr lang="en-US" sz="4200" dirty="0" err="1">
                <a:latin typeface="+mj-lt"/>
                <a:ea typeface="+mj-ea"/>
                <a:cs typeface="+mj-cs"/>
              </a:rPr>
              <a:t>Referência</a:t>
            </a:r>
            <a:r>
              <a:rPr lang="en-US" sz="4200" dirty="0">
                <a:latin typeface="+mj-lt"/>
                <a:ea typeface="+mj-ea"/>
                <a:cs typeface="+mj-cs"/>
              </a:rPr>
              <a:t>:</a:t>
            </a: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9E45B0E-EDDC-4B43-BF4D-A42C67675045}"/>
              </a:ext>
            </a:extLst>
          </p:cNvPr>
          <p:cNvSpPr txBox="1"/>
          <p:nvPr/>
        </p:nvSpPr>
        <p:spPr>
          <a:xfrm>
            <a:off x="7199790" y="1865180"/>
            <a:ext cx="49922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https://docs.microsoft.com/en-us/sql/relational-databases/databases/system-databases?view=sql-server-ver15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8528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6746628" y="1783959"/>
            <a:ext cx="4645250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>
                <a:latin typeface="+mj-lt"/>
                <a:ea typeface="+mj-ea"/>
                <a:cs typeface="+mj-cs"/>
              </a:rPr>
              <a:t>Dúvidas?</a:t>
            </a: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6" name="Picture 4" descr="Dom Alberto | Dúvidas? Entramos em Contato com Você - Dom Alberto">
            <a:extLst>
              <a:ext uri="{FF2B5EF4-FFF2-40B4-BE49-F238E27FC236}">
                <a16:creationId xmlns:a16="http://schemas.microsoft.com/office/drawing/2014/main" id="{4EEBC5B8-F597-4BCF-910A-26A62D506C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8" r="-1" b="17957"/>
          <a:stretch/>
        </p:blipFill>
        <p:spPr bwMode="auto">
          <a:xfrm>
            <a:off x="20" y="10"/>
            <a:ext cx="6024134" cy="6857990"/>
          </a:xfrm>
          <a:custGeom>
            <a:avLst/>
            <a:gdLst/>
            <a:ahLst/>
            <a:cxnLst/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7643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2810</TotalTime>
  <Words>546</Words>
  <Application>Microsoft Office PowerPoint</Application>
  <PresentationFormat>Widescreen</PresentationFormat>
  <Paragraphs>91</Paragraphs>
  <Slides>26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Impact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 Quintella</dc:creator>
  <cp:lastModifiedBy>Gabriel Quintella</cp:lastModifiedBy>
  <cp:revision>3</cp:revision>
  <dcterms:created xsi:type="dcterms:W3CDTF">2022-01-12T22:44:22Z</dcterms:created>
  <dcterms:modified xsi:type="dcterms:W3CDTF">2024-10-24T22:09:13Z</dcterms:modified>
</cp:coreProperties>
</file>