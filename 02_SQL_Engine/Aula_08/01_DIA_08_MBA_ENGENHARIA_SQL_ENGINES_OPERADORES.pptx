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362" r:id="rId2"/>
    <p:sldId id="2363" r:id="rId3"/>
    <p:sldId id="334" r:id="rId4"/>
    <p:sldId id="323" r:id="rId5"/>
    <p:sldId id="274" r:id="rId6"/>
    <p:sldId id="316" r:id="rId7"/>
    <p:sldId id="324" r:id="rId8"/>
    <p:sldId id="310" r:id="rId9"/>
    <p:sldId id="280" r:id="rId10"/>
    <p:sldId id="317" r:id="rId11"/>
    <p:sldId id="311" r:id="rId12"/>
    <p:sldId id="318" r:id="rId13"/>
    <p:sldId id="312" r:id="rId14"/>
    <p:sldId id="313" r:id="rId15"/>
    <p:sldId id="319" r:id="rId16"/>
    <p:sldId id="314" r:id="rId17"/>
    <p:sldId id="264" r:id="rId18"/>
    <p:sldId id="315" r:id="rId19"/>
    <p:sldId id="320" r:id="rId20"/>
    <p:sldId id="325" r:id="rId21"/>
    <p:sldId id="296" r:id="rId22"/>
    <p:sldId id="322" r:id="rId23"/>
    <p:sldId id="326" r:id="rId24"/>
    <p:sldId id="321" r:id="rId25"/>
    <p:sldId id="297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relational-databases/databases/system-databases?view=sql-server-ver1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>
                <a:solidFill>
                  <a:srgbClr val="007DA9"/>
                </a:solidFill>
                <a:latin typeface="Impact" panose="020B0806030902050204" pitchFamily="34" charset="0"/>
              </a:rPr>
              <a:t>DIA 8</a:t>
            </a:r>
            <a:endParaRPr lang="pt-BR" sz="287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OPERADORES ARITMÉTICOS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180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230008" y="126605"/>
            <a:ext cx="4786571" cy="73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Operadores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Aritméticos</a:t>
            </a:r>
            <a:r>
              <a:rPr lang="en-US" sz="3600" b="1" dirty="0"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28" name="Picture 4" descr="untitled image">
            <a:extLst>
              <a:ext uri="{FF2B5EF4-FFF2-40B4-BE49-F238E27FC236}">
                <a16:creationId xmlns:a16="http://schemas.microsoft.com/office/drawing/2014/main" id="{DD84CC05-A57B-478C-A4BA-45E496798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892" y="4226560"/>
            <a:ext cx="5262687" cy="247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7482842" y="1354167"/>
            <a:ext cx="46491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pt-BR" sz="1600" b="0" i="0" dirty="0">
                <a:effectLst/>
                <a:latin typeface="+mj-lt"/>
              </a:rPr>
              <a:t>1 - Executam ações matemáticas entre duas expressões de um ou mais tipos de dados; </a:t>
            </a:r>
          </a:p>
          <a:p>
            <a:pPr algn="just" rtl="0" fontAlgn="base"/>
            <a:br>
              <a:rPr lang="pt-BR" sz="1600" b="0" i="0" dirty="0">
                <a:effectLst/>
                <a:latin typeface="+mj-lt"/>
              </a:rPr>
            </a:br>
            <a:r>
              <a:rPr lang="pt-BR" sz="1600" b="0" i="0" dirty="0">
                <a:effectLst/>
                <a:latin typeface="+mj-lt"/>
              </a:rPr>
              <a:t>2 - Os operadores de adição (+) e de subtração (-) também podem ser usados para executar operações aritméticas em valores de </a:t>
            </a:r>
            <a:r>
              <a:rPr lang="pt-BR" sz="1600" b="1" i="0" dirty="0" err="1">
                <a:effectLst/>
                <a:latin typeface="+mj-lt"/>
              </a:rPr>
              <a:t>datetime</a:t>
            </a:r>
            <a:r>
              <a:rPr lang="pt-BR" sz="1600" b="0" i="0" dirty="0">
                <a:effectLst/>
                <a:latin typeface="+mj-lt"/>
              </a:rPr>
              <a:t> e </a:t>
            </a:r>
            <a:r>
              <a:rPr lang="pt-BR" sz="1600" b="1" i="0" dirty="0" err="1">
                <a:effectLst/>
                <a:latin typeface="+mj-lt"/>
              </a:rPr>
              <a:t>smalldatetime</a:t>
            </a:r>
            <a:r>
              <a:rPr lang="pt-BR" sz="1600" b="1" i="0" dirty="0">
                <a:effectLst/>
                <a:latin typeface="+mj-lt"/>
              </a:rPr>
              <a:t>;</a:t>
            </a:r>
            <a:endParaRPr lang="pt-BR" sz="1600" b="0" i="0" dirty="0">
              <a:effectLst/>
              <a:latin typeface="+mj-lt"/>
            </a:endParaRPr>
          </a:p>
          <a:p>
            <a:pPr algn="just" rtl="0" fontAlgn="base"/>
            <a:endParaRPr lang="pt-BR" sz="1600" dirty="0">
              <a:latin typeface="+mj-lt"/>
            </a:endParaRPr>
          </a:p>
          <a:p>
            <a:pPr algn="just" rtl="0" fontAlgn="base"/>
            <a:r>
              <a:rPr lang="pt-BR" sz="1600" b="0" i="0" dirty="0">
                <a:effectLst/>
                <a:latin typeface="+mj-lt"/>
              </a:rPr>
              <a:t>3 - Quando for entre colunas do tipo </a:t>
            </a:r>
            <a:r>
              <a:rPr lang="pt-BR" sz="1600" b="0" i="0" dirty="0" err="1">
                <a:effectLst/>
                <a:latin typeface="+mj-lt"/>
              </a:rPr>
              <a:t>string</a:t>
            </a:r>
            <a:r>
              <a:rPr lang="pt-BR" sz="1600" b="0" i="0" dirty="0">
                <a:effectLst/>
                <a:latin typeface="+mj-lt"/>
              </a:rPr>
              <a:t>, o que ocorrerá será a concatenação entre elas;</a:t>
            </a:r>
          </a:p>
          <a:p>
            <a:endParaRPr lang="pt-BR" sz="1600" dirty="0">
              <a:latin typeface="+mj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06D931-3BB1-4C14-9CF8-882565686D1A}"/>
              </a:ext>
            </a:extLst>
          </p:cNvPr>
          <p:cNvSpPr/>
          <p:nvPr/>
        </p:nvSpPr>
        <p:spPr>
          <a:xfrm>
            <a:off x="8793207" y="3375132"/>
            <a:ext cx="1184055" cy="2469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399BB2E-B5C4-4A70-9ACB-D1CC0F6DDDD2}"/>
              </a:ext>
            </a:extLst>
          </p:cNvPr>
          <p:cNvSpPr/>
          <p:nvPr/>
        </p:nvSpPr>
        <p:spPr>
          <a:xfrm>
            <a:off x="10873301" y="3128264"/>
            <a:ext cx="596649" cy="2469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CC63D9A-AFD0-4004-A6D3-606A47D3F395}"/>
              </a:ext>
            </a:extLst>
          </p:cNvPr>
          <p:cNvSpPr/>
          <p:nvPr/>
        </p:nvSpPr>
        <p:spPr>
          <a:xfrm>
            <a:off x="7428922" y="3006286"/>
            <a:ext cx="4703067" cy="6158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33BBF47-0C2C-4FDB-BD78-568F59D201C5}"/>
              </a:ext>
            </a:extLst>
          </p:cNvPr>
          <p:cNvSpPr/>
          <p:nvPr/>
        </p:nvSpPr>
        <p:spPr>
          <a:xfrm>
            <a:off x="7421524" y="1365390"/>
            <a:ext cx="4703067" cy="6158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E981AC58-562B-40CE-BE6F-0F4AC06AFD15}"/>
              </a:ext>
            </a:extLst>
          </p:cNvPr>
          <p:cNvCxnSpPr>
            <a:stCxn id="10" idx="1"/>
            <a:endCxn id="9" idx="1"/>
          </p:cNvCxnSpPr>
          <p:nvPr/>
        </p:nvCxnSpPr>
        <p:spPr>
          <a:xfrm rot="10800000" flipH="1" flipV="1">
            <a:off x="7421524" y="1673291"/>
            <a:ext cx="7398" cy="1640896"/>
          </a:xfrm>
          <a:prstGeom prst="bentConnector3">
            <a:avLst>
              <a:gd name="adj1" fmla="val -3090024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BFCDD44C-844F-4D92-A2F9-5510C55F58B6}"/>
              </a:ext>
            </a:extLst>
          </p:cNvPr>
          <p:cNvCxnSpPr>
            <a:cxnSpLocks/>
            <a:stCxn id="5" idx="2"/>
            <a:endCxn id="8" idx="2"/>
          </p:cNvCxnSpPr>
          <p:nvPr/>
        </p:nvCxnSpPr>
        <p:spPr>
          <a:xfrm rot="5400000" flipH="1" flipV="1">
            <a:off x="10154996" y="2605414"/>
            <a:ext cx="246868" cy="1786391"/>
          </a:xfrm>
          <a:prstGeom prst="bentConnector3">
            <a:avLst>
              <a:gd name="adj1" fmla="val -92600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60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4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OPERADORES LÓGICOS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780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38B93BE-7CA2-44E6-838E-4B378D04A5FB}"/>
              </a:ext>
            </a:extLst>
          </p:cNvPr>
          <p:cNvSpPr txBox="1"/>
          <p:nvPr/>
        </p:nvSpPr>
        <p:spPr>
          <a:xfrm>
            <a:off x="7230008" y="126605"/>
            <a:ext cx="4786571" cy="73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Operadores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Lógicos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ACB423-586F-4488-A5E7-AFAB851385CC}"/>
              </a:ext>
            </a:extLst>
          </p:cNvPr>
          <p:cNvSpPr txBox="1"/>
          <p:nvPr/>
        </p:nvSpPr>
        <p:spPr>
          <a:xfrm>
            <a:off x="7309907" y="1091953"/>
            <a:ext cx="44616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0" i="0" dirty="0">
                <a:effectLst/>
                <a:latin typeface="+mj-lt"/>
              </a:rPr>
              <a:t>Nesse tópico vamos focar em falar sobre a aplicabilidade dos operadores lógicos </a:t>
            </a:r>
          </a:p>
          <a:p>
            <a:endParaRPr lang="pt-BR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AND;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OR;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IN;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NOT IN;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EXISTS;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NOT EXISTS;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LIKE;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NOT LIKE;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BETWEEN;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1" dirty="0">
                <a:effectLst/>
                <a:latin typeface="+mj-lt"/>
              </a:rPr>
              <a:t>NOT BETWEEN</a:t>
            </a:r>
            <a:r>
              <a:rPr lang="pt-BR" sz="2000" b="0" i="0" dirty="0">
                <a:effectLst/>
                <a:latin typeface="+mj-lt"/>
              </a:rPr>
              <a:t> </a:t>
            </a:r>
          </a:p>
          <a:p>
            <a:endParaRPr lang="pt-BR" sz="2000" dirty="0">
              <a:latin typeface="+mj-lt"/>
            </a:endParaRPr>
          </a:p>
          <a:p>
            <a:r>
              <a:rPr lang="pt-BR" sz="2000" b="0" i="0" dirty="0">
                <a:effectLst/>
                <a:latin typeface="+mj-lt"/>
              </a:rPr>
              <a:t>Sempre aplicando na cláusula </a:t>
            </a:r>
            <a:r>
              <a:rPr lang="pt-BR" sz="2000" b="0" i="1" dirty="0">
                <a:effectLst/>
                <a:latin typeface="+mj-lt"/>
              </a:rPr>
              <a:t>WHERE </a:t>
            </a:r>
            <a:r>
              <a:rPr lang="pt-BR" sz="2000" b="0" i="0" dirty="0">
                <a:effectLst/>
                <a:latin typeface="+mj-lt"/>
              </a:rPr>
              <a:t>porém irei da uma palinha sem detalhes de outras forma.</a:t>
            </a:r>
            <a:endParaRPr lang="pt-B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248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279690" y="461637"/>
            <a:ext cx="4749554" cy="580599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rtl="0" fontAlgn="base"/>
            <a:r>
              <a:rPr lang="pt-BR" sz="2600" b="1" i="1" dirty="0"/>
              <a:t>Operadores Lógicos AND, OR e NOT</a:t>
            </a:r>
          </a:p>
          <a:p>
            <a:pPr rtl="0" fontAlgn="base"/>
            <a:br>
              <a:rPr lang="pt-BR" sz="2400" dirty="0"/>
            </a:br>
            <a:r>
              <a:rPr lang="pt-BR" sz="2400" dirty="0"/>
              <a:t>Vamos analisar as explicações abaixo.</a:t>
            </a:r>
          </a:p>
          <a:p>
            <a:pPr rtl="0" fontAlgn="base"/>
            <a:endParaRPr lang="pt-BR" sz="2400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pt-BR" sz="2400" dirty="0"/>
              <a:t>AND Retorna TRUE se ambas as condições forem verdadeiras</a:t>
            </a:r>
          </a:p>
          <a:p>
            <a:pPr rtl="0" fontAlgn="base"/>
            <a:endParaRPr lang="pt-BR" sz="2400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pt-BR" sz="2400" dirty="0"/>
              <a:t>OR Retorna TRUE se uma das condições for verdadeira</a:t>
            </a:r>
          </a:p>
          <a:p>
            <a:pPr rtl="0" fontAlgn="base"/>
            <a:endParaRPr lang="pt-BR" sz="2400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pt-BR" sz="2400" dirty="0"/>
              <a:t>NOT Retorna TRUE se a condição seguinte for falsa (</a:t>
            </a:r>
            <a:r>
              <a:rPr lang="pt-BR" sz="2400" dirty="0" err="1"/>
              <a:t>Obs</a:t>
            </a:r>
            <a:r>
              <a:rPr lang="pt-BR" sz="2400" dirty="0"/>
              <a:t>: O NOT não trabalha sozinho! Vamos ver mais a frente a sua aplicação!)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0820D2E-3A08-401D-A0C2-83F659876A0B}"/>
              </a:ext>
            </a:extLst>
          </p:cNvPr>
          <p:cNvSpPr/>
          <p:nvPr/>
        </p:nvSpPr>
        <p:spPr>
          <a:xfrm>
            <a:off x="7232441" y="4852841"/>
            <a:ext cx="4749553" cy="13792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3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24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9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1A53649-866D-4C43-B099-5F8B313ACB6A}"/>
              </a:ext>
            </a:extLst>
          </p:cNvPr>
          <p:cNvSpPr txBox="1"/>
          <p:nvPr/>
        </p:nvSpPr>
        <p:spPr>
          <a:xfrm>
            <a:off x="7261934" y="1154097"/>
            <a:ext cx="4749554" cy="42080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just" rtl="0" fontAlgn="base"/>
            <a:r>
              <a:rPr lang="pt-BR" sz="2800" b="1" i="1" dirty="0">
                <a:effectLst/>
                <a:latin typeface="+mj-lt"/>
              </a:rPr>
              <a:t>Operadores Lógicos IN e NOT IN</a:t>
            </a:r>
            <a:br>
              <a:rPr lang="pt-BR" sz="3200" b="0" i="0" dirty="0">
                <a:effectLst/>
                <a:latin typeface="+mj-lt"/>
              </a:rPr>
            </a:br>
            <a:endParaRPr lang="pt-BR" sz="3200" b="0" i="0" dirty="0">
              <a:effectLst/>
              <a:latin typeface="+mj-lt"/>
            </a:endParaRPr>
          </a:p>
          <a:p>
            <a:pPr algn="just" rtl="0" fontAlgn="base"/>
            <a:r>
              <a:rPr lang="pt-BR" sz="3200" b="0" i="0" dirty="0">
                <a:effectLst/>
                <a:latin typeface="+mj-lt"/>
              </a:rPr>
              <a:t>Quando vamos usar esses operadores?</a:t>
            </a:r>
          </a:p>
          <a:p>
            <a:pPr algn="just" rtl="0" fontAlgn="base"/>
            <a:endParaRPr lang="pt-BR" sz="3200" b="0" i="0" dirty="0">
              <a:effectLst/>
              <a:latin typeface="+mj-lt"/>
            </a:endParaRPr>
          </a:p>
          <a:p>
            <a:pPr rtl="0" fontAlgn="base"/>
            <a:r>
              <a:rPr lang="pt-BR" sz="2800" b="0" i="0" dirty="0">
                <a:effectLst/>
                <a:latin typeface="+mj-lt"/>
              </a:rPr>
              <a:t>Vamos usar quando existir a necessidade de fazer uma consulta e essa consulta possuir no filtro uma lista de valores.</a:t>
            </a:r>
            <a:endParaRPr lang="pt-B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069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41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A804B09-AF4F-4388-B782-70A91A6E88A4}"/>
              </a:ext>
            </a:extLst>
          </p:cNvPr>
          <p:cNvSpPr txBox="1"/>
          <p:nvPr/>
        </p:nvSpPr>
        <p:spPr>
          <a:xfrm>
            <a:off x="7270812" y="1358283"/>
            <a:ext cx="4749554" cy="39416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just" rtl="0" fontAlgn="base"/>
            <a:r>
              <a:rPr lang="pt-BR" sz="2800" b="1" i="1" dirty="0">
                <a:effectLst/>
                <a:latin typeface="+mj-lt"/>
              </a:rPr>
              <a:t>Operadores Lógicos "EXISTS e NOT EXISTS</a:t>
            </a:r>
            <a:r>
              <a:rPr lang="pt-BR" sz="2800" b="1" i="0" dirty="0">
                <a:effectLst/>
                <a:latin typeface="+mj-lt"/>
              </a:rPr>
              <a:t>"</a:t>
            </a:r>
            <a:endParaRPr lang="pt-BR" sz="2800" b="0" i="0" dirty="0">
              <a:effectLst/>
              <a:latin typeface="+mj-lt"/>
            </a:endParaRPr>
          </a:p>
          <a:p>
            <a:pPr algn="just" rtl="0" fontAlgn="base"/>
            <a:br>
              <a:rPr lang="pt-BR" sz="2800" b="0" i="0" dirty="0">
                <a:effectLst/>
                <a:latin typeface="+mj-lt"/>
              </a:rPr>
            </a:br>
            <a:endParaRPr lang="pt-BR" sz="2800" b="0" i="0" dirty="0">
              <a:effectLst/>
              <a:latin typeface="+mj-lt"/>
            </a:endParaRPr>
          </a:p>
          <a:p>
            <a:pPr algn="just" rtl="0" fontAlgn="base"/>
            <a:r>
              <a:rPr lang="pt-BR" sz="2800" b="0" i="0" dirty="0">
                <a:effectLst/>
                <a:latin typeface="+mj-lt"/>
              </a:rPr>
              <a:t>Vamos abordar agora outros dois pares de operadores lógicos: </a:t>
            </a:r>
            <a:r>
              <a:rPr lang="pt-BR" sz="2800" b="0" i="1" dirty="0">
                <a:effectLst/>
                <a:latin typeface="+mj-lt"/>
              </a:rPr>
              <a:t>"EXISTS e NOT EXISTS</a:t>
            </a:r>
            <a:r>
              <a:rPr lang="pt-BR" sz="2800" b="0" i="0" dirty="0">
                <a:effectLst/>
                <a:latin typeface="+mj-lt"/>
              </a:rPr>
              <a:t>".</a:t>
            </a:r>
          </a:p>
          <a:p>
            <a:pPr rtl="0" fontAlgn="base"/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8034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EDCE6B-972A-4A55-8670-842BFA9F7C86}"/>
              </a:ext>
            </a:extLst>
          </p:cNvPr>
          <p:cNvSpPr txBox="1"/>
          <p:nvPr/>
        </p:nvSpPr>
        <p:spPr>
          <a:xfrm>
            <a:off x="7188052" y="2032987"/>
            <a:ext cx="4749554" cy="3524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 fontAlgn="base"/>
            <a:r>
              <a:rPr lang="pt-BR" sz="3600" i="1" dirty="0">
                <a:effectLst/>
                <a:latin typeface="+mj-lt"/>
              </a:rPr>
              <a:t>Comparando os Operadores Lógicos </a:t>
            </a:r>
            <a:r>
              <a:rPr lang="pt-BR" sz="3600" i="0" dirty="0">
                <a:effectLst/>
                <a:latin typeface="+mj-lt"/>
              </a:rPr>
              <a:t>"</a:t>
            </a:r>
            <a:r>
              <a:rPr lang="pt-BR" sz="3600" i="1" dirty="0">
                <a:effectLst/>
                <a:latin typeface="+mj-lt"/>
              </a:rPr>
              <a:t>IN e NOT IN" e "EXISTS e NOT EXISTS</a:t>
            </a:r>
            <a:r>
              <a:rPr lang="pt-BR" sz="3600" i="0" dirty="0">
                <a:effectLst/>
                <a:latin typeface="+mj-lt"/>
              </a:rPr>
              <a:t>"</a:t>
            </a:r>
          </a:p>
          <a:p>
            <a:pPr rtl="0" fontAlgn="base"/>
            <a:br>
              <a:rPr lang="pt-BR" sz="3600" i="0" dirty="0">
                <a:effectLst/>
                <a:latin typeface="+mj-lt"/>
              </a:rPr>
            </a:br>
            <a:endParaRPr lang="pt-BR" sz="360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992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24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4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5A76DA4-1513-472B-B935-BB182C02E367}"/>
              </a:ext>
            </a:extLst>
          </p:cNvPr>
          <p:cNvSpPr txBox="1"/>
          <p:nvPr/>
        </p:nvSpPr>
        <p:spPr>
          <a:xfrm>
            <a:off x="7341562" y="1198485"/>
            <a:ext cx="4758701" cy="34001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800" b="1" i="1" dirty="0">
                <a:effectLst/>
                <a:latin typeface="+mj-lt"/>
              </a:rPr>
              <a:t>Operadores Lógicos </a:t>
            </a:r>
            <a:r>
              <a:rPr lang="pt-BR" sz="2800" b="1" i="0" dirty="0">
                <a:effectLst/>
                <a:latin typeface="+mj-lt"/>
              </a:rPr>
              <a:t>"</a:t>
            </a:r>
            <a:r>
              <a:rPr lang="pt-BR" sz="2800" b="1" i="1" dirty="0">
                <a:effectLst/>
                <a:latin typeface="+mj-lt"/>
              </a:rPr>
              <a:t>LIKE ou NOT LIKE</a:t>
            </a:r>
            <a:r>
              <a:rPr lang="pt-BR" sz="2800" b="1" i="0" dirty="0">
                <a:effectLst/>
                <a:latin typeface="+mj-lt"/>
              </a:rPr>
              <a:t>“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800" b="1" i="1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800" b="0" i="0" dirty="0">
                <a:effectLst/>
                <a:latin typeface="+mj-lt"/>
              </a:rPr>
              <a:t>Ele permite comparar o valor de uma coluna com uma sequências de caracteres.</a:t>
            </a:r>
            <a:endParaRPr lang="pt-BR" sz="2800" dirty="0">
              <a:latin typeface="+mj-lt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i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210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34" name="Freeform: Shape 8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94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C6F6DDC-B2CB-4D18-B574-75DA34B9395C}"/>
              </a:ext>
            </a:extLst>
          </p:cNvPr>
          <p:cNvSpPr txBox="1"/>
          <p:nvPr/>
        </p:nvSpPr>
        <p:spPr>
          <a:xfrm>
            <a:off x="7433298" y="408372"/>
            <a:ext cx="4758701" cy="44388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800" b="1" i="1" dirty="0">
                <a:effectLst/>
                <a:latin typeface="+mj-lt"/>
              </a:rPr>
              <a:t>Operadores Lógicos </a:t>
            </a:r>
            <a:r>
              <a:rPr lang="pt-BR" sz="2800" b="1" i="0" dirty="0">
                <a:effectLst/>
                <a:latin typeface="+mj-lt"/>
              </a:rPr>
              <a:t>"</a:t>
            </a:r>
            <a:r>
              <a:rPr lang="pt-BR" sz="2800" b="1" i="1" dirty="0">
                <a:effectLst/>
                <a:latin typeface="+mj-lt"/>
              </a:rPr>
              <a:t>BETWEEN ou NOT BETWEEN</a:t>
            </a:r>
            <a:r>
              <a:rPr lang="pt-BR" sz="2800" b="1" i="0" dirty="0">
                <a:effectLst/>
                <a:latin typeface="+mj-lt"/>
              </a:rPr>
              <a:t>“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800" b="1" i="1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800" b="0" i="0" dirty="0">
                <a:effectLst/>
                <a:latin typeface="+mj-lt"/>
              </a:rPr>
              <a:t>O operador </a:t>
            </a:r>
            <a:r>
              <a:rPr lang="pt-BR" sz="2800" b="0" i="1" dirty="0">
                <a:effectLst/>
                <a:latin typeface="+mj-lt"/>
              </a:rPr>
              <a:t>BETWEEN </a:t>
            </a:r>
            <a:r>
              <a:rPr lang="pt-BR" sz="2800" b="0" i="0" dirty="0">
                <a:effectLst/>
                <a:latin typeface="+mj-lt"/>
              </a:rPr>
              <a:t>tem a finalidade de permitir a consulta entre uma determinada faixa de valores.</a:t>
            </a:r>
            <a:endParaRPr lang="en-US" sz="2800" i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567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24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26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OPERADORES DE COMPARAÇÃO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08945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09281" y="106531"/>
            <a:ext cx="4882718" cy="6426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3200" b="1" i="0" dirty="0">
                <a:effectLst/>
                <a:latin typeface="+mj-lt"/>
              </a:rPr>
              <a:t>Operadores de Comparação</a:t>
            </a: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880C76C-9BDB-4FD9-8C5C-65BE73C98A14}"/>
              </a:ext>
            </a:extLst>
          </p:cNvPr>
          <p:cNvSpPr txBox="1"/>
          <p:nvPr/>
        </p:nvSpPr>
        <p:spPr>
          <a:xfrm>
            <a:off x="7309281" y="1038687"/>
            <a:ext cx="4882718" cy="22638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2800" b="0" i="0" dirty="0">
                <a:effectLst/>
                <a:latin typeface="+mj-lt"/>
              </a:rPr>
              <a:t>Os operadores de comparação podem ser usados em todas as expressões, exceto em expressões dos tipos de dados</a:t>
            </a:r>
            <a:r>
              <a:rPr lang="pt-BR" sz="2800" b="0" i="1" dirty="0">
                <a:effectLst/>
                <a:latin typeface="+mj-lt"/>
              </a:rPr>
              <a:t> </a:t>
            </a:r>
            <a:r>
              <a:rPr lang="pt-BR" sz="2800" b="1" i="1" dirty="0" err="1">
                <a:effectLst/>
                <a:latin typeface="+mj-lt"/>
              </a:rPr>
              <a:t>text</a:t>
            </a:r>
            <a:r>
              <a:rPr lang="pt-BR" sz="2800" b="0" i="1" dirty="0">
                <a:effectLst/>
                <a:latin typeface="+mj-lt"/>
              </a:rPr>
              <a:t>, </a:t>
            </a:r>
            <a:r>
              <a:rPr lang="pt-BR" sz="2800" b="1" i="1" dirty="0" err="1">
                <a:effectLst/>
                <a:latin typeface="+mj-lt"/>
              </a:rPr>
              <a:t>ntext</a:t>
            </a:r>
            <a:r>
              <a:rPr lang="pt-BR" sz="2800" b="0" i="1" dirty="0">
                <a:effectLst/>
                <a:latin typeface="+mj-lt"/>
              </a:rPr>
              <a:t> </a:t>
            </a:r>
            <a:r>
              <a:rPr lang="pt-BR" sz="2800" b="0" i="0" dirty="0">
                <a:effectLst/>
                <a:latin typeface="+mj-lt"/>
              </a:rPr>
              <a:t>ou </a:t>
            </a:r>
            <a:r>
              <a:rPr lang="pt-BR" sz="2800" b="1" i="1" dirty="0" err="1">
                <a:effectLst/>
                <a:latin typeface="+mj-lt"/>
              </a:rPr>
              <a:t>image</a:t>
            </a:r>
            <a:r>
              <a:rPr lang="pt-BR" sz="2800" b="1" i="0" dirty="0">
                <a:effectLst/>
                <a:latin typeface="+mj-lt"/>
              </a:rPr>
              <a:t>.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untitled image">
            <a:extLst>
              <a:ext uri="{FF2B5EF4-FFF2-40B4-BE49-F238E27FC236}">
                <a16:creationId xmlns:a16="http://schemas.microsoft.com/office/drawing/2014/main" id="{82D8D962-2EAD-40FF-85EB-611B76E6F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280" y="3429000"/>
            <a:ext cx="5093018" cy="328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2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279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56">
            <a:extLst>
              <a:ext uri="{FF2B5EF4-FFF2-40B4-BE49-F238E27FC236}">
                <a16:creationId xmlns:a16="http://schemas.microsoft.com/office/drawing/2014/main" id="{C8EE5975-D67B-44C3-96A1-61B95EB2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22ADC9-6B6E-4EAC-AC86-37DD45AEDEBE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aprendemos até aqui?</a:t>
            </a:r>
          </a:p>
        </p:txBody>
      </p:sp>
      <p:sp>
        <p:nvSpPr>
          <p:cNvPr id="8" name="Rectangle 58">
            <a:extLst>
              <a:ext uri="{FF2B5EF4-FFF2-40B4-BE49-F238E27FC236}">
                <a16:creationId xmlns:a16="http://schemas.microsoft.com/office/drawing/2014/main" id="{6BD91B1F-A8A2-4664-B3B3-9D6AFCDE6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78D1CE-4820-4AEC-A5A1-AE1672C04AFF}"/>
              </a:ext>
            </a:extLst>
          </p:cNvPr>
          <p:cNvSpPr txBox="1"/>
          <p:nvPr/>
        </p:nvSpPr>
        <p:spPr>
          <a:xfrm>
            <a:off x="645066" y="1516194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Conhecemos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Operadores</a:t>
            </a:r>
            <a:r>
              <a:rPr lang="en-US" dirty="0"/>
              <a:t> </a:t>
            </a:r>
            <a:r>
              <a:rPr lang="en-US" dirty="0" err="1"/>
              <a:t>Aritméticos</a:t>
            </a:r>
            <a:r>
              <a:rPr lang="en-US" dirty="0"/>
              <a:t>, </a:t>
            </a:r>
            <a:r>
              <a:rPr lang="en-US" dirty="0" err="1"/>
              <a:t>Lógico</a:t>
            </a:r>
            <a:r>
              <a:rPr lang="en-US" dirty="0"/>
              <a:t> e de </a:t>
            </a:r>
            <a:r>
              <a:rPr lang="en-US" err="1"/>
              <a:t>Comparação</a:t>
            </a:r>
            <a:r>
              <a:rPr lang="en-US"/>
              <a:t>;</a:t>
            </a:r>
            <a:endParaRPr lang="en-US" dirty="0"/>
          </a:p>
        </p:txBody>
      </p:sp>
      <p:sp>
        <p:nvSpPr>
          <p:cNvPr id="10" name="Rectangle 60">
            <a:extLst>
              <a:ext uri="{FF2B5EF4-FFF2-40B4-BE49-F238E27FC236}">
                <a16:creationId xmlns:a16="http://schemas.microsoft.com/office/drawing/2014/main" id="{F884CD65-A30C-47EB-B785-344AD4135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96C0A468-35DE-4FB7-A026-4ED9AD4FB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5E3BC6AD-A446-4346-B8BE-D614BC2F2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Vídeo 36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0B03015A-E8F5-468B-B97F-4A3ED55779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5987738" y="1734180"/>
            <a:ext cx="5628018" cy="31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2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>
                <a:latin typeface="+mj-lt"/>
                <a:ea typeface="+mj-ea"/>
                <a:cs typeface="+mj-cs"/>
              </a:rPr>
              <a:t>Arquivos usados no treinamento, onde ficarão?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6246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93591" y="559293"/>
            <a:ext cx="4493607" cy="891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Links de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Referência</a:t>
            </a:r>
            <a:r>
              <a:rPr lang="en-US" sz="4200" dirty="0"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45B0E-EDDC-4B43-BF4D-A42C67675045}"/>
              </a:ext>
            </a:extLst>
          </p:cNvPr>
          <p:cNvSpPr txBox="1"/>
          <p:nvPr/>
        </p:nvSpPr>
        <p:spPr>
          <a:xfrm>
            <a:off x="7199790" y="1865180"/>
            <a:ext cx="4992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https://docs.microsoft.com/en-us/sql/relational-databases/databases/system-databases?view=sql-server-ver15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528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2747</TotalTime>
  <Words>412</Words>
  <Application>Microsoft Office PowerPoint</Application>
  <PresentationFormat>Widescreen</PresentationFormat>
  <Paragraphs>63</Paragraphs>
  <Slides>26</Slides>
  <Notes>0</Notes>
  <HiddenSlides>2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Impact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3</cp:revision>
  <dcterms:created xsi:type="dcterms:W3CDTF">2022-01-12T22:44:22Z</dcterms:created>
  <dcterms:modified xsi:type="dcterms:W3CDTF">2024-10-24T22:08:55Z</dcterms:modified>
</cp:coreProperties>
</file>