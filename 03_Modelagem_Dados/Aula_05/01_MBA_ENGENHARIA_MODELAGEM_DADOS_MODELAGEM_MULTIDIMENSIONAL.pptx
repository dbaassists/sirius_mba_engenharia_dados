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23" r:id="rId2"/>
    <p:sldId id="324" r:id="rId3"/>
    <p:sldId id="326" r:id="rId4"/>
    <p:sldId id="531" r:id="rId5"/>
    <p:sldId id="505" r:id="rId6"/>
    <p:sldId id="340" r:id="rId7"/>
    <p:sldId id="507" r:id="rId8"/>
    <p:sldId id="509" r:id="rId9"/>
    <p:sldId id="510" r:id="rId10"/>
    <p:sldId id="511" r:id="rId11"/>
    <p:sldId id="508" r:id="rId12"/>
    <p:sldId id="529" r:id="rId13"/>
    <p:sldId id="512" r:id="rId14"/>
    <p:sldId id="341" r:id="rId15"/>
    <p:sldId id="518" r:id="rId16"/>
    <p:sldId id="513" r:id="rId17"/>
    <p:sldId id="465" r:id="rId18"/>
    <p:sldId id="523" r:id="rId19"/>
    <p:sldId id="515" r:id="rId20"/>
    <p:sldId id="516" r:id="rId21"/>
    <p:sldId id="524" r:id="rId22"/>
    <p:sldId id="517" r:id="rId23"/>
    <p:sldId id="519" r:id="rId24"/>
    <p:sldId id="520" r:id="rId25"/>
    <p:sldId id="475" r:id="rId26"/>
    <p:sldId id="469" r:id="rId27"/>
    <p:sldId id="521" r:id="rId28"/>
    <p:sldId id="522" r:id="rId2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DA9"/>
    <a:srgbClr val="2EC1F4"/>
    <a:srgbClr val="4490C4"/>
    <a:srgbClr val="4277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74" autoAdjust="0"/>
    <p:restoredTop sz="95388" autoAdjust="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01FB92-3B40-4CEB-8EF6-98192792E525}" type="datetimeFigureOut">
              <a:rPr lang="pt-BR" smtClean="0"/>
              <a:t>17/10/2024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9531D7-9345-481B-A252-EED700AD3DD7}" type="slidenum">
              <a:rPr lang="pt-BR" smtClean="0"/>
              <a:t>‹nº›</a:t>
            </a:fld>
            <a:endParaRPr lang="pt-BR"/>
          </a:p>
        </p:txBody>
      </p:sp>
    </p:spTree>
    <p:extLst>
      <p:ext uri="{BB962C8B-B14F-4D97-AF65-F5344CB8AC3E}">
        <p14:creationId xmlns:p14="http://schemas.microsoft.com/office/powerpoint/2010/main" val="6415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mar vai se abrir??? </a:t>
            </a:r>
          </a:p>
        </p:txBody>
      </p:sp>
      <p:sp>
        <p:nvSpPr>
          <p:cNvPr id="4" name="Espaço Reservado para Número de Slide 3"/>
          <p:cNvSpPr>
            <a:spLocks noGrp="1"/>
          </p:cNvSpPr>
          <p:nvPr>
            <p:ph type="sldNum" sz="quarter" idx="5"/>
          </p:nvPr>
        </p:nvSpPr>
        <p:spPr/>
        <p:txBody>
          <a:bodyPr/>
          <a:lstStyle/>
          <a:p>
            <a:fld id="{056D75FF-44AE-4389-849B-28D420C991FB}" type="slidenum">
              <a:rPr lang="pt-BR" smtClean="0"/>
              <a:t>2</a:t>
            </a:fld>
            <a:endParaRPr lang="pt-BR"/>
          </a:p>
        </p:txBody>
      </p:sp>
    </p:spTree>
    <p:extLst>
      <p:ext uri="{BB962C8B-B14F-4D97-AF65-F5344CB8AC3E}">
        <p14:creationId xmlns:p14="http://schemas.microsoft.com/office/powerpoint/2010/main" val="2960234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056D75FF-44AE-4389-849B-28D420C991FB}" type="slidenum">
              <a:rPr lang="pt-BR" smtClean="0"/>
              <a:t>3</a:t>
            </a:fld>
            <a:endParaRPr lang="pt-BR"/>
          </a:p>
        </p:txBody>
      </p:sp>
    </p:spTree>
    <p:extLst>
      <p:ext uri="{BB962C8B-B14F-4D97-AF65-F5344CB8AC3E}">
        <p14:creationId xmlns:p14="http://schemas.microsoft.com/office/powerpoint/2010/main" val="1376059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Utilizado para descrever os objetos do mundo real através de entidades, com suas propriedades que são os atributos e os seus relacionamentos.</a:t>
            </a:r>
          </a:p>
          <a:p>
            <a:endParaRPr lang="pt-BR" dirty="0"/>
          </a:p>
        </p:txBody>
      </p:sp>
      <p:sp>
        <p:nvSpPr>
          <p:cNvPr id="4" name="Espaço Reservado para Número de Slide 3"/>
          <p:cNvSpPr>
            <a:spLocks noGrp="1"/>
          </p:cNvSpPr>
          <p:nvPr>
            <p:ph type="sldNum" sz="quarter" idx="5"/>
          </p:nvPr>
        </p:nvSpPr>
        <p:spPr/>
        <p:txBody>
          <a:bodyPr/>
          <a:lstStyle/>
          <a:p>
            <a:fld id="{429531D7-9345-481B-A252-EED700AD3DD7}" type="slidenum">
              <a:rPr lang="pt-BR" smtClean="0"/>
              <a:t>9</a:t>
            </a:fld>
            <a:endParaRPr lang="pt-BR"/>
          </a:p>
        </p:txBody>
      </p:sp>
    </p:spTree>
    <p:extLst>
      <p:ext uri="{BB962C8B-B14F-4D97-AF65-F5344CB8AC3E}">
        <p14:creationId xmlns:p14="http://schemas.microsoft.com/office/powerpoint/2010/main" val="1053250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Identificar e descrever as entidades, os atributos, feito isso, identificar os relacionamentos existentes.</a:t>
            </a:r>
          </a:p>
          <a:p>
            <a:endParaRPr lang="pt-BR" dirty="0"/>
          </a:p>
        </p:txBody>
      </p:sp>
      <p:sp>
        <p:nvSpPr>
          <p:cNvPr id="4" name="Espaço Reservado para Número de Slide 3"/>
          <p:cNvSpPr>
            <a:spLocks noGrp="1"/>
          </p:cNvSpPr>
          <p:nvPr>
            <p:ph type="sldNum" sz="quarter" idx="5"/>
          </p:nvPr>
        </p:nvSpPr>
        <p:spPr/>
        <p:txBody>
          <a:bodyPr/>
          <a:lstStyle/>
          <a:p>
            <a:fld id="{429531D7-9345-481B-A252-EED700AD3DD7}" type="slidenum">
              <a:rPr lang="pt-BR" smtClean="0"/>
              <a:t>10</a:t>
            </a:fld>
            <a:endParaRPr lang="pt-BR"/>
          </a:p>
        </p:txBody>
      </p:sp>
    </p:spTree>
    <p:extLst>
      <p:ext uri="{BB962C8B-B14F-4D97-AF65-F5344CB8AC3E}">
        <p14:creationId xmlns:p14="http://schemas.microsoft.com/office/powerpoint/2010/main" val="2026282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i="0" dirty="0">
                <a:effectLst/>
                <a:latin typeface="-apple-system"/>
              </a:rPr>
              <a:t>SLOWLY CHANGING DIMENSIONS - </a:t>
            </a:r>
            <a:r>
              <a:rPr lang="pt-BR" b="1" i="0" dirty="0" err="1">
                <a:effectLst/>
                <a:latin typeface="-apple-system"/>
              </a:rPr>
              <a:t>Slowly</a:t>
            </a:r>
            <a:r>
              <a:rPr lang="pt-BR" b="1" i="0" dirty="0">
                <a:effectLst/>
                <a:latin typeface="-apple-system"/>
              </a:rPr>
              <a:t> </a:t>
            </a:r>
            <a:r>
              <a:rPr lang="pt-BR" b="1" i="0" dirty="0" err="1">
                <a:effectLst/>
                <a:latin typeface="-apple-system"/>
              </a:rPr>
              <a:t>Changing</a:t>
            </a:r>
            <a:r>
              <a:rPr lang="pt-BR" b="1" i="0" dirty="0">
                <a:effectLst/>
                <a:latin typeface="-apple-system"/>
              </a:rPr>
              <a:t> </a:t>
            </a:r>
            <a:r>
              <a:rPr lang="pt-BR" b="1" i="0" dirty="0" err="1">
                <a:effectLst/>
                <a:latin typeface="-apple-system"/>
              </a:rPr>
              <a:t>Dimensions</a:t>
            </a:r>
            <a:r>
              <a:rPr lang="pt-BR" b="1" i="0" dirty="0">
                <a:effectLst/>
                <a:latin typeface="-apple-system"/>
              </a:rPr>
              <a:t> SCD</a:t>
            </a:r>
            <a:r>
              <a:rPr lang="pt-BR" b="0" i="0" dirty="0">
                <a:effectLst/>
                <a:latin typeface="-apple-system"/>
              </a:rPr>
              <a:t> (Dimensões que Mudam Lentamente, em português) e retrata as dimensões que sofrem atualizações em seus campos e os classifica pelo tipo de mudança existente em cada uma delas. Vários tipos de SCD podem ser identificados no DW, variando de acordo com as características de atualizações das dimensões. As alternativas mais comuns de SCD são o SCD Tipo 1, SCD Tipo 2, SCD Tipo 3 e o SCD Híbrido (</a:t>
            </a:r>
            <a:r>
              <a:rPr lang="pt-BR" b="0" i="0" dirty="0" err="1">
                <a:effectLst/>
                <a:latin typeface="-apple-system"/>
              </a:rPr>
              <a:t>Canaltech</a:t>
            </a:r>
            <a:r>
              <a:rPr lang="pt-BR" b="0" i="0" dirty="0">
                <a:effectLst/>
                <a:latin typeface="-apple-system"/>
              </a:rPr>
              <a:t>, 2020).</a:t>
            </a:r>
          </a:p>
          <a:p>
            <a:endParaRPr lang="pt-BR" b="0" i="0" dirty="0">
              <a:effectLst/>
              <a:latin typeface="-apple-system"/>
            </a:endParaRPr>
          </a:p>
          <a:p>
            <a:endParaRPr lang="pt-BR" dirty="0"/>
          </a:p>
        </p:txBody>
      </p:sp>
      <p:sp>
        <p:nvSpPr>
          <p:cNvPr id="4" name="Espaço Reservado para Número de Slide 3"/>
          <p:cNvSpPr>
            <a:spLocks noGrp="1"/>
          </p:cNvSpPr>
          <p:nvPr>
            <p:ph type="sldNum" sz="quarter" idx="5"/>
          </p:nvPr>
        </p:nvSpPr>
        <p:spPr/>
        <p:txBody>
          <a:bodyPr/>
          <a:lstStyle/>
          <a:p>
            <a:fld id="{056D75FF-44AE-4389-849B-28D420C991FB}" type="slidenum">
              <a:rPr lang="pt-BR" smtClean="0"/>
              <a:t>23</a:t>
            </a:fld>
            <a:endParaRPr lang="pt-BR"/>
          </a:p>
        </p:txBody>
      </p:sp>
    </p:spTree>
    <p:extLst>
      <p:ext uri="{BB962C8B-B14F-4D97-AF65-F5344CB8AC3E}">
        <p14:creationId xmlns:p14="http://schemas.microsoft.com/office/powerpoint/2010/main" val="520953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i="0" dirty="0">
                <a:effectLst/>
                <a:latin typeface="-apple-system"/>
              </a:rPr>
              <a:t>SLOWLY CHANGING DIMENSIONS - </a:t>
            </a:r>
            <a:r>
              <a:rPr lang="pt-BR" b="1" i="0" dirty="0" err="1">
                <a:effectLst/>
                <a:latin typeface="-apple-system"/>
              </a:rPr>
              <a:t>Slowly</a:t>
            </a:r>
            <a:r>
              <a:rPr lang="pt-BR" b="1" i="0" dirty="0">
                <a:effectLst/>
                <a:latin typeface="-apple-system"/>
              </a:rPr>
              <a:t> </a:t>
            </a:r>
            <a:r>
              <a:rPr lang="pt-BR" b="1" i="0" dirty="0" err="1">
                <a:effectLst/>
                <a:latin typeface="-apple-system"/>
              </a:rPr>
              <a:t>Changing</a:t>
            </a:r>
            <a:r>
              <a:rPr lang="pt-BR" b="1" i="0" dirty="0">
                <a:effectLst/>
                <a:latin typeface="-apple-system"/>
              </a:rPr>
              <a:t> </a:t>
            </a:r>
            <a:r>
              <a:rPr lang="pt-BR" b="1" i="0" dirty="0" err="1">
                <a:effectLst/>
                <a:latin typeface="-apple-system"/>
              </a:rPr>
              <a:t>Dimensions</a:t>
            </a:r>
            <a:r>
              <a:rPr lang="pt-BR" b="1" i="0" dirty="0">
                <a:effectLst/>
                <a:latin typeface="-apple-system"/>
              </a:rPr>
              <a:t> SCD</a:t>
            </a:r>
            <a:r>
              <a:rPr lang="pt-BR" b="0" i="0" dirty="0">
                <a:effectLst/>
                <a:latin typeface="-apple-system"/>
              </a:rPr>
              <a:t> (Dimensões que Mudam Lentamente, em português) e retrata as dimensões que sofrem atualizações em seus campos e os classifica pelo tipo de mudança existente em cada uma delas. Vários tipos de SCD podem ser identificados no DW, variando de acordo com as características de atualizações das dimensões. As alternativas mais comuns de SCD são o SCD Tipo 1, SCD Tipo 2, SCD Tipo 3 e o SCD Híbrido (</a:t>
            </a:r>
            <a:r>
              <a:rPr lang="pt-BR" b="0" i="0" dirty="0" err="1">
                <a:effectLst/>
                <a:latin typeface="-apple-system"/>
              </a:rPr>
              <a:t>Canaltech</a:t>
            </a:r>
            <a:r>
              <a:rPr lang="pt-BR" b="0" i="0" dirty="0">
                <a:effectLst/>
                <a:latin typeface="-apple-system"/>
              </a:rPr>
              <a:t>, 2020).</a:t>
            </a:r>
          </a:p>
          <a:p>
            <a:endParaRPr lang="pt-BR" b="0" i="0" dirty="0">
              <a:effectLst/>
              <a:latin typeface="-apple-system"/>
            </a:endParaRPr>
          </a:p>
          <a:p>
            <a:endParaRPr lang="pt-BR" dirty="0"/>
          </a:p>
        </p:txBody>
      </p:sp>
      <p:sp>
        <p:nvSpPr>
          <p:cNvPr id="4" name="Espaço Reservado para Número de Slide 3"/>
          <p:cNvSpPr>
            <a:spLocks noGrp="1"/>
          </p:cNvSpPr>
          <p:nvPr>
            <p:ph type="sldNum" sz="quarter" idx="5"/>
          </p:nvPr>
        </p:nvSpPr>
        <p:spPr/>
        <p:txBody>
          <a:bodyPr/>
          <a:lstStyle/>
          <a:p>
            <a:fld id="{056D75FF-44AE-4389-849B-28D420C991FB}" type="slidenum">
              <a:rPr lang="pt-BR" smtClean="0"/>
              <a:t>24</a:t>
            </a:fld>
            <a:endParaRPr lang="pt-BR"/>
          </a:p>
        </p:txBody>
      </p:sp>
    </p:spTree>
    <p:extLst>
      <p:ext uri="{BB962C8B-B14F-4D97-AF65-F5344CB8AC3E}">
        <p14:creationId xmlns:p14="http://schemas.microsoft.com/office/powerpoint/2010/main" val="3809825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i="0" dirty="0">
                <a:effectLst/>
                <a:latin typeface="-apple-system"/>
              </a:rPr>
              <a:t>O SCD Híbrido</a:t>
            </a:r>
            <a:r>
              <a:rPr lang="pt-BR" b="0" i="0" dirty="0">
                <a:effectLst/>
                <a:latin typeface="-apple-system"/>
              </a:rPr>
              <a:t> (conhecido também como SCD Tipo 6), combina todas os SCD anteriores. Isso o torna bastante flexível para as atualizações das dimensões, porém com um grande custo de complexidade.</a:t>
            </a:r>
          </a:p>
        </p:txBody>
      </p:sp>
      <p:sp>
        <p:nvSpPr>
          <p:cNvPr id="4" name="Espaço Reservado para Número de Slide 3"/>
          <p:cNvSpPr>
            <a:spLocks noGrp="1"/>
          </p:cNvSpPr>
          <p:nvPr>
            <p:ph type="sldNum" sz="quarter" idx="5"/>
          </p:nvPr>
        </p:nvSpPr>
        <p:spPr/>
        <p:txBody>
          <a:bodyPr/>
          <a:lstStyle/>
          <a:p>
            <a:fld id="{056D75FF-44AE-4389-849B-28D420C991FB}" type="slidenum">
              <a:rPr lang="pt-BR" smtClean="0"/>
              <a:t>26</a:t>
            </a:fld>
            <a:endParaRPr lang="pt-BR"/>
          </a:p>
        </p:txBody>
      </p:sp>
    </p:spTree>
    <p:extLst>
      <p:ext uri="{BB962C8B-B14F-4D97-AF65-F5344CB8AC3E}">
        <p14:creationId xmlns:p14="http://schemas.microsoft.com/office/powerpoint/2010/main" val="4172555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i="0" dirty="0">
                <a:effectLst/>
                <a:latin typeface="-apple-system"/>
              </a:rPr>
              <a:t>O SCD Híbrido</a:t>
            </a:r>
            <a:r>
              <a:rPr lang="pt-BR" b="0" i="0" dirty="0">
                <a:effectLst/>
                <a:latin typeface="-apple-system"/>
              </a:rPr>
              <a:t> (conhecido também como SCD Tipo 6), combina todas os SCD anteriores. Isso o torna bastante flexível para as atualizações das dimensões, porém com um grande custo de complexidade.</a:t>
            </a:r>
          </a:p>
        </p:txBody>
      </p:sp>
      <p:sp>
        <p:nvSpPr>
          <p:cNvPr id="4" name="Espaço Reservado para Número de Slide 3"/>
          <p:cNvSpPr>
            <a:spLocks noGrp="1"/>
          </p:cNvSpPr>
          <p:nvPr>
            <p:ph type="sldNum" sz="quarter" idx="5"/>
          </p:nvPr>
        </p:nvSpPr>
        <p:spPr/>
        <p:txBody>
          <a:bodyPr/>
          <a:lstStyle/>
          <a:p>
            <a:fld id="{056D75FF-44AE-4389-849B-28D420C991FB}" type="slidenum">
              <a:rPr lang="pt-BR" smtClean="0"/>
              <a:t>27</a:t>
            </a:fld>
            <a:endParaRPr lang="pt-BR"/>
          </a:p>
        </p:txBody>
      </p:sp>
    </p:spTree>
    <p:extLst>
      <p:ext uri="{BB962C8B-B14F-4D97-AF65-F5344CB8AC3E}">
        <p14:creationId xmlns:p14="http://schemas.microsoft.com/office/powerpoint/2010/main" val="505649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i="0" dirty="0">
                <a:effectLst/>
                <a:latin typeface="-apple-system"/>
              </a:rPr>
              <a:t>O SCD Híbrido</a:t>
            </a:r>
            <a:r>
              <a:rPr lang="pt-BR" b="0" i="0" dirty="0">
                <a:effectLst/>
                <a:latin typeface="-apple-system"/>
              </a:rPr>
              <a:t> (conhecido também como SCD Tipo 6), combina todas os SCD anteriores. Isso o torna bastante flexível para as atualizações das dimensões, porém com um grande custo de complexidade.</a:t>
            </a:r>
          </a:p>
        </p:txBody>
      </p:sp>
      <p:sp>
        <p:nvSpPr>
          <p:cNvPr id="4" name="Espaço Reservado para Número de Slide 3"/>
          <p:cNvSpPr>
            <a:spLocks noGrp="1"/>
          </p:cNvSpPr>
          <p:nvPr>
            <p:ph type="sldNum" sz="quarter" idx="5"/>
          </p:nvPr>
        </p:nvSpPr>
        <p:spPr/>
        <p:txBody>
          <a:bodyPr/>
          <a:lstStyle/>
          <a:p>
            <a:fld id="{056D75FF-44AE-4389-849B-28D420C991FB}" type="slidenum">
              <a:rPr lang="pt-BR" smtClean="0"/>
              <a:t>28</a:t>
            </a:fld>
            <a:endParaRPr lang="pt-BR"/>
          </a:p>
        </p:txBody>
      </p:sp>
    </p:spTree>
    <p:extLst>
      <p:ext uri="{BB962C8B-B14F-4D97-AF65-F5344CB8AC3E}">
        <p14:creationId xmlns:p14="http://schemas.microsoft.com/office/powerpoint/2010/main" val="3474284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A6E591-8BF2-1E1B-8025-F25382391A18}"/>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DAE662D8-EDCB-92CC-A1E8-C6AB01DA96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3B89E76F-FD1A-5C07-6C8B-22FA09A5B247}"/>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5" name="Espaço Reservado para Rodapé 4">
            <a:extLst>
              <a:ext uri="{FF2B5EF4-FFF2-40B4-BE49-F238E27FC236}">
                <a16:creationId xmlns:a16="http://schemas.microsoft.com/office/drawing/2014/main" id="{9F75D406-A207-69C0-4841-2C8A656D1C9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539DA89-BAF9-BAB8-48A0-E5B04E9649F2}"/>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2036925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8A5052-9B90-6542-0FE7-522F584D4A9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087DC472-5FBB-0E78-F908-63ABE7C0C64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B1FF4C9-E274-C1FC-5C08-B99A8DF4584C}"/>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5" name="Espaço Reservado para Rodapé 4">
            <a:extLst>
              <a:ext uri="{FF2B5EF4-FFF2-40B4-BE49-F238E27FC236}">
                <a16:creationId xmlns:a16="http://schemas.microsoft.com/office/drawing/2014/main" id="{402CB93B-1F23-71F1-278F-DA48505118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D6AC0DB-B096-03E4-7A70-CA1A7EC2DEFB}"/>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2860241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A8E39B-0B93-59EC-2EEF-79A0BF757B1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73B7E1EE-EA5F-4B81-FDFE-A6010AB232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7D34AC63-5429-D2F8-4A10-A17AB56FF2DD}"/>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5" name="Espaço Reservado para Rodapé 4">
            <a:extLst>
              <a:ext uri="{FF2B5EF4-FFF2-40B4-BE49-F238E27FC236}">
                <a16:creationId xmlns:a16="http://schemas.microsoft.com/office/drawing/2014/main" id="{875E4887-F1BA-8E51-295B-2A0422D637C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AF2202B-33FA-65E6-03F1-B205EB447455}"/>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3264258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66175F-07C7-B189-C6D2-846DF13C436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647C0C4-9236-989B-8B1C-F29A2F96E738}"/>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D994BCE8-3185-DAAA-5594-FFAAFACB2E84}"/>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31F6762-3126-175D-EE38-B4B85364F406}"/>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6" name="Espaço Reservado para Rodapé 5">
            <a:extLst>
              <a:ext uri="{FF2B5EF4-FFF2-40B4-BE49-F238E27FC236}">
                <a16:creationId xmlns:a16="http://schemas.microsoft.com/office/drawing/2014/main" id="{18A55956-DD2C-B8BF-4EDB-55488043855E}"/>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76B4FC4-A6CC-0355-21D8-8378B64ED822}"/>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2799135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69E234-EA9D-531E-B59E-58164DCE256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571433BD-4B56-566B-3CE2-38FF7F8D08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D079FD1D-56DC-898D-ADB8-C4CD0FCC3899}"/>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BB8B18BD-8194-1930-4436-AB7278B9FF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292871FB-A56A-D112-CC01-E6F255757E1C}"/>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FF1948C-406D-EE6F-3C5F-E90BF51AB4E3}"/>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8" name="Espaço Reservado para Rodapé 7">
            <a:extLst>
              <a:ext uri="{FF2B5EF4-FFF2-40B4-BE49-F238E27FC236}">
                <a16:creationId xmlns:a16="http://schemas.microsoft.com/office/drawing/2014/main" id="{194862ED-A532-891D-D147-4EC6A9B0E2DF}"/>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9C0EFAAC-ADB6-3912-9E3D-9487A4C26FF8}"/>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776734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B2FDE6-6521-231B-3FED-E8D59251AF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07BD3A4D-BC87-B45C-CAE6-791C6A9C967B}"/>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4" name="Espaço Reservado para Rodapé 3">
            <a:extLst>
              <a:ext uri="{FF2B5EF4-FFF2-40B4-BE49-F238E27FC236}">
                <a16:creationId xmlns:a16="http://schemas.microsoft.com/office/drawing/2014/main" id="{FB87D20E-C272-B318-AE90-0E29D7810E7F}"/>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CE3F8965-B8E9-0B29-4D66-9042E233E8CA}"/>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2171942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B7BCF0AE-793A-9F93-98E4-13A7FB456BC5}"/>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3" name="Espaço Reservado para Rodapé 2">
            <a:extLst>
              <a:ext uri="{FF2B5EF4-FFF2-40B4-BE49-F238E27FC236}">
                <a16:creationId xmlns:a16="http://schemas.microsoft.com/office/drawing/2014/main" id="{25D0F490-DD3E-3BF3-D63D-0F6D59E8A23D}"/>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AF06D652-0D1C-562C-0413-4DABFC19D88F}"/>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134619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B41D19-43EB-4B0A-5D24-CF3083CBABE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D7704726-FE48-E8FE-A1BF-C33A03D137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C2E050BF-FBE2-7735-DF7C-31948BC94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BEFC99A8-5C8D-7A2F-838B-94D5603723A5}"/>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6" name="Espaço Reservado para Rodapé 5">
            <a:extLst>
              <a:ext uri="{FF2B5EF4-FFF2-40B4-BE49-F238E27FC236}">
                <a16:creationId xmlns:a16="http://schemas.microsoft.com/office/drawing/2014/main" id="{BF3F7BBD-E693-CBF8-6F45-94A4EF6EAA8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1F47F14-BCDC-68B7-E86F-B59C968297D3}"/>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1725119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C5175D-2BED-7FF4-3AEB-D138286FB87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2252A6A0-671C-30E7-314F-070120A6C9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944DECC8-13B1-A90C-5083-F2647A686E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F9A45B4-C952-17B4-ECB9-F5D0A430EF1E}"/>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6" name="Espaço Reservado para Rodapé 5">
            <a:extLst>
              <a:ext uri="{FF2B5EF4-FFF2-40B4-BE49-F238E27FC236}">
                <a16:creationId xmlns:a16="http://schemas.microsoft.com/office/drawing/2014/main" id="{97458819-76AC-FDA3-8960-BEFB675DAAD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D76C2E7-7BE6-1ADB-0D93-53C55ACBE772}"/>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1123666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2D2F65-DD74-FC2D-9FD4-4CC391085446}"/>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7CF3E820-6CA4-1CC5-BBD3-EF46D5961AEC}"/>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7193013-3EAB-DA14-0648-33C4E701B067}"/>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5" name="Espaço Reservado para Rodapé 4">
            <a:extLst>
              <a:ext uri="{FF2B5EF4-FFF2-40B4-BE49-F238E27FC236}">
                <a16:creationId xmlns:a16="http://schemas.microsoft.com/office/drawing/2014/main" id="{7DDA0E4A-F232-79F3-722F-EDD5294C480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BA2F8B1-87C3-DAA8-CFE5-251472565768}"/>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410934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5A81B49-7FBA-E668-9CD6-9EA2AF0A4AAB}"/>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6CC7DACA-8415-4AD0-AED9-AF3EB5C0E98D}"/>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C5ED9E4-238A-DF6B-7F29-9D9F54550F05}"/>
              </a:ext>
            </a:extLst>
          </p:cNvPr>
          <p:cNvSpPr>
            <a:spLocks noGrp="1"/>
          </p:cNvSpPr>
          <p:nvPr>
            <p:ph type="dt" sz="half" idx="10"/>
          </p:nvPr>
        </p:nvSpPr>
        <p:spPr/>
        <p:txBody>
          <a:bodyPr/>
          <a:lstStyle/>
          <a:p>
            <a:fld id="{13015A94-D9CB-470F-A58C-5F43E2446D83}" type="datetimeFigureOut">
              <a:rPr lang="pt-BR" smtClean="0"/>
              <a:t>17/10/2024</a:t>
            </a:fld>
            <a:endParaRPr lang="pt-BR"/>
          </a:p>
        </p:txBody>
      </p:sp>
      <p:sp>
        <p:nvSpPr>
          <p:cNvPr id="5" name="Espaço Reservado para Rodapé 4">
            <a:extLst>
              <a:ext uri="{FF2B5EF4-FFF2-40B4-BE49-F238E27FC236}">
                <a16:creationId xmlns:a16="http://schemas.microsoft.com/office/drawing/2014/main" id="{FF4389C7-6D86-8AA7-DF70-9D43BA1C980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1081AD3-1C74-18CF-D2D1-A377C90C6C3E}"/>
              </a:ext>
            </a:extLst>
          </p:cNvPr>
          <p:cNvSpPr>
            <a:spLocks noGrp="1"/>
          </p:cNvSpPr>
          <p:nvPr>
            <p:ph type="sldNum" sz="quarter" idx="12"/>
          </p:nvPr>
        </p:nvSpPr>
        <p:spPr/>
        <p:txBody>
          <a:bodyPr/>
          <a:lstStyle/>
          <a:p>
            <a:fld id="{703B0A60-F06B-4941-80F4-6152928E476F}" type="slidenum">
              <a:rPr lang="pt-BR" smtClean="0"/>
              <a:t>‹nº›</a:t>
            </a:fld>
            <a:endParaRPr lang="pt-BR"/>
          </a:p>
        </p:txBody>
      </p:sp>
    </p:spTree>
    <p:extLst>
      <p:ext uri="{BB962C8B-B14F-4D97-AF65-F5344CB8AC3E}">
        <p14:creationId xmlns:p14="http://schemas.microsoft.com/office/powerpoint/2010/main" val="1952246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1A93EA9-7B75-7075-EBA7-092D982039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E4269631-6FEA-3203-19AD-05B356A7D8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3FB7B25-5952-61A2-DE4A-E34AAB7F4D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015A94-D9CB-470F-A58C-5F43E2446D83}" type="datetimeFigureOut">
              <a:rPr lang="pt-BR" smtClean="0"/>
              <a:t>17/10/2024</a:t>
            </a:fld>
            <a:endParaRPr lang="pt-BR"/>
          </a:p>
        </p:txBody>
      </p:sp>
      <p:sp>
        <p:nvSpPr>
          <p:cNvPr id="5" name="Espaço Reservado para Rodapé 4">
            <a:extLst>
              <a:ext uri="{FF2B5EF4-FFF2-40B4-BE49-F238E27FC236}">
                <a16:creationId xmlns:a16="http://schemas.microsoft.com/office/drawing/2014/main" id="{76A8F785-F69C-4AF4-600B-AD9B75BF2A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36E0D13E-EDFA-2475-9B9B-A0AB59BD04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3B0A60-F06B-4941-80F4-6152928E476F}" type="slidenum">
              <a:rPr lang="pt-BR" smtClean="0"/>
              <a:t>‹nº›</a:t>
            </a:fld>
            <a:endParaRPr lang="pt-BR"/>
          </a:p>
        </p:txBody>
      </p:sp>
    </p:spTree>
    <p:extLst>
      <p:ext uri="{BB962C8B-B14F-4D97-AF65-F5344CB8AC3E}">
        <p14:creationId xmlns:p14="http://schemas.microsoft.com/office/powerpoint/2010/main" val="320303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4158F480-2B77-C8B1-943E-B55138657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704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9653BB5-94BE-57F4-0B98-F3A07484F1EC}"/>
              </a:ext>
            </a:extLst>
          </p:cNvPr>
          <p:cNvSpPr txBox="1"/>
          <p:nvPr/>
        </p:nvSpPr>
        <p:spPr>
          <a:xfrm>
            <a:off x="1" y="1073436"/>
            <a:ext cx="12192000" cy="4508927"/>
          </a:xfrm>
          <a:prstGeom prst="rect">
            <a:avLst/>
          </a:prstGeom>
          <a:noFill/>
        </p:spPr>
        <p:txBody>
          <a:bodyPr wrap="square" rtlCol="0">
            <a:spAutoFit/>
          </a:bodyPr>
          <a:lstStyle/>
          <a:p>
            <a:pPr algn="ctr"/>
            <a:r>
              <a:rPr lang="pt-BR" sz="28700" dirty="0">
                <a:solidFill>
                  <a:srgbClr val="007DA9"/>
                </a:solidFill>
                <a:latin typeface="Impact" panose="020B0806030902050204" pitchFamily="34" charset="0"/>
              </a:rPr>
              <a:t>DIA 5</a:t>
            </a:r>
          </a:p>
        </p:txBody>
      </p:sp>
      <p:pic>
        <p:nvPicPr>
          <p:cNvPr id="4" name="Imagem 3" descr="Uma imagem contendo Ícone&#10;&#10;Descrição gerada automaticamente">
            <a:extLst>
              <a:ext uri="{FF2B5EF4-FFF2-40B4-BE49-F238E27FC236}">
                <a16:creationId xmlns:a16="http://schemas.microsoft.com/office/drawing/2014/main" id="{641D44BC-02D7-AEDB-46CD-E3D2200C11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581" y="0"/>
            <a:ext cx="1763357" cy="1551034"/>
          </a:xfrm>
          <a:prstGeom prst="rect">
            <a:avLst/>
          </a:prstGeom>
        </p:spPr>
      </p:pic>
      <p:sp>
        <p:nvSpPr>
          <p:cNvPr id="5" name="Espaço Reservado para Rodapé 3">
            <a:extLst>
              <a:ext uri="{FF2B5EF4-FFF2-40B4-BE49-F238E27FC236}">
                <a16:creationId xmlns:a16="http://schemas.microsoft.com/office/drawing/2014/main" id="{C5A2621B-4CF4-D2B2-E1A2-87A866F6C2AD}"/>
              </a:ext>
            </a:extLst>
          </p:cNvPr>
          <p:cNvSpPr>
            <a:spLocks noGrp="1"/>
          </p:cNvSpPr>
          <p:nvPr>
            <p:ph type="ftr" sz="quarter" idx="11"/>
          </p:nvPr>
        </p:nvSpPr>
        <p:spPr>
          <a:xfrm>
            <a:off x="4038600" y="6356350"/>
            <a:ext cx="4114800" cy="365125"/>
          </a:xfrm>
        </p:spPr>
        <p:txBody>
          <a:bodyPr/>
          <a:lstStyle/>
          <a:p>
            <a:r>
              <a:rPr lang="pt-BR" dirty="0"/>
              <a:t>DBA </a:t>
            </a:r>
            <a:r>
              <a:rPr lang="pt-BR" dirty="0" err="1"/>
              <a:t>Assists</a:t>
            </a:r>
            <a:r>
              <a:rPr lang="pt-BR" dirty="0"/>
              <a:t> - Transformando Dados em Informação - www.dbaassists.com.br</a:t>
            </a:r>
          </a:p>
        </p:txBody>
      </p:sp>
    </p:spTree>
    <p:extLst>
      <p:ext uri="{BB962C8B-B14F-4D97-AF65-F5344CB8AC3E}">
        <p14:creationId xmlns:p14="http://schemas.microsoft.com/office/powerpoint/2010/main" val="2849548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4158F480-2B77-C8B1-943E-B55138657E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a:extLst>
              <a:ext uri="{FF2B5EF4-FFF2-40B4-BE49-F238E27FC236}">
                <a16:creationId xmlns:a16="http://schemas.microsoft.com/office/drawing/2014/main" id="{8A19FF47-FE0D-B7B4-B69B-041B5B40F464}"/>
              </a:ext>
            </a:extLst>
          </p:cNvPr>
          <p:cNvSpPr txBox="1"/>
          <p:nvPr/>
        </p:nvSpPr>
        <p:spPr>
          <a:xfrm>
            <a:off x="4700954" y="5935384"/>
            <a:ext cx="8001178" cy="1015663"/>
          </a:xfrm>
          <a:prstGeom prst="rect">
            <a:avLst/>
          </a:prstGeom>
          <a:noFill/>
        </p:spPr>
        <p:txBody>
          <a:bodyPr wrap="square" rtlCol="0">
            <a:spAutoFit/>
          </a:bodyPr>
          <a:lstStyle/>
          <a:p>
            <a:pPr algn="ctr"/>
            <a:r>
              <a:rPr lang="pt-BR" sz="6000" dirty="0">
                <a:solidFill>
                  <a:schemeClr val="bg1"/>
                </a:solidFill>
                <a:latin typeface="Impact" panose="020B0806030902050204" pitchFamily="34" charset="0"/>
              </a:rPr>
              <a:t>Modelagem de Dados</a:t>
            </a:r>
          </a:p>
        </p:txBody>
      </p:sp>
    </p:spTree>
    <p:extLst>
      <p:ext uri="{BB962C8B-B14F-4D97-AF65-F5344CB8AC3E}">
        <p14:creationId xmlns:p14="http://schemas.microsoft.com/office/powerpoint/2010/main" val="2293870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4" name="Retângulo 3">
            <a:extLst>
              <a:ext uri="{FF2B5EF4-FFF2-40B4-BE49-F238E27FC236}">
                <a16:creationId xmlns:a16="http://schemas.microsoft.com/office/drawing/2014/main" id="{EE391704-BAA5-17D6-1622-3508C4CAE682}"/>
              </a:ext>
            </a:extLst>
          </p:cNvPr>
          <p:cNvSpPr/>
          <p:nvPr/>
        </p:nvSpPr>
        <p:spPr>
          <a:xfrm>
            <a:off x="283228" y="2780930"/>
            <a:ext cx="11712277" cy="2432640"/>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sp>
        <p:nvSpPr>
          <p:cNvPr id="8" name="Retângulo 7">
            <a:extLst>
              <a:ext uri="{FF2B5EF4-FFF2-40B4-BE49-F238E27FC236}">
                <a16:creationId xmlns:a16="http://schemas.microsoft.com/office/drawing/2014/main" id="{6878EFD8-9CDF-ED5E-438A-202E4B7FD683}"/>
              </a:ext>
            </a:extLst>
          </p:cNvPr>
          <p:cNvSpPr/>
          <p:nvPr/>
        </p:nvSpPr>
        <p:spPr>
          <a:xfrm>
            <a:off x="5010329" y="3520887"/>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Impact" panose="020B0806030902050204" pitchFamily="34" charset="0"/>
              </a:rPr>
              <a:t>Lógico</a:t>
            </a:r>
          </a:p>
        </p:txBody>
      </p:sp>
      <p:sp>
        <p:nvSpPr>
          <p:cNvPr id="9" name="Retângulo 8">
            <a:extLst>
              <a:ext uri="{FF2B5EF4-FFF2-40B4-BE49-F238E27FC236}">
                <a16:creationId xmlns:a16="http://schemas.microsoft.com/office/drawing/2014/main" id="{681AB9F3-8297-179D-34EC-62C5AD714BCD}"/>
              </a:ext>
            </a:extLst>
          </p:cNvPr>
          <p:cNvSpPr/>
          <p:nvPr/>
        </p:nvSpPr>
        <p:spPr>
          <a:xfrm>
            <a:off x="1374184" y="3522502"/>
            <a:ext cx="1742400" cy="89838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Conceitual</a:t>
            </a:r>
          </a:p>
        </p:txBody>
      </p:sp>
      <p:sp>
        <p:nvSpPr>
          <p:cNvPr id="10" name="Retângulo 9">
            <a:extLst>
              <a:ext uri="{FF2B5EF4-FFF2-40B4-BE49-F238E27FC236}">
                <a16:creationId xmlns:a16="http://schemas.microsoft.com/office/drawing/2014/main" id="{DC4FBBD7-B954-0111-9543-8D8D24FBFAE8}"/>
              </a:ext>
            </a:extLst>
          </p:cNvPr>
          <p:cNvSpPr/>
          <p:nvPr/>
        </p:nvSpPr>
        <p:spPr>
          <a:xfrm>
            <a:off x="8648033" y="3526462"/>
            <a:ext cx="1742400"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Físico</a:t>
            </a:r>
          </a:p>
        </p:txBody>
      </p:sp>
      <p:cxnSp>
        <p:nvCxnSpPr>
          <p:cNvPr id="26" name="Conector de Seta Reta 25">
            <a:extLst>
              <a:ext uri="{FF2B5EF4-FFF2-40B4-BE49-F238E27FC236}">
                <a16:creationId xmlns:a16="http://schemas.microsoft.com/office/drawing/2014/main" id="{EE1E1D9B-6E85-623C-83C8-C85E77E8D7CD}"/>
              </a:ext>
            </a:extLst>
          </p:cNvPr>
          <p:cNvCxnSpPr>
            <a:stCxn id="9" idx="3"/>
            <a:endCxn id="8" idx="1"/>
          </p:cNvCxnSpPr>
          <p:nvPr/>
        </p:nvCxnSpPr>
        <p:spPr>
          <a:xfrm flipV="1">
            <a:off x="3116584" y="3945627"/>
            <a:ext cx="1893745" cy="26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ED21395C-D776-E1D2-3ECC-E16C96DD12C3}"/>
              </a:ext>
            </a:extLst>
          </p:cNvPr>
          <p:cNvCxnSpPr>
            <a:stCxn id="8" idx="3"/>
            <a:endCxn id="10" idx="1"/>
          </p:cNvCxnSpPr>
          <p:nvPr/>
        </p:nvCxnSpPr>
        <p:spPr>
          <a:xfrm>
            <a:off x="6754288" y="3970887"/>
            <a:ext cx="1893745" cy="5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CaixaDeTexto 28">
            <a:extLst>
              <a:ext uri="{FF2B5EF4-FFF2-40B4-BE49-F238E27FC236}">
                <a16:creationId xmlns:a16="http://schemas.microsoft.com/office/drawing/2014/main" id="{080173E0-E470-DE76-6F3F-D111A872279D}"/>
              </a:ext>
            </a:extLst>
          </p:cNvPr>
          <p:cNvSpPr txBox="1"/>
          <p:nvPr/>
        </p:nvSpPr>
        <p:spPr>
          <a:xfrm>
            <a:off x="211661" y="1534270"/>
            <a:ext cx="10952603" cy="523220"/>
          </a:xfrm>
          <a:prstGeom prst="rect">
            <a:avLst/>
          </a:prstGeom>
          <a:noFill/>
        </p:spPr>
        <p:txBody>
          <a:bodyPr wrap="square" rtlCol="0">
            <a:spAutoFit/>
          </a:bodyPr>
          <a:lstStyle>
            <a:defPPr>
              <a:defRPr lang="pt-BR"/>
            </a:defPPr>
            <a:lvl1pPr>
              <a:defRPr sz="2800">
                <a:solidFill>
                  <a:schemeClr val="accent1"/>
                </a:solidFill>
                <a:latin typeface="Impact" panose="020B0806030902050204" pitchFamily="34" charset="0"/>
              </a:defRPr>
            </a:lvl1pPr>
          </a:lstStyle>
          <a:p>
            <a:r>
              <a:rPr lang="pt-BR" dirty="0">
                <a:solidFill>
                  <a:srgbClr val="007DA9"/>
                </a:solidFill>
              </a:rPr>
              <a:t>Tipos de Modelos:</a:t>
            </a:r>
          </a:p>
        </p:txBody>
      </p:sp>
      <p:sp>
        <p:nvSpPr>
          <p:cNvPr id="33" name="CaixaDeTexto 32">
            <a:extLst>
              <a:ext uri="{FF2B5EF4-FFF2-40B4-BE49-F238E27FC236}">
                <a16:creationId xmlns:a16="http://schemas.microsoft.com/office/drawing/2014/main" id="{CA3ED69A-AC82-EEDC-5951-F4FA48C0FD0B}"/>
              </a:ext>
            </a:extLst>
          </p:cNvPr>
          <p:cNvSpPr txBox="1"/>
          <p:nvPr/>
        </p:nvSpPr>
        <p:spPr>
          <a:xfrm>
            <a:off x="905966" y="5446742"/>
            <a:ext cx="2678836" cy="523220"/>
          </a:xfrm>
          <a:prstGeom prst="rect">
            <a:avLst/>
          </a:prstGeom>
          <a:noFill/>
          <a:ln w="38100">
            <a:solidFill>
              <a:srgbClr val="007DA9"/>
            </a:solidFill>
          </a:ln>
        </p:spPr>
        <p:txBody>
          <a:bodyPr wrap="square">
            <a:spAutoFit/>
          </a:bodyPr>
          <a:lstStyle/>
          <a:p>
            <a:pPr algn="ctr"/>
            <a:r>
              <a:rPr lang="pt-BR" sz="1400" dirty="0">
                <a:latin typeface="Impact" panose="020B0806030902050204" pitchFamily="34" charset="0"/>
              </a:rPr>
              <a:t>Etapa de entender as entidades lógicas e suas dependências.</a:t>
            </a:r>
          </a:p>
        </p:txBody>
      </p:sp>
      <p:sp>
        <p:nvSpPr>
          <p:cNvPr id="34" name="CaixaDeTexto 33">
            <a:extLst>
              <a:ext uri="{FF2B5EF4-FFF2-40B4-BE49-F238E27FC236}">
                <a16:creationId xmlns:a16="http://schemas.microsoft.com/office/drawing/2014/main" id="{C376877B-2752-BB80-1A3C-D60EB04112FB}"/>
              </a:ext>
            </a:extLst>
          </p:cNvPr>
          <p:cNvSpPr txBox="1"/>
          <p:nvPr/>
        </p:nvSpPr>
        <p:spPr>
          <a:xfrm>
            <a:off x="1718051" y="6363229"/>
            <a:ext cx="1054666" cy="307777"/>
          </a:xfrm>
          <a:prstGeom prst="rect">
            <a:avLst/>
          </a:prstGeom>
          <a:noFill/>
          <a:ln w="38100">
            <a:solidFill>
              <a:srgbClr val="007DA9"/>
            </a:solidFill>
          </a:ln>
        </p:spPr>
        <p:txBody>
          <a:bodyPr wrap="square">
            <a:spAutoFit/>
          </a:bodyPr>
          <a:lstStyle/>
          <a:p>
            <a:pPr algn="ctr"/>
            <a:r>
              <a:rPr lang="pt-BR" sz="1400" dirty="0">
                <a:latin typeface="Impact" panose="020B0806030902050204" pitchFamily="34" charset="0"/>
              </a:rPr>
              <a:t>DER</a:t>
            </a:r>
          </a:p>
        </p:txBody>
      </p:sp>
      <p:cxnSp>
        <p:nvCxnSpPr>
          <p:cNvPr id="36" name="Conector de Seta Reta 35">
            <a:extLst>
              <a:ext uri="{FF2B5EF4-FFF2-40B4-BE49-F238E27FC236}">
                <a16:creationId xmlns:a16="http://schemas.microsoft.com/office/drawing/2014/main" id="{11F9DF7C-7828-F0FD-5EDF-38EA82B78A14}"/>
              </a:ext>
            </a:extLst>
          </p:cNvPr>
          <p:cNvCxnSpPr>
            <a:stCxn id="9" idx="2"/>
            <a:endCxn id="33" idx="0"/>
          </p:cNvCxnSpPr>
          <p:nvPr/>
        </p:nvCxnSpPr>
        <p:spPr>
          <a:xfrm>
            <a:off x="2245384" y="4420887"/>
            <a:ext cx="0" cy="1025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ector de Seta Reta 37">
            <a:extLst>
              <a:ext uri="{FF2B5EF4-FFF2-40B4-BE49-F238E27FC236}">
                <a16:creationId xmlns:a16="http://schemas.microsoft.com/office/drawing/2014/main" id="{CB532538-3619-6FCE-38BA-EEAADD2C7B67}"/>
              </a:ext>
            </a:extLst>
          </p:cNvPr>
          <p:cNvCxnSpPr>
            <a:stCxn id="33" idx="2"/>
            <a:endCxn id="34" idx="0"/>
          </p:cNvCxnSpPr>
          <p:nvPr/>
        </p:nvCxnSpPr>
        <p:spPr>
          <a:xfrm>
            <a:off x="2245384" y="5969962"/>
            <a:ext cx="0" cy="393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CaixaDeTexto 39">
            <a:extLst>
              <a:ext uri="{FF2B5EF4-FFF2-40B4-BE49-F238E27FC236}">
                <a16:creationId xmlns:a16="http://schemas.microsoft.com/office/drawing/2014/main" id="{83CB5EE2-5227-BD15-6CC1-53F37D97DCD6}"/>
              </a:ext>
            </a:extLst>
          </p:cNvPr>
          <p:cNvSpPr txBox="1"/>
          <p:nvPr/>
        </p:nvSpPr>
        <p:spPr>
          <a:xfrm>
            <a:off x="4246116" y="1603452"/>
            <a:ext cx="3282148" cy="954107"/>
          </a:xfrm>
          <a:prstGeom prst="rect">
            <a:avLst/>
          </a:prstGeom>
          <a:noFill/>
          <a:ln w="38100">
            <a:solidFill>
              <a:srgbClr val="007DA9"/>
            </a:solidFill>
          </a:ln>
        </p:spPr>
        <p:txBody>
          <a:bodyPr wrap="square">
            <a:spAutoFit/>
          </a:bodyPr>
          <a:lstStyle/>
          <a:p>
            <a:r>
              <a:rPr lang="pt-BR" sz="1400" dirty="0">
                <a:latin typeface="Impact" panose="020B0806030902050204" pitchFamily="34" charset="0"/>
              </a:rPr>
              <a:t>Descreve a estrutura lógica dos dados, como tabelas, relacionamentos e chaves.</a:t>
            </a:r>
          </a:p>
          <a:p>
            <a:r>
              <a:rPr lang="pt-BR" sz="1400" dirty="0">
                <a:latin typeface="Impact" panose="020B0806030902050204" pitchFamily="34" charset="0"/>
              </a:rPr>
              <a:t>É independente de qualquer tecnologia de banco de dados específica.</a:t>
            </a:r>
          </a:p>
        </p:txBody>
      </p:sp>
      <p:cxnSp>
        <p:nvCxnSpPr>
          <p:cNvPr id="42" name="Conector de Seta Reta 41">
            <a:extLst>
              <a:ext uri="{FF2B5EF4-FFF2-40B4-BE49-F238E27FC236}">
                <a16:creationId xmlns:a16="http://schemas.microsoft.com/office/drawing/2014/main" id="{AE6F9CF9-0DC5-7D2E-85FC-2F51EDD835FF}"/>
              </a:ext>
            </a:extLst>
          </p:cNvPr>
          <p:cNvCxnSpPr>
            <a:endCxn id="40" idx="2"/>
          </p:cNvCxnSpPr>
          <p:nvPr/>
        </p:nvCxnSpPr>
        <p:spPr>
          <a:xfrm flipH="1" flipV="1">
            <a:off x="5887190" y="2557559"/>
            <a:ext cx="16460" cy="963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CaixaDeTexto 43">
            <a:extLst>
              <a:ext uri="{FF2B5EF4-FFF2-40B4-BE49-F238E27FC236}">
                <a16:creationId xmlns:a16="http://schemas.microsoft.com/office/drawing/2014/main" id="{458E0EED-D013-38FF-AD02-B3EC46CDD2CC}"/>
              </a:ext>
            </a:extLst>
          </p:cNvPr>
          <p:cNvSpPr txBox="1"/>
          <p:nvPr/>
        </p:nvSpPr>
        <p:spPr>
          <a:xfrm>
            <a:off x="3508900" y="6246000"/>
            <a:ext cx="3477826" cy="523220"/>
          </a:xfrm>
          <a:prstGeom prst="rect">
            <a:avLst/>
          </a:prstGeom>
          <a:noFill/>
          <a:ln w="38100">
            <a:solidFill>
              <a:srgbClr val="007DA9"/>
            </a:solidFill>
          </a:ln>
        </p:spPr>
        <p:txBody>
          <a:bodyPr wrap="square">
            <a:spAutoFit/>
          </a:bodyPr>
          <a:lstStyle/>
          <a:p>
            <a:r>
              <a:rPr lang="pt-BR" sz="1400" dirty="0">
                <a:latin typeface="Impact" panose="020B0806030902050204" pitchFamily="34" charset="0"/>
              </a:rPr>
              <a:t>Ele representa as entidades (objetos do mundo real) e os relacionamentos entre elas</a:t>
            </a:r>
          </a:p>
        </p:txBody>
      </p:sp>
      <p:cxnSp>
        <p:nvCxnSpPr>
          <p:cNvPr id="46" name="Conector de Seta Reta 45">
            <a:extLst>
              <a:ext uri="{FF2B5EF4-FFF2-40B4-BE49-F238E27FC236}">
                <a16:creationId xmlns:a16="http://schemas.microsoft.com/office/drawing/2014/main" id="{5E5102AB-7AD1-1BD7-2BC2-8F151F7C9856}"/>
              </a:ext>
            </a:extLst>
          </p:cNvPr>
          <p:cNvCxnSpPr>
            <a:stCxn id="34" idx="3"/>
            <a:endCxn id="44" idx="1"/>
          </p:cNvCxnSpPr>
          <p:nvPr/>
        </p:nvCxnSpPr>
        <p:spPr>
          <a:xfrm flipV="1">
            <a:off x="2772717" y="6507610"/>
            <a:ext cx="736183" cy="9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CaixaDeTexto 47">
            <a:extLst>
              <a:ext uri="{FF2B5EF4-FFF2-40B4-BE49-F238E27FC236}">
                <a16:creationId xmlns:a16="http://schemas.microsoft.com/office/drawing/2014/main" id="{A4F8495E-6533-3FF3-BE41-6D86EFAADBBF}"/>
              </a:ext>
            </a:extLst>
          </p:cNvPr>
          <p:cNvSpPr txBox="1"/>
          <p:nvPr/>
        </p:nvSpPr>
        <p:spPr>
          <a:xfrm>
            <a:off x="8000966" y="5815113"/>
            <a:ext cx="3036533" cy="954107"/>
          </a:xfrm>
          <a:prstGeom prst="rect">
            <a:avLst/>
          </a:prstGeom>
          <a:noFill/>
          <a:ln w="38100">
            <a:solidFill>
              <a:srgbClr val="007DA9"/>
            </a:solidFill>
          </a:ln>
        </p:spPr>
        <p:txBody>
          <a:bodyPr wrap="square">
            <a:spAutoFit/>
          </a:bodyPr>
          <a:lstStyle/>
          <a:p>
            <a:r>
              <a:rPr lang="pt-BR" sz="1400" dirty="0">
                <a:latin typeface="Impact" panose="020B0806030902050204" pitchFamily="34" charset="0"/>
              </a:rPr>
              <a:t>Representa a implementação real dos dados no banco de dados.</a:t>
            </a:r>
          </a:p>
          <a:p>
            <a:r>
              <a:rPr lang="pt-BR" sz="1400" dirty="0">
                <a:latin typeface="Impact" panose="020B0806030902050204" pitchFamily="34" charset="0"/>
              </a:rPr>
              <a:t>Inclui detalhes como índices, partições e otimizações.</a:t>
            </a:r>
          </a:p>
        </p:txBody>
      </p:sp>
      <p:cxnSp>
        <p:nvCxnSpPr>
          <p:cNvPr id="50" name="Conector de Seta Reta 49">
            <a:extLst>
              <a:ext uri="{FF2B5EF4-FFF2-40B4-BE49-F238E27FC236}">
                <a16:creationId xmlns:a16="http://schemas.microsoft.com/office/drawing/2014/main" id="{4C72B6AE-C68D-D883-C265-F8E93ED04C31}"/>
              </a:ext>
            </a:extLst>
          </p:cNvPr>
          <p:cNvCxnSpPr>
            <a:stCxn id="10" idx="2"/>
            <a:endCxn id="48" idx="0"/>
          </p:cNvCxnSpPr>
          <p:nvPr/>
        </p:nvCxnSpPr>
        <p:spPr>
          <a:xfrm>
            <a:off x="9519233" y="4426462"/>
            <a:ext cx="0" cy="1388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1010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40" grpId="0" animBg="1"/>
      <p:bldP spid="44" grpId="0" animBg="1"/>
      <p:bldP spid="4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3ABEE-57A8-0CAA-BDD6-79627B69CE2C}"/>
            </a:ext>
          </a:extLst>
        </p:cNvPr>
        <p:cNvGrpSpPr/>
        <p:nvPr/>
      </p:nvGrpSpPr>
      <p:grpSpPr>
        <a:xfrm>
          <a:off x="0" y="0"/>
          <a:ext cx="0" cy="0"/>
          <a:chOff x="0" y="0"/>
          <a:chExt cx="0" cy="0"/>
        </a:xfrm>
      </p:grpSpPr>
      <p:sp>
        <p:nvSpPr>
          <p:cNvPr id="11" name="Retângulo 10">
            <a:extLst>
              <a:ext uri="{FF2B5EF4-FFF2-40B4-BE49-F238E27FC236}">
                <a16:creationId xmlns:a16="http://schemas.microsoft.com/office/drawing/2014/main" id="{AD229885-27AC-9F67-D7D8-E4FC8369C890}"/>
              </a:ext>
            </a:extLst>
          </p:cNvPr>
          <p:cNvSpPr/>
          <p:nvPr/>
        </p:nvSpPr>
        <p:spPr>
          <a:xfrm>
            <a:off x="268062" y="1608520"/>
            <a:ext cx="11712277" cy="4490441"/>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sp>
        <p:nvSpPr>
          <p:cNvPr id="2" name="CaixaDeTexto 1">
            <a:extLst>
              <a:ext uri="{FF2B5EF4-FFF2-40B4-BE49-F238E27FC236}">
                <a16:creationId xmlns:a16="http://schemas.microsoft.com/office/drawing/2014/main" id="{A8815CA1-95E6-B760-FDF5-E059BF2E03E7}"/>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5" name="Espaço Reservado para Rodapé 3">
            <a:extLst>
              <a:ext uri="{FF2B5EF4-FFF2-40B4-BE49-F238E27FC236}">
                <a16:creationId xmlns:a16="http://schemas.microsoft.com/office/drawing/2014/main" id="{9F4AA984-977C-FDA2-451B-5004CC3B4354}"/>
              </a:ext>
            </a:extLst>
          </p:cNvPr>
          <p:cNvSpPr>
            <a:spLocks noGrp="1"/>
          </p:cNvSpPr>
          <p:nvPr>
            <p:ph type="ftr" sz="quarter" idx="11"/>
          </p:nvPr>
        </p:nvSpPr>
        <p:spPr>
          <a:xfrm>
            <a:off x="4038600" y="6356350"/>
            <a:ext cx="4114800" cy="365125"/>
          </a:xfrm>
        </p:spPr>
        <p:txBody>
          <a:bodyPr/>
          <a:lstStyle/>
          <a:p>
            <a:r>
              <a:rPr lang="pt-BR" dirty="0"/>
              <a:t>DBA </a:t>
            </a:r>
            <a:r>
              <a:rPr lang="pt-BR" dirty="0" err="1"/>
              <a:t>Assists</a:t>
            </a:r>
            <a:r>
              <a:rPr lang="pt-BR" dirty="0"/>
              <a:t> - Transformando Dados em Informação - www.dbaassists.com.br</a:t>
            </a:r>
          </a:p>
        </p:txBody>
      </p:sp>
      <p:sp>
        <p:nvSpPr>
          <p:cNvPr id="7" name="sketchy line">
            <a:extLst>
              <a:ext uri="{FF2B5EF4-FFF2-40B4-BE49-F238E27FC236}">
                <a16:creationId xmlns:a16="http://schemas.microsoft.com/office/drawing/2014/main" id="{2EB43AE7-9113-FD59-28C8-56843192E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8" name="Imagem 7" descr="Placa azul com letras brancas em fundo preto&#10;&#10;Descrição gerada automaticamente com confiança média">
            <a:extLst>
              <a:ext uri="{FF2B5EF4-FFF2-40B4-BE49-F238E27FC236}">
                <a16:creationId xmlns:a16="http://schemas.microsoft.com/office/drawing/2014/main" id="{BDA5541C-B414-41A4-2420-A8D9966434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4" name="Retângulo 3">
            <a:extLst>
              <a:ext uri="{FF2B5EF4-FFF2-40B4-BE49-F238E27FC236}">
                <a16:creationId xmlns:a16="http://schemas.microsoft.com/office/drawing/2014/main" id="{1188EAF3-D95D-37AF-7862-C2AC3A66945A}"/>
              </a:ext>
            </a:extLst>
          </p:cNvPr>
          <p:cNvSpPr/>
          <p:nvPr/>
        </p:nvSpPr>
        <p:spPr>
          <a:xfrm>
            <a:off x="4995163" y="3429000"/>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Impact" panose="020B0806030902050204" pitchFamily="34" charset="0"/>
              </a:rPr>
              <a:t>Modelagem de Dados</a:t>
            </a:r>
          </a:p>
        </p:txBody>
      </p:sp>
      <p:sp>
        <p:nvSpPr>
          <p:cNvPr id="6" name="Retângulo 5">
            <a:extLst>
              <a:ext uri="{FF2B5EF4-FFF2-40B4-BE49-F238E27FC236}">
                <a16:creationId xmlns:a16="http://schemas.microsoft.com/office/drawing/2014/main" id="{4162C3D0-F309-F07B-08D7-7DBFA7A1F202}"/>
              </a:ext>
            </a:extLst>
          </p:cNvPr>
          <p:cNvSpPr/>
          <p:nvPr/>
        </p:nvSpPr>
        <p:spPr>
          <a:xfrm>
            <a:off x="487818" y="2292690"/>
            <a:ext cx="1742400" cy="89838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Relacional</a:t>
            </a:r>
          </a:p>
        </p:txBody>
      </p:sp>
      <p:sp>
        <p:nvSpPr>
          <p:cNvPr id="9" name="Retângulo 8">
            <a:extLst>
              <a:ext uri="{FF2B5EF4-FFF2-40B4-BE49-F238E27FC236}">
                <a16:creationId xmlns:a16="http://schemas.microsoft.com/office/drawing/2014/main" id="{2342B617-0F32-91B4-9E0A-0DA771EEFC1C}"/>
              </a:ext>
            </a:extLst>
          </p:cNvPr>
          <p:cNvSpPr/>
          <p:nvPr/>
        </p:nvSpPr>
        <p:spPr>
          <a:xfrm>
            <a:off x="487818" y="4575511"/>
            <a:ext cx="1742400"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Multidimensional</a:t>
            </a:r>
          </a:p>
        </p:txBody>
      </p:sp>
      <p:sp>
        <p:nvSpPr>
          <p:cNvPr id="12" name="Losango 11">
            <a:extLst>
              <a:ext uri="{FF2B5EF4-FFF2-40B4-BE49-F238E27FC236}">
                <a16:creationId xmlns:a16="http://schemas.microsoft.com/office/drawing/2014/main" id="{022FC22B-C91B-B803-8FD2-2BD21D4803E8}"/>
              </a:ext>
            </a:extLst>
          </p:cNvPr>
          <p:cNvSpPr/>
          <p:nvPr/>
        </p:nvSpPr>
        <p:spPr>
          <a:xfrm>
            <a:off x="2816344" y="3365592"/>
            <a:ext cx="1291472" cy="1039305"/>
          </a:xfrm>
          <a:prstGeom prst="diamond">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Impact" panose="020B0806030902050204" pitchFamily="34" charset="0"/>
            </a:endParaRPr>
          </a:p>
        </p:txBody>
      </p:sp>
      <p:cxnSp>
        <p:nvCxnSpPr>
          <p:cNvPr id="13" name="Conector de Seta Reta 12">
            <a:extLst>
              <a:ext uri="{FF2B5EF4-FFF2-40B4-BE49-F238E27FC236}">
                <a16:creationId xmlns:a16="http://schemas.microsoft.com/office/drawing/2014/main" id="{BC6F4B5D-F2F1-D68B-E3C0-1A71DEA38062}"/>
              </a:ext>
            </a:extLst>
          </p:cNvPr>
          <p:cNvCxnSpPr>
            <a:cxnSpLocks/>
            <a:stCxn id="4" idx="3"/>
            <a:endCxn id="12" idx="3"/>
          </p:cNvCxnSpPr>
          <p:nvPr/>
        </p:nvCxnSpPr>
        <p:spPr>
          <a:xfrm flipH="1">
            <a:off x="4107816" y="3879000"/>
            <a:ext cx="2631306" cy="6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ector: Angulado 30">
            <a:extLst>
              <a:ext uri="{FF2B5EF4-FFF2-40B4-BE49-F238E27FC236}">
                <a16:creationId xmlns:a16="http://schemas.microsoft.com/office/drawing/2014/main" id="{5D234030-97DE-A1FD-6177-557CE7205432}"/>
              </a:ext>
            </a:extLst>
          </p:cNvPr>
          <p:cNvCxnSpPr>
            <a:stCxn id="12" idx="0"/>
            <a:endCxn id="6" idx="3"/>
          </p:cNvCxnSpPr>
          <p:nvPr/>
        </p:nvCxnSpPr>
        <p:spPr>
          <a:xfrm rot="16200000" flipV="1">
            <a:off x="2534295" y="2437807"/>
            <a:ext cx="623709" cy="12318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ector: Angulado 32">
            <a:extLst>
              <a:ext uri="{FF2B5EF4-FFF2-40B4-BE49-F238E27FC236}">
                <a16:creationId xmlns:a16="http://schemas.microsoft.com/office/drawing/2014/main" id="{CF562548-8BDD-ECCC-0E63-99062B84F140}"/>
              </a:ext>
            </a:extLst>
          </p:cNvPr>
          <p:cNvCxnSpPr>
            <a:stCxn id="12" idx="2"/>
            <a:endCxn id="9" idx="3"/>
          </p:cNvCxnSpPr>
          <p:nvPr/>
        </p:nvCxnSpPr>
        <p:spPr>
          <a:xfrm rot="5400000">
            <a:off x="2535842" y="4099273"/>
            <a:ext cx="620614" cy="12318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Losango 33">
            <a:extLst>
              <a:ext uri="{FF2B5EF4-FFF2-40B4-BE49-F238E27FC236}">
                <a16:creationId xmlns:a16="http://schemas.microsoft.com/office/drawing/2014/main" id="{033008F8-616E-D645-ABB2-06B74DE6B519}"/>
              </a:ext>
            </a:extLst>
          </p:cNvPr>
          <p:cNvSpPr/>
          <p:nvPr/>
        </p:nvSpPr>
        <p:spPr>
          <a:xfrm>
            <a:off x="7626469" y="3365592"/>
            <a:ext cx="1291472" cy="1039305"/>
          </a:xfrm>
          <a:prstGeom prst="diamond">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Impact" panose="020B0806030902050204" pitchFamily="34" charset="0"/>
            </a:endParaRPr>
          </a:p>
        </p:txBody>
      </p:sp>
      <p:cxnSp>
        <p:nvCxnSpPr>
          <p:cNvPr id="36" name="Conector de Seta Reta 35">
            <a:extLst>
              <a:ext uri="{FF2B5EF4-FFF2-40B4-BE49-F238E27FC236}">
                <a16:creationId xmlns:a16="http://schemas.microsoft.com/office/drawing/2014/main" id="{48F41094-2C85-199E-F3CD-C895CA790A69}"/>
              </a:ext>
            </a:extLst>
          </p:cNvPr>
          <p:cNvCxnSpPr>
            <a:stCxn id="4" idx="3"/>
            <a:endCxn id="34" idx="1"/>
          </p:cNvCxnSpPr>
          <p:nvPr/>
        </p:nvCxnSpPr>
        <p:spPr>
          <a:xfrm>
            <a:off x="6739122" y="3879000"/>
            <a:ext cx="887347" cy="6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tângulo 36">
            <a:extLst>
              <a:ext uri="{FF2B5EF4-FFF2-40B4-BE49-F238E27FC236}">
                <a16:creationId xmlns:a16="http://schemas.microsoft.com/office/drawing/2014/main" id="{54F239BD-27F2-F0C3-5000-15B1C09FC1C3}"/>
              </a:ext>
            </a:extLst>
          </p:cNvPr>
          <p:cNvSpPr/>
          <p:nvPr/>
        </p:nvSpPr>
        <p:spPr>
          <a:xfrm>
            <a:off x="9705167" y="2292691"/>
            <a:ext cx="1742400" cy="89838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Normalização</a:t>
            </a:r>
          </a:p>
          <a:p>
            <a:pPr algn="ctr"/>
            <a:r>
              <a:rPr lang="pt-BR" sz="1600" dirty="0">
                <a:latin typeface="Impact" panose="020B0806030902050204" pitchFamily="34" charset="0"/>
              </a:rPr>
              <a:t>(Formas Normais)</a:t>
            </a:r>
          </a:p>
        </p:txBody>
      </p:sp>
      <p:sp>
        <p:nvSpPr>
          <p:cNvPr id="38" name="Retângulo 37">
            <a:extLst>
              <a:ext uri="{FF2B5EF4-FFF2-40B4-BE49-F238E27FC236}">
                <a16:creationId xmlns:a16="http://schemas.microsoft.com/office/drawing/2014/main" id="{DA8BACDE-4C11-D9FD-443E-1F0A8B3FBD15}"/>
              </a:ext>
            </a:extLst>
          </p:cNvPr>
          <p:cNvSpPr/>
          <p:nvPr/>
        </p:nvSpPr>
        <p:spPr>
          <a:xfrm>
            <a:off x="9705167" y="3434101"/>
            <a:ext cx="1742400" cy="89838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Cardinalidade</a:t>
            </a:r>
          </a:p>
        </p:txBody>
      </p:sp>
      <p:sp>
        <p:nvSpPr>
          <p:cNvPr id="39" name="Retângulo 38">
            <a:extLst>
              <a:ext uri="{FF2B5EF4-FFF2-40B4-BE49-F238E27FC236}">
                <a16:creationId xmlns:a16="http://schemas.microsoft.com/office/drawing/2014/main" id="{F1D0E186-73F5-19F2-DADB-89A7779CA4FE}"/>
              </a:ext>
            </a:extLst>
          </p:cNvPr>
          <p:cNvSpPr/>
          <p:nvPr/>
        </p:nvSpPr>
        <p:spPr>
          <a:xfrm>
            <a:off x="9705167" y="4575511"/>
            <a:ext cx="1742400" cy="89838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Tipos de Modelos</a:t>
            </a:r>
          </a:p>
        </p:txBody>
      </p:sp>
      <p:cxnSp>
        <p:nvCxnSpPr>
          <p:cNvPr id="42" name="Conector de Seta Reta 41">
            <a:extLst>
              <a:ext uri="{FF2B5EF4-FFF2-40B4-BE49-F238E27FC236}">
                <a16:creationId xmlns:a16="http://schemas.microsoft.com/office/drawing/2014/main" id="{7FF4EE0D-F478-4DEC-27E8-38CC2333F1DF}"/>
              </a:ext>
            </a:extLst>
          </p:cNvPr>
          <p:cNvCxnSpPr>
            <a:stCxn id="34" idx="3"/>
            <a:endCxn id="38" idx="1"/>
          </p:cNvCxnSpPr>
          <p:nvPr/>
        </p:nvCxnSpPr>
        <p:spPr>
          <a:xfrm flipV="1">
            <a:off x="8917941" y="3883294"/>
            <a:ext cx="787226" cy="1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Angulado 43">
            <a:extLst>
              <a:ext uri="{FF2B5EF4-FFF2-40B4-BE49-F238E27FC236}">
                <a16:creationId xmlns:a16="http://schemas.microsoft.com/office/drawing/2014/main" id="{9E6691FC-4DAE-3807-71EB-A0341B65DD05}"/>
              </a:ext>
            </a:extLst>
          </p:cNvPr>
          <p:cNvCxnSpPr>
            <a:stCxn id="34" idx="0"/>
            <a:endCxn id="37" idx="1"/>
          </p:cNvCxnSpPr>
          <p:nvPr/>
        </p:nvCxnSpPr>
        <p:spPr>
          <a:xfrm rot="5400000" flipH="1" flipV="1">
            <a:off x="8676832" y="2337257"/>
            <a:ext cx="623708" cy="14329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Angulado 45">
            <a:extLst>
              <a:ext uri="{FF2B5EF4-FFF2-40B4-BE49-F238E27FC236}">
                <a16:creationId xmlns:a16="http://schemas.microsoft.com/office/drawing/2014/main" id="{8E16390B-FCDC-5DE1-F348-FC430B440A27}"/>
              </a:ext>
            </a:extLst>
          </p:cNvPr>
          <p:cNvCxnSpPr>
            <a:stCxn id="34" idx="2"/>
            <a:endCxn id="39" idx="1"/>
          </p:cNvCxnSpPr>
          <p:nvPr/>
        </p:nvCxnSpPr>
        <p:spPr>
          <a:xfrm rot="16200000" flipH="1">
            <a:off x="8678783" y="3998319"/>
            <a:ext cx="619807" cy="14329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003132F3-B82D-C1C5-F431-3199DF8E3F7A}"/>
              </a:ext>
            </a:extLst>
          </p:cNvPr>
          <p:cNvSpPr txBox="1"/>
          <p:nvPr/>
        </p:nvSpPr>
        <p:spPr>
          <a:xfrm>
            <a:off x="2937243" y="3696110"/>
            <a:ext cx="1122359" cy="369332"/>
          </a:xfrm>
          <a:prstGeom prst="rect">
            <a:avLst/>
          </a:prstGeom>
          <a:noFill/>
        </p:spPr>
        <p:txBody>
          <a:bodyPr wrap="none" rtlCol="0">
            <a:spAutoFit/>
          </a:bodyPr>
          <a:lstStyle/>
          <a:p>
            <a:r>
              <a:rPr lang="pt-BR" dirty="0">
                <a:solidFill>
                  <a:schemeClr val="bg1"/>
                </a:solidFill>
                <a:latin typeface="Impact" panose="020B0806030902050204" pitchFamily="34" charset="0"/>
              </a:rPr>
              <a:t>Pode ser...</a:t>
            </a:r>
          </a:p>
        </p:txBody>
      </p:sp>
      <p:sp>
        <p:nvSpPr>
          <p:cNvPr id="10" name="CaixaDeTexto 9">
            <a:extLst>
              <a:ext uri="{FF2B5EF4-FFF2-40B4-BE49-F238E27FC236}">
                <a16:creationId xmlns:a16="http://schemas.microsoft.com/office/drawing/2014/main" id="{E4E381F3-7636-6E57-30B7-B6DC3F4546F5}"/>
              </a:ext>
            </a:extLst>
          </p:cNvPr>
          <p:cNvSpPr txBox="1"/>
          <p:nvPr/>
        </p:nvSpPr>
        <p:spPr>
          <a:xfrm>
            <a:off x="7655628" y="3718865"/>
            <a:ext cx="1311578" cy="307777"/>
          </a:xfrm>
          <a:prstGeom prst="rect">
            <a:avLst/>
          </a:prstGeom>
          <a:noFill/>
        </p:spPr>
        <p:txBody>
          <a:bodyPr wrap="none" rtlCol="0">
            <a:spAutoFit/>
          </a:bodyPr>
          <a:lstStyle/>
          <a:p>
            <a:r>
              <a:rPr lang="pt-BR" sz="1400" dirty="0">
                <a:solidFill>
                  <a:schemeClr val="bg1"/>
                </a:solidFill>
                <a:latin typeface="Impact" panose="020B0806030902050204" pitchFamily="34" charset="0"/>
              </a:rPr>
              <a:t>Pensamos em...</a:t>
            </a:r>
          </a:p>
        </p:txBody>
      </p:sp>
    </p:spTree>
    <p:extLst>
      <p:ext uri="{BB962C8B-B14F-4D97-AF65-F5344CB8AC3E}">
        <p14:creationId xmlns:p14="http://schemas.microsoft.com/office/powerpoint/2010/main" val="1183093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4038600" y="6517118"/>
            <a:ext cx="4114800" cy="365125"/>
          </a:xfrm>
        </p:spPr>
        <p:txBody>
          <a:bodyPr/>
          <a:lstStyle/>
          <a:p>
            <a:r>
              <a:rPr lang="pt-BR" dirty="0"/>
              <a:t>DBA </a:t>
            </a:r>
            <a:r>
              <a:rPr lang="pt-BR" dirty="0" err="1"/>
              <a:t>Assists</a:t>
            </a:r>
            <a:r>
              <a:rPr lang="pt-BR" dirty="0"/>
              <a:t> - Transformando Dados em Informação - www.dbaassists.com.br</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2" name="CaixaDeTexto 1">
            <a:extLst>
              <a:ext uri="{FF2B5EF4-FFF2-40B4-BE49-F238E27FC236}">
                <a16:creationId xmlns:a16="http://schemas.microsoft.com/office/drawing/2014/main" id="{44A770A0-5C61-D3E1-3269-3AF6C99B404A}"/>
              </a:ext>
            </a:extLst>
          </p:cNvPr>
          <p:cNvSpPr txBox="1"/>
          <p:nvPr/>
        </p:nvSpPr>
        <p:spPr>
          <a:xfrm>
            <a:off x="563122" y="2271102"/>
            <a:ext cx="10952603" cy="2246769"/>
          </a:xfrm>
          <a:prstGeom prst="rect">
            <a:avLst/>
          </a:prstGeom>
          <a:noFill/>
        </p:spPr>
        <p:txBody>
          <a:bodyPr wrap="square" rtlCol="0">
            <a:spAutoFit/>
          </a:bodyPr>
          <a:lstStyle>
            <a:defPPr>
              <a:defRPr lang="pt-BR"/>
            </a:defPPr>
            <a:lvl1pPr>
              <a:defRPr sz="2800">
                <a:solidFill>
                  <a:schemeClr val="accent1"/>
                </a:solidFill>
                <a:latin typeface="Impact" panose="020B0806030902050204" pitchFamily="34" charset="0"/>
              </a:defRPr>
            </a:lvl1pPr>
          </a:lstStyle>
          <a:p>
            <a:r>
              <a:rPr lang="pt-BR" dirty="0">
                <a:solidFill>
                  <a:srgbClr val="007DA9"/>
                </a:solidFill>
              </a:rPr>
              <a:t>Objetivo do Modelo de Dados:</a:t>
            </a:r>
          </a:p>
          <a:p>
            <a:endParaRPr lang="pt-BR" dirty="0">
              <a:solidFill>
                <a:srgbClr val="007DA9"/>
              </a:solidFill>
            </a:endParaRPr>
          </a:p>
          <a:p>
            <a:r>
              <a:rPr lang="pt-BR" dirty="0">
                <a:solidFill>
                  <a:srgbClr val="007DA9"/>
                </a:solidFill>
              </a:rPr>
              <a:t>A modelagem de dados tem sido basicamente, aplicada como um meio para obtenção de estruturas de dados que nos levem ao projeto de banco de dados!</a:t>
            </a:r>
          </a:p>
        </p:txBody>
      </p:sp>
    </p:spTree>
    <p:extLst>
      <p:ext uri="{BB962C8B-B14F-4D97-AF65-F5344CB8AC3E}">
        <p14:creationId xmlns:p14="http://schemas.microsoft.com/office/powerpoint/2010/main" val="2160756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sp>
        <p:nvSpPr>
          <p:cNvPr id="33" name="Retângulo 32">
            <a:extLst>
              <a:ext uri="{FF2B5EF4-FFF2-40B4-BE49-F238E27FC236}">
                <a16:creationId xmlns:a16="http://schemas.microsoft.com/office/drawing/2014/main" id="{77D7CFC6-19CF-87A1-5CCC-2E2052F4D001}"/>
              </a:ext>
            </a:extLst>
          </p:cNvPr>
          <p:cNvSpPr/>
          <p:nvPr/>
        </p:nvSpPr>
        <p:spPr>
          <a:xfrm>
            <a:off x="112617" y="1759398"/>
            <a:ext cx="11978769" cy="4028843"/>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4038600" y="6517118"/>
            <a:ext cx="4114800" cy="365125"/>
          </a:xfrm>
        </p:spPr>
        <p:txBody>
          <a:bodyPr/>
          <a:lstStyle/>
          <a:p>
            <a:r>
              <a:rPr lang="pt-BR" dirty="0"/>
              <a:t>DBA </a:t>
            </a:r>
            <a:r>
              <a:rPr lang="pt-BR" dirty="0" err="1"/>
              <a:t>Assists</a:t>
            </a:r>
            <a:r>
              <a:rPr lang="pt-BR" dirty="0"/>
              <a:t> - Transformando Dados em Informação - www.dbaassists.com.br</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4" name="Retângulo 3">
            <a:extLst>
              <a:ext uri="{FF2B5EF4-FFF2-40B4-BE49-F238E27FC236}">
                <a16:creationId xmlns:a16="http://schemas.microsoft.com/office/drawing/2014/main" id="{602F1ACE-F747-A693-864F-68AADCCA6B0C}"/>
              </a:ext>
            </a:extLst>
          </p:cNvPr>
          <p:cNvSpPr/>
          <p:nvPr/>
        </p:nvSpPr>
        <p:spPr>
          <a:xfrm>
            <a:off x="218981" y="3473390"/>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Impact" panose="020B0806030902050204" pitchFamily="34" charset="0"/>
              </a:rPr>
              <a:t>Modelo de Dados</a:t>
            </a:r>
          </a:p>
        </p:txBody>
      </p:sp>
      <p:sp>
        <p:nvSpPr>
          <p:cNvPr id="8" name="Losango 7">
            <a:extLst>
              <a:ext uri="{FF2B5EF4-FFF2-40B4-BE49-F238E27FC236}">
                <a16:creationId xmlns:a16="http://schemas.microsoft.com/office/drawing/2014/main" id="{186EA178-883F-44AA-B67A-B363FCBFA279}"/>
              </a:ext>
            </a:extLst>
          </p:cNvPr>
          <p:cNvSpPr/>
          <p:nvPr/>
        </p:nvSpPr>
        <p:spPr>
          <a:xfrm>
            <a:off x="2850287" y="3409982"/>
            <a:ext cx="1291472" cy="1039305"/>
          </a:xfrm>
          <a:prstGeom prst="diamond">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Impact" panose="020B0806030902050204" pitchFamily="34" charset="0"/>
            </a:endParaRPr>
          </a:p>
        </p:txBody>
      </p:sp>
      <p:cxnSp>
        <p:nvCxnSpPr>
          <p:cNvPr id="9" name="Conector de Seta Reta 8">
            <a:extLst>
              <a:ext uri="{FF2B5EF4-FFF2-40B4-BE49-F238E27FC236}">
                <a16:creationId xmlns:a16="http://schemas.microsoft.com/office/drawing/2014/main" id="{B212EAB2-DC40-E236-5EB6-A1A10B5F4EDA}"/>
              </a:ext>
            </a:extLst>
          </p:cNvPr>
          <p:cNvCxnSpPr>
            <a:stCxn id="4" idx="3"/>
            <a:endCxn id="8" idx="1"/>
          </p:cNvCxnSpPr>
          <p:nvPr/>
        </p:nvCxnSpPr>
        <p:spPr>
          <a:xfrm>
            <a:off x="1962940" y="3923390"/>
            <a:ext cx="887347" cy="6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tângulo 9">
            <a:extLst>
              <a:ext uri="{FF2B5EF4-FFF2-40B4-BE49-F238E27FC236}">
                <a16:creationId xmlns:a16="http://schemas.microsoft.com/office/drawing/2014/main" id="{65E7851B-C40E-0E0F-AD65-DBD174C5B267}"/>
              </a:ext>
            </a:extLst>
          </p:cNvPr>
          <p:cNvSpPr/>
          <p:nvPr/>
        </p:nvSpPr>
        <p:spPr>
          <a:xfrm>
            <a:off x="4928985" y="2337081"/>
            <a:ext cx="1742400" cy="89838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Entidades</a:t>
            </a:r>
          </a:p>
        </p:txBody>
      </p:sp>
      <p:sp>
        <p:nvSpPr>
          <p:cNvPr id="11" name="Retângulo 10">
            <a:extLst>
              <a:ext uri="{FF2B5EF4-FFF2-40B4-BE49-F238E27FC236}">
                <a16:creationId xmlns:a16="http://schemas.microsoft.com/office/drawing/2014/main" id="{7728B380-02CD-B733-ED3E-1F82F6B8A2E4}"/>
              </a:ext>
            </a:extLst>
          </p:cNvPr>
          <p:cNvSpPr/>
          <p:nvPr/>
        </p:nvSpPr>
        <p:spPr>
          <a:xfrm>
            <a:off x="4928985" y="3478491"/>
            <a:ext cx="1742400" cy="89838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Atributos</a:t>
            </a:r>
          </a:p>
        </p:txBody>
      </p:sp>
      <p:sp>
        <p:nvSpPr>
          <p:cNvPr id="12" name="Retângulo 11">
            <a:extLst>
              <a:ext uri="{FF2B5EF4-FFF2-40B4-BE49-F238E27FC236}">
                <a16:creationId xmlns:a16="http://schemas.microsoft.com/office/drawing/2014/main" id="{FE874343-29B5-75C3-2A5D-8E8702D1465B}"/>
              </a:ext>
            </a:extLst>
          </p:cNvPr>
          <p:cNvSpPr/>
          <p:nvPr/>
        </p:nvSpPr>
        <p:spPr>
          <a:xfrm>
            <a:off x="4928985" y="4619901"/>
            <a:ext cx="1742400" cy="89838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Relacionamentos</a:t>
            </a:r>
          </a:p>
        </p:txBody>
      </p:sp>
      <p:cxnSp>
        <p:nvCxnSpPr>
          <p:cNvPr id="13" name="Conector de Seta Reta 12">
            <a:extLst>
              <a:ext uri="{FF2B5EF4-FFF2-40B4-BE49-F238E27FC236}">
                <a16:creationId xmlns:a16="http://schemas.microsoft.com/office/drawing/2014/main" id="{ED1DB7B5-3F62-AAF4-1166-A9CBD825FA01}"/>
              </a:ext>
            </a:extLst>
          </p:cNvPr>
          <p:cNvCxnSpPr>
            <a:cxnSpLocks/>
            <a:stCxn id="8" idx="3"/>
            <a:endCxn id="11" idx="1"/>
          </p:cNvCxnSpPr>
          <p:nvPr/>
        </p:nvCxnSpPr>
        <p:spPr>
          <a:xfrm flipV="1">
            <a:off x="4141759" y="3927684"/>
            <a:ext cx="787226" cy="1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Angulado 13">
            <a:extLst>
              <a:ext uri="{FF2B5EF4-FFF2-40B4-BE49-F238E27FC236}">
                <a16:creationId xmlns:a16="http://schemas.microsoft.com/office/drawing/2014/main" id="{94CAB000-D865-D35B-E921-FDE0440C1799}"/>
              </a:ext>
            </a:extLst>
          </p:cNvPr>
          <p:cNvCxnSpPr>
            <a:stCxn id="8" idx="0"/>
            <a:endCxn id="10" idx="1"/>
          </p:cNvCxnSpPr>
          <p:nvPr/>
        </p:nvCxnSpPr>
        <p:spPr>
          <a:xfrm rot="5400000" flipH="1" flipV="1">
            <a:off x="3900650" y="2381647"/>
            <a:ext cx="623708" cy="14329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Angulado 14">
            <a:extLst>
              <a:ext uri="{FF2B5EF4-FFF2-40B4-BE49-F238E27FC236}">
                <a16:creationId xmlns:a16="http://schemas.microsoft.com/office/drawing/2014/main" id="{D3408678-7F0D-AE5B-DE5F-ED76CACE9CD4}"/>
              </a:ext>
            </a:extLst>
          </p:cNvPr>
          <p:cNvCxnSpPr>
            <a:stCxn id="8" idx="2"/>
            <a:endCxn id="12" idx="1"/>
          </p:cNvCxnSpPr>
          <p:nvPr/>
        </p:nvCxnSpPr>
        <p:spPr>
          <a:xfrm rot="16200000" flipH="1">
            <a:off x="3902601" y="4042709"/>
            <a:ext cx="619807" cy="14329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CaixaDeTexto 15">
            <a:extLst>
              <a:ext uri="{FF2B5EF4-FFF2-40B4-BE49-F238E27FC236}">
                <a16:creationId xmlns:a16="http://schemas.microsoft.com/office/drawing/2014/main" id="{2B6B5781-97B1-8792-FC64-66E7407C845E}"/>
              </a:ext>
            </a:extLst>
          </p:cNvPr>
          <p:cNvSpPr txBox="1"/>
          <p:nvPr/>
        </p:nvSpPr>
        <p:spPr>
          <a:xfrm>
            <a:off x="2923834" y="3763255"/>
            <a:ext cx="1159548" cy="307777"/>
          </a:xfrm>
          <a:prstGeom prst="rect">
            <a:avLst/>
          </a:prstGeom>
          <a:noFill/>
        </p:spPr>
        <p:txBody>
          <a:bodyPr wrap="none" rtlCol="0">
            <a:spAutoFit/>
          </a:bodyPr>
          <a:lstStyle/>
          <a:p>
            <a:r>
              <a:rPr lang="pt-BR" sz="1400" b="1" dirty="0">
                <a:solidFill>
                  <a:schemeClr val="bg1"/>
                </a:solidFill>
                <a:latin typeface="Impact" panose="020B0806030902050204" pitchFamily="34" charset="0"/>
              </a:rPr>
              <a:t>Formado por..</a:t>
            </a:r>
          </a:p>
        </p:txBody>
      </p:sp>
      <p:sp>
        <p:nvSpPr>
          <p:cNvPr id="17" name="Retângulo 16">
            <a:extLst>
              <a:ext uri="{FF2B5EF4-FFF2-40B4-BE49-F238E27FC236}">
                <a16:creationId xmlns:a16="http://schemas.microsoft.com/office/drawing/2014/main" id="{09E0D354-52AE-2823-3557-60F2D1F2BFA1}"/>
              </a:ext>
            </a:extLst>
          </p:cNvPr>
          <p:cNvSpPr/>
          <p:nvPr/>
        </p:nvSpPr>
        <p:spPr>
          <a:xfrm>
            <a:off x="7389579" y="2341074"/>
            <a:ext cx="1742400" cy="89838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Tabelas</a:t>
            </a:r>
          </a:p>
        </p:txBody>
      </p:sp>
      <p:cxnSp>
        <p:nvCxnSpPr>
          <p:cNvPr id="19" name="Conector de Seta Reta 18">
            <a:extLst>
              <a:ext uri="{FF2B5EF4-FFF2-40B4-BE49-F238E27FC236}">
                <a16:creationId xmlns:a16="http://schemas.microsoft.com/office/drawing/2014/main" id="{6DE43FFC-62D9-45F3-F391-570CC1C228DF}"/>
              </a:ext>
            </a:extLst>
          </p:cNvPr>
          <p:cNvCxnSpPr>
            <a:stCxn id="10" idx="3"/>
            <a:endCxn id="17" idx="1"/>
          </p:cNvCxnSpPr>
          <p:nvPr/>
        </p:nvCxnSpPr>
        <p:spPr>
          <a:xfrm>
            <a:off x="6671385" y="2786274"/>
            <a:ext cx="718194" cy="3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tângulo 19">
            <a:extLst>
              <a:ext uri="{FF2B5EF4-FFF2-40B4-BE49-F238E27FC236}">
                <a16:creationId xmlns:a16="http://schemas.microsoft.com/office/drawing/2014/main" id="{72E37EEF-5081-7216-9FA6-27F5B8A1896A}"/>
              </a:ext>
            </a:extLst>
          </p:cNvPr>
          <p:cNvSpPr/>
          <p:nvPr/>
        </p:nvSpPr>
        <p:spPr>
          <a:xfrm>
            <a:off x="7389579" y="3492549"/>
            <a:ext cx="1742400" cy="89838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Colunas</a:t>
            </a:r>
          </a:p>
        </p:txBody>
      </p:sp>
      <p:cxnSp>
        <p:nvCxnSpPr>
          <p:cNvPr id="21" name="Conector de Seta Reta 20">
            <a:extLst>
              <a:ext uri="{FF2B5EF4-FFF2-40B4-BE49-F238E27FC236}">
                <a16:creationId xmlns:a16="http://schemas.microsoft.com/office/drawing/2014/main" id="{8C780436-3704-23F9-33D3-870E18C005BF}"/>
              </a:ext>
            </a:extLst>
          </p:cNvPr>
          <p:cNvCxnSpPr>
            <a:cxnSpLocks/>
            <a:stCxn id="11" idx="3"/>
            <a:endCxn id="20" idx="1"/>
          </p:cNvCxnSpPr>
          <p:nvPr/>
        </p:nvCxnSpPr>
        <p:spPr>
          <a:xfrm>
            <a:off x="6671385" y="3927684"/>
            <a:ext cx="718194" cy="14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85E1594B-2544-7CAC-1F27-558F8D453363}"/>
              </a:ext>
            </a:extLst>
          </p:cNvPr>
          <p:cNvSpPr txBox="1"/>
          <p:nvPr/>
        </p:nvSpPr>
        <p:spPr>
          <a:xfrm>
            <a:off x="10071414" y="2610172"/>
            <a:ext cx="887347" cy="369332"/>
          </a:xfrm>
          <a:prstGeom prst="rect">
            <a:avLst/>
          </a:prstGeom>
          <a:noFill/>
        </p:spPr>
        <p:txBody>
          <a:bodyPr wrap="square">
            <a:spAutoFit/>
          </a:bodyPr>
          <a:lstStyle/>
          <a:p>
            <a:r>
              <a:rPr lang="pt-BR" dirty="0"/>
              <a:t>Cliente</a:t>
            </a:r>
          </a:p>
        </p:txBody>
      </p:sp>
      <p:cxnSp>
        <p:nvCxnSpPr>
          <p:cNvPr id="27" name="Conector de Seta Reta 26">
            <a:extLst>
              <a:ext uri="{FF2B5EF4-FFF2-40B4-BE49-F238E27FC236}">
                <a16:creationId xmlns:a16="http://schemas.microsoft.com/office/drawing/2014/main" id="{94E06275-AA7A-53BB-336A-BD801E7892D2}"/>
              </a:ext>
            </a:extLst>
          </p:cNvPr>
          <p:cNvCxnSpPr>
            <a:stCxn id="17" idx="3"/>
            <a:endCxn id="25" idx="1"/>
          </p:cNvCxnSpPr>
          <p:nvPr/>
        </p:nvCxnSpPr>
        <p:spPr>
          <a:xfrm>
            <a:off x="9131979" y="2790267"/>
            <a:ext cx="939435" cy="4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CaixaDeTexto 28">
            <a:extLst>
              <a:ext uri="{FF2B5EF4-FFF2-40B4-BE49-F238E27FC236}">
                <a16:creationId xmlns:a16="http://schemas.microsoft.com/office/drawing/2014/main" id="{4DA032E2-C2C4-2555-62C3-96936CBE1B96}"/>
              </a:ext>
            </a:extLst>
          </p:cNvPr>
          <p:cNvSpPr txBox="1"/>
          <p:nvPr/>
        </p:nvSpPr>
        <p:spPr>
          <a:xfrm>
            <a:off x="10053593" y="3352304"/>
            <a:ext cx="2190564" cy="1200329"/>
          </a:xfrm>
          <a:prstGeom prst="rect">
            <a:avLst/>
          </a:prstGeom>
          <a:noFill/>
        </p:spPr>
        <p:txBody>
          <a:bodyPr wrap="square">
            <a:spAutoFit/>
          </a:bodyPr>
          <a:lstStyle/>
          <a:p>
            <a:r>
              <a:rPr lang="pt-BR" dirty="0"/>
              <a:t>Nome</a:t>
            </a:r>
          </a:p>
          <a:p>
            <a:r>
              <a:rPr lang="pt-BR" dirty="0"/>
              <a:t>Endereço</a:t>
            </a:r>
          </a:p>
          <a:p>
            <a:r>
              <a:rPr lang="pt-BR" dirty="0"/>
              <a:t>Data Nascimento</a:t>
            </a:r>
          </a:p>
          <a:p>
            <a:r>
              <a:rPr lang="pt-BR" dirty="0"/>
              <a:t>Idade</a:t>
            </a:r>
          </a:p>
        </p:txBody>
      </p:sp>
      <p:sp>
        <p:nvSpPr>
          <p:cNvPr id="30" name="Chave Esquerda 29">
            <a:extLst>
              <a:ext uri="{FF2B5EF4-FFF2-40B4-BE49-F238E27FC236}">
                <a16:creationId xmlns:a16="http://schemas.microsoft.com/office/drawing/2014/main" id="{65141AAA-56C6-5BE6-AA01-B31A8A539E42}"/>
              </a:ext>
            </a:extLst>
          </p:cNvPr>
          <p:cNvSpPr/>
          <p:nvPr/>
        </p:nvSpPr>
        <p:spPr>
          <a:xfrm>
            <a:off x="9951721" y="3352304"/>
            <a:ext cx="142190" cy="119118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32" name="Conector de Seta Reta 31">
            <a:extLst>
              <a:ext uri="{FF2B5EF4-FFF2-40B4-BE49-F238E27FC236}">
                <a16:creationId xmlns:a16="http://schemas.microsoft.com/office/drawing/2014/main" id="{CF0684C3-BF34-1576-57B0-26A04C08EE3D}"/>
              </a:ext>
            </a:extLst>
          </p:cNvPr>
          <p:cNvCxnSpPr>
            <a:stCxn id="20" idx="3"/>
            <a:endCxn id="30" idx="1"/>
          </p:cNvCxnSpPr>
          <p:nvPr/>
        </p:nvCxnSpPr>
        <p:spPr>
          <a:xfrm>
            <a:off x="9131979" y="3941742"/>
            <a:ext cx="819742" cy="6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5345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sp>
        <p:nvSpPr>
          <p:cNvPr id="50" name="Retângulo 49">
            <a:extLst>
              <a:ext uri="{FF2B5EF4-FFF2-40B4-BE49-F238E27FC236}">
                <a16:creationId xmlns:a16="http://schemas.microsoft.com/office/drawing/2014/main" id="{2102F7F8-8F9C-81AC-3264-4D8B37235541}"/>
              </a:ext>
            </a:extLst>
          </p:cNvPr>
          <p:cNvSpPr/>
          <p:nvPr/>
        </p:nvSpPr>
        <p:spPr>
          <a:xfrm>
            <a:off x="130373" y="1685140"/>
            <a:ext cx="11931254" cy="4538111"/>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sp>
        <p:nvSpPr>
          <p:cNvPr id="39" name="Retângulo 38">
            <a:extLst>
              <a:ext uri="{FF2B5EF4-FFF2-40B4-BE49-F238E27FC236}">
                <a16:creationId xmlns:a16="http://schemas.microsoft.com/office/drawing/2014/main" id="{AC32D9E7-4BFE-03A8-8FAF-3F0FFC5D040A}"/>
              </a:ext>
            </a:extLst>
          </p:cNvPr>
          <p:cNvSpPr/>
          <p:nvPr/>
        </p:nvSpPr>
        <p:spPr>
          <a:xfrm>
            <a:off x="2548061" y="3022824"/>
            <a:ext cx="5038644" cy="1522055"/>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4038600" y="6517118"/>
            <a:ext cx="4114800" cy="365125"/>
          </a:xfrm>
        </p:spPr>
        <p:txBody>
          <a:bodyPr/>
          <a:lstStyle/>
          <a:p>
            <a:r>
              <a:rPr lang="pt-BR" dirty="0"/>
              <a:t>DBA </a:t>
            </a:r>
            <a:r>
              <a:rPr lang="pt-BR" dirty="0" err="1"/>
              <a:t>Assists</a:t>
            </a:r>
            <a:r>
              <a:rPr lang="pt-BR" dirty="0"/>
              <a:t> - Transformando Dados em Informação - www.dbaassists.com.br</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2" name="Retângulo 1">
            <a:extLst>
              <a:ext uri="{FF2B5EF4-FFF2-40B4-BE49-F238E27FC236}">
                <a16:creationId xmlns:a16="http://schemas.microsoft.com/office/drawing/2014/main" id="{C37DC510-F010-D621-1492-A96738D99122}"/>
              </a:ext>
            </a:extLst>
          </p:cNvPr>
          <p:cNvSpPr/>
          <p:nvPr/>
        </p:nvSpPr>
        <p:spPr>
          <a:xfrm>
            <a:off x="307928" y="3318487"/>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Impact" panose="020B0806030902050204" pitchFamily="34" charset="0"/>
              </a:rPr>
              <a:t>Análise de Requisito</a:t>
            </a:r>
          </a:p>
        </p:txBody>
      </p:sp>
      <p:sp>
        <p:nvSpPr>
          <p:cNvPr id="21" name="Retângulo 20">
            <a:extLst>
              <a:ext uri="{FF2B5EF4-FFF2-40B4-BE49-F238E27FC236}">
                <a16:creationId xmlns:a16="http://schemas.microsoft.com/office/drawing/2014/main" id="{CEDAED09-CA07-8CC7-6180-F835569DE1B7}"/>
              </a:ext>
            </a:extLst>
          </p:cNvPr>
          <p:cNvSpPr/>
          <p:nvPr/>
        </p:nvSpPr>
        <p:spPr>
          <a:xfrm>
            <a:off x="2795154" y="3318487"/>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Impact" panose="020B0806030902050204" pitchFamily="34" charset="0"/>
              </a:rPr>
              <a:t>Criação do MER</a:t>
            </a:r>
          </a:p>
        </p:txBody>
      </p:sp>
      <p:sp>
        <p:nvSpPr>
          <p:cNvPr id="22" name="Retângulo 21">
            <a:extLst>
              <a:ext uri="{FF2B5EF4-FFF2-40B4-BE49-F238E27FC236}">
                <a16:creationId xmlns:a16="http://schemas.microsoft.com/office/drawing/2014/main" id="{C032C975-42B4-8046-7E27-F0857958831B}"/>
              </a:ext>
            </a:extLst>
          </p:cNvPr>
          <p:cNvSpPr/>
          <p:nvPr/>
        </p:nvSpPr>
        <p:spPr>
          <a:xfrm>
            <a:off x="5459935" y="3318487"/>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Impact" panose="020B0806030902050204" pitchFamily="34" charset="0"/>
              </a:rPr>
              <a:t>Criação do DER</a:t>
            </a:r>
          </a:p>
        </p:txBody>
      </p:sp>
      <p:sp>
        <p:nvSpPr>
          <p:cNvPr id="23" name="Retângulo 22">
            <a:extLst>
              <a:ext uri="{FF2B5EF4-FFF2-40B4-BE49-F238E27FC236}">
                <a16:creationId xmlns:a16="http://schemas.microsoft.com/office/drawing/2014/main" id="{44C8E014-7ED2-05F2-1384-66F3F0C645D9}"/>
              </a:ext>
            </a:extLst>
          </p:cNvPr>
          <p:cNvSpPr/>
          <p:nvPr/>
        </p:nvSpPr>
        <p:spPr>
          <a:xfrm>
            <a:off x="10202255" y="3309609"/>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Impact" panose="020B0806030902050204" pitchFamily="34" charset="0"/>
              </a:rPr>
              <a:t>Modelo de Dados</a:t>
            </a:r>
          </a:p>
        </p:txBody>
      </p:sp>
      <p:sp>
        <p:nvSpPr>
          <p:cNvPr id="25" name="CaixaDeTexto 24">
            <a:extLst>
              <a:ext uri="{FF2B5EF4-FFF2-40B4-BE49-F238E27FC236}">
                <a16:creationId xmlns:a16="http://schemas.microsoft.com/office/drawing/2014/main" id="{94EF5AFE-5AEC-69F8-7103-3D76C34652CB}"/>
              </a:ext>
            </a:extLst>
          </p:cNvPr>
          <p:cNvSpPr txBox="1"/>
          <p:nvPr/>
        </p:nvSpPr>
        <p:spPr>
          <a:xfrm>
            <a:off x="1794431" y="4805627"/>
            <a:ext cx="3754280" cy="1200329"/>
          </a:xfrm>
          <a:prstGeom prst="rect">
            <a:avLst/>
          </a:prstGeom>
          <a:noFill/>
          <a:ln>
            <a:solidFill>
              <a:schemeClr val="accent1"/>
            </a:solidFill>
          </a:ln>
        </p:spPr>
        <p:txBody>
          <a:bodyPr wrap="square">
            <a:spAutoFit/>
          </a:bodyPr>
          <a:lstStyle/>
          <a:p>
            <a:r>
              <a:rPr lang="pt-BR" dirty="0"/>
              <a:t>Utilizado para descrever os objetos do mundo real através de entidades, com suas propriedades que são os atributos e os seus relacionamentos.</a:t>
            </a:r>
          </a:p>
        </p:txBody>
      </p:sp>
      <p:cxnSp>
        <p:nvCxnSpPr>
          <p:cNvPr id="27" name="Conector de Seta Reta 26">
            <a:extLst>
              <a:ext uri="{FF2B5EF4-FFF2-40B4-BE49-F238E27FC236}">
                <a16:creationId xmlns:a16="http://schemas.microsoft.com/office/drawing/2014/main" id="{5F0A9911-B839-984A-5567-654FCA4E3A43}"/>
              </a:ext>
            </a:extLst>
          </p:cNvPr>
          <p:cNvCxnSpPr>
            <a:stCxn id="21" idx="2"/>
            <a:endCxn id="25" idx="0"/>
          </p:cNvCxnSpPr>
          <p:nvPr/>
        </p:nvCxnSpPr>
        <p:spPr>
          <a:xfrm>
            <a:off x="3667134" y="4218487"/>
            <a:ext cx="4437" cy="587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CaixaDeTexto 28">
            <a:extLst>
              <a:ext uri="{FF2B5EF4-FFF2-40B4-BE49-F238E27FC236}">
                <a16:creationId xmlns:a16="http://schemas.microsoft.com/office/drawing/2014/main" id="{A5BA4730-D821-5E7E-CFE1-87663D1E7C18}"/>
              </a:ext>
            </a:extLst>
          </p:cNvPr>
          <p:cNvSpPr txBox="1"/>
          <p:nvPr/>
        </p:nvSpPr>
        <p:spPr>
          <a:xfrm>
            <a:off x="4548506" y="1803832"/>
            <a:ext cx="3565850" cy="923330"/>
          </a:xfrm>
          <a:prstGeom prst="rect">
            <a:avLst/>
          </a:prstGeom>
          <a:noFill/>
          <a:ln>
            <a:solidFill>
              <a:schemeClr val="accent1"/>
            </a:solidFill>
          </a:ln>
        </p:spPr>
        <p:txBody>
          <a:bodyPr wrap="square">
            <a:spAutoFit/>
          </a:bodyPr>
          <a:lstStyle/>
          <a:p>
            <a:r>
              <a:rPr lang="pt-BR" dirty="0"/>
              <a:t>Identificar e descrever as entidades, os atributos, feito isso, identificar os relacionamentos existentes.</a:t>
            </a:r>
          </a:p>
        </p:txBody>
      </p:sp>
      <p:cxnSp>
        <p:nvCxnSpPr>
          <p:cNvPr id="31" name="Conector de Seta Reta 30">
            <a:extLst>
              <a:ext uri="{FF2B5EF4-FFF2-40B4-BE49-F238E27FC236}">
                <a16:creationId xmlns:a16="http://schemas.microsoft.com/office/drawing/2014/main" id="{13E0BAD7-2656-E17C-583B-A1CD97E6EDCA}"/>
              </a:ext>
            </a:extLst>
          </p:cNvPr>
          <p:cNvCxnSpPr>
            <a:stCxn id="22" idx="0"/>
            <a:endCxn id="29" idx="2"/>
          </p:cNvCxnSpPr>
          <p:nvPr/>
        </p:nvCxnSpPr>
        <p:spPr>
          <a:xfrm flipH="1" flipV="1">
            <a:off x="6331431" y="2727162"/>
            <a:ext cx="484" cy="591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ector de Seta Reta 32">
            <a:extLst>
              <a:ext uri="{FF2B5EF4-FFF2-40B4-BE49-F238E27FC236}">
                <a16:creationId xmlns:a16="http://schemas.microsoft.com/office/drawing/2014/main" id="{D33F9AD1-66DA-47CB-99FD-EE5C57D435DD}"/>
              </a:ext>
            </a:extLst>
          </p:cNvPr>
          <p:cNvCxnSpPr>
            <a:cxnSpLocks/>
            <a:stCxn id="2" idx="3"/>
            <a:endCxn id="21" idx="1"/>
          </p:cNvCxnSpPr>
          <p:nvPr/>
        </p:nvCxnSpPr>
        <p:spPr>
          <a:xfrm>
            <a:off x="2051887" y="3768487"/>
            <a:ext cx="7432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ector de Seta Reta 35">
            <a:extLst>
              <a:ext uri="{FF2B5EF4-FFF2-40B4-BE49-F238E27FC236}">
                <a16:creationId xmlns:a16="http://schemas.microsoft.com/office/drawing/2014/main" id="{9B6BE5AE-4BC0-2EB3-282B-83889154D3AC}"/>
              </a:ext>
            </a:extLst>
          </p:cNvPr>
          <p:cNvCxnSpPr>
            <a:stCxn id="21" idx="3"/>
            <a:endCxn id="22" idx="1"/>
          </p:cNvCxnSpPr>
          <p:nvPr/>
        </p:nvCxnSpPr>
        <p:spPr>
          <a:xfrm>
            <a:off x="4539113" y="3768487"/>
            <a:ext cx="9208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CaixaDeTexto 39">
            <a:extLst>
              <a:ext uri="{FF2B5EF4-FFF2-40B4-BE49-F238E27FC236}">
                <a16:creationId xmlns:a16="http://schemas.microsoft.com/office/drawing/2014/main" id="{A0946ABE-3702-4143-72F6-210B1101BF66}"/>
              </a:ext>
            </a:extLst>
          </p:cNvPr>
          <p:cNvSpPr txBox="1"/>
          <p:nvPr/>
        </p:nvSpPr>
        <p:spPr>
          <a:xfrm>
            <a:off x="7322055" y="4988177"/>
            <a:ext cx="3565850" cy="646331"/>
          </a:xfrm>
          <a:prstGeom prst="rect">
            <a:avLst/>
          </a:prstGeom>
          <a:noFill/>
          <a:ln>
            <a:solidFill>
              <a:schemeClr val="accent1"/>
            </a:solidFill>
          </a:ln>
        </p:spPr>
        <p:txBody>
          <a:bodyPr wrap="square">
            <a:spAutoFit/>
          </a:bodyPr>
          <a:lstStyle/>
          <a:p>
            <a:r>
              <a:rPr lang="pt-BR" dirty="0"/>
              <a:t>Durante essa fase, são aplicadas técnicas de normalização de dados.</a:t>
            </a:r>
          </a:p>
        </p:txBody>
      </p:sp>
      <p:cxnSp>
        <p:nvCxnSpPr>
          <p:cNvPr id="42" name="Conector de Seta Reta 41">
            <a:extLst>
              <a:ext uri="{FF2B5EF4-FFF2-40B4-BE49-F238E27FC236}">
                <a16:creationId xmlns:a16="http://schemas.microsoft.com/office/drawing/2014/main" id="{DE483098-0E58-9553-30B6-7BB64A798AAE}"/>
              </a:ext>
            </a:extLst>
          </p:cNvPr>
          <p:cNvCxnSpPr>
            <a:cxnSpLocks/>
            <a:stCxn id="39" idx="2"/>
            <a:endCxn id="40" idx="1"/>
          </p:cNvCxnSpPr>
          <p:nvPr/>
        </p:nvCxnSpPr>
        <p:spPr>
          <a:xfrm>
            <a:off x="5067383" y="4544879"/>
            <a:ext cx="2254672" cy="766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5" name="Imagem 44">
            <a:extLst>
              <a:ext uri="{FF2B5EF4-FFF2-40B4-BE49-F238E27FC236}">
                <a16:creationId xmlns:a16="http://schemas.microsoft.com/office/drawing/2014/main" id="{77E2FCDE-4E1D-E64D-98CA-38D9220917E3}"/>
              </a:ext>
            </a:extLst>
          </p:cNvPr>
          <p:cNvPicPr>
            <a:picLocks noChangeAspect="1"/>
          </p:cNvPicPr>
          <p:nvPr/>
        </p:nvPicPr>
        <p:blipFill>
          <a:blip r:embed="rId3"/>
          <a:stretch>
            <a:fillRect/>
          </a:stretch>
        </p:blipFill>
        <p:spPr>
          <a:xfrm>
            <a:off x="8040017" y="2961349"/>
            <a:ext cx="1813909" cy="1592289"/>
          </a:xfrm>
          <a:prstGeom prst="rect">
            <a:avLst/>
          </a:prstGeom>
        </p:spPr>
      </p:pic>
      <p:cxnSp>
        <p:nvCxnSpPr>
          <p:cNvPr id="47" name="Conector de Seta Reta 46">
            <a:extLst>
              <a:ext uri="{FF2B5EF4-FFF2-40B4-BE49-F238E27FC236}">
                <a16:creationId xmlns:a16="http://schemas.microsoft.com/office/drawing/2014/main" id="{C36C09F1-D9BC-DB69-7F23-46C331CF57BA}"/>
              </a:ext>
            </a:extLst>
          </p:cNvPr>
          <p:cNvCxnSpPr>
            <a:stCxn id="22" idx="3"/>
            <a:endCxn id="45" idx="1"/>
          </p:cNvCxnSpPr>
          <p:nvPr/>
        </p:nvCxnSpPr>
        <p:spPr>
          <a:xfrm flipV="1">
            <a:off x="7203894" y="3757494"/>
            <a:ext cx="836123" cy="10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ector de Seta Reta 48">
            <a:extLst>
              <a:ext uri="{FF2B5EF4-FFF2-40B4-BE49-F238E27FC236}">
                <a16:creationId xmlns:a16="http://schemas.microsoft.com/office/drawing/2014/main" id="{E0D58207-80AF-85DC-AED6-9491B453AA65}"/>
              </a:ext>
            </a:extLst>
          </p:cNvPr>
          <p:cNvCxnSpPr>
            <a:stCxn id="45" idx="3"/>
            <a:endCxn id="23" idx="1"/>
          </p:cNvCxnSpPr>
          <p:nvPr/>
        </p:nvCxnSpPr>
        <p:spPr>
          <a:xfrm>
            <a:off x="9853926" y="3757494"/>
            <a:ext cx="348329" cy="2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809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 (MER)</a:t>
            </a:r>
          </a:p>
        </p:txBody>
      </p:sp>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4038600" y="6517118"/>
            <a:ext cx="4114800" cy="365125"/>
          </a:xfrm>
        </p:spPr>
        <p:txBody>
          <a:bodyPr/>
          <a:lstStyle/>
          <a:p>
            <a:r>
              <a:rPr lang="pt-BR" dirty="0"/>
              <a:t>DBA </a:t>
            </a:r>
            <a:r>
              <a:rPr lang="pt-BR" dirty="0" err="1"/>
              <a:t>Assists</a:t>
            </a:r>
            <a:r>
              <a:rPr lang="pt-BR" dirty="0"/>
              <a:t> - Transformando Dados em Informação - www.dbaassists.com.br</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pic>
        <p:nvPicPr>
          <p:cNvPr id="2" name="Imagem 1">
            <a:extLst>
              <a:ext uri="{FF2B5EF4-FFF2-40B4-BE49-F238E27FC236}">
                <a16:creationId xmlns:a16="http://schemas.microsoft.com/office/drawing/2014/main" id="{F9FEF773-B2BE-2BD1-FE3A-AE7F252CD854}"/>
              </a:ext>
            </a:extLst>
          </p:cNvPr>
          <p:cNvPicPr>
            <a:picLocks noChangeAspect="1"/>
          </p:cNvPicPr>
          <p:nvPr/>
        </p:nvPicPr>
        <p:blipFill>
          <a:blip r:embed="rId4"/>
          <a:stretch>
            <a:fillRect/>
          </a:stretch>
        </p:blipFill>
        <p:spPr>
          <a:xfrm>
            <a:off x="1051966" y="1450176"/>
            <a:ext cx="9826065" cy="4823270"/>
          </a:xfrm>
          <a:prstGeom prst="rect">
            <a:avLst/>
          </a:prstGeom>
        </p:spPr>
      </p:pic>
    </p:spTree>
    <p:extLst>
      <p:ext uri="{BB962C8B-B14F-4D97-AF65-F5344CB8AC3E}">
        <p14:creationId xmlns:p14="http://schemas.microsoft.com/office/powerpoint/2010/main" val="1868603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pic>
        <p:nvPicPr>
          <p:cNvPr id="2" name="Imagem 1">
            <a:extLst>
              <a:ext uri="{FF2B5EF4-FFF2-40B4-BE49-F238E27FC236}">
                <a16:creationId xmlns:a16="http://schemas.microsoft.com/office/drawing/2014/main" id="{5626DE36-A12A-6146-4628-39E4A90DF11D}"/>
              </a:ext>
            </a:extLst>
          </p:cNvPr>
          <p:cNvPicPr>
            <a:picLocks noChangeAspect="1"/>
          </p:cNvPicPr>
          <p:nvPr/>
        </p:nvPicPr>
        <p:blipFill>
          <a:blip r:embed="rId3"/>
          <a:stretch>
            <a:fillRect/>
          </a:stretch>
        </p:blipFill>
        <p:spPr>
          <a:xfrm>
            <a:off x="-85725" y="1280055"/>
            <a:ext cx="12192000" cy="5366641"/>
          </a:xfrm>
          <a:prstGeom prst="rect">
            <a:avLst/>
          </a:prstGeom>
        </p:spPr>
      </p:pic>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 (DER)</a:t>
            </a:r>
          </a:p>
        </p:txBody>
      </p:sp>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4038600" y="6517118"/>
            <a:ext cx="4114800" cy="365125"/>
          </a:xfrm>
        </p:spPr>
        <p:txBody>
          <a:bodyPr/>
          <a:lstStyle/>
          <a:p>
            <a:r>
              <a:rPr lang="pt-BR" dirty="0"/>
              <a:t>DBA </a:t>
            </a:r>
            <a:r>
              <a:rPr lang="pt-BR" dirty="0" err="1"/>
              <a:t>Assists</a:t>
            </a:r>
            <a:r>
              <a:rPr lang="pt-BR" dirty="0"/>
              <a:t> - Transformando Dados em Informação - www.dbaassists.com.br</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Tree>
    <p:extLst>
      <p:ext uri="{BB962C8B-B14F-4D97-AF65-F5344CB8AC3E}">
        <p14:creationId xmlns:p14="http://schemas.microsoft.com/office/powerpoint/2010/main" val="3472803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3028B91C-EF46-D86D-1F6D-E7EE543C91D3}"/>
              </a:ext>
            </a:extLst>
          </p:cNvPr>
          <p:cNvPicPr>
            <a:picLocks noChangeAspect="1"/>
          </p:cNvPicPr>
          <p:nvPr/>
        </p:nvPicPr>
        <p:blipFill>
          <a:blip r:embed="rId2"/>
          <a:stretch>
            <a:fillRect/>
          </a:stretch>
        </p:blipFill>
        <p:spPr>
          <a:xfrm>
            <a:off x="463707" y="1268695"/>
            <a:ext cx="11531798" cy="5549185"/>
          </a:xfrm>
          <a:prstGeom prst="rect">
            <a:avLst/>
          </a:prstGeom>
        </p:spPr>
      </p:pic>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130373" y="6452755"/>
            <a:ext cx="4114800" cy="365125"/>
          </a:xfrm>
        </p:spPr>
        <p:txBody>
          <a:bodyPr/>
          <a:lstStyle/>
          <a:p>
            <a:r>
              <a:rPr lang="pt-BR" dirty="0"/>
              <a:t>DBA </a:t>
            </a:r>
            <a:r>
              <a:rPr lang="pt-BR" dirty="0" err="1"/>
              <a:t>Assists</a:t>
            </a:r>
            <a:r>
              <a:rPr lang="pt-BR" dirty="0"/>
              <a:t> - Transformando Dados em Informação - www.dbaassists.com.br</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Tree>
    <p:extLst>
      <p:ext uri="{BB962C8B-B14F-4D97-AF65-F5344CB8AC3E}">
        <p14:creationId xmlns:p14="http://schemas.microsoft.com/office/powerpoint/2010/main" val="32559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pic>
        <p:nvPicPr>
          <p:cNvPr id="8" name="Imagem 7">
            <a:extLst>
              <a:ext uri="{FF2B5EF4-FFF2-40B4-BE49-F238E27FC236}">
                <a16:creationId xmlns:a16="http://schemas.microsoft.com/office/drawing/2014/main" id="{D6AD1633-111E-52AE-D3C6-E5640FDAE713}"/>
              </a:ext>
            </a:extLst>
          </p:cNvPr>
          <p:cNvPicPr>
            <a:picLocks noChangeAspect="1"/>
          </p:cNvPicPr>
          <p:nvPr/>
        </p:nvPicPr>
        <p:blipFill>
          <a:blip r:embed="rId2"/>
          <a:stretch>
            <a:fillRect/>
          </a:stretch>
        </p:blipFill>
        <p:spPr>
          <a:xfrm>
            <a:off x="211661" y="1285553"/>
            <a:ext cx="8242967" cy="5501390"/>
          </a:xfrm>
          <a:prstGeom prst="rect">
            <a:avLst/>
          </a:prstGeom>
        </p:spPr>
      </p:pic>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8016956" y="6421818"/>
            <a:ext cx="4114800" cy="365125"/>
          </a:xfrm>
        </p:spPr>
        <p:txBody>
          <a:bodyPr/>
          <a:lstStyle/>
          <a:p>
            <a:r>
              <a:rPr lang="pt-BR" dirty="0"/>
              <a:t>DBA </a:t>
            </a:r>
            <a:r>
              <a:rPr lang="pt-BR" dirty="0" err="1"/>
              <a:t>Assists</a:t>
            </a:r>
            <a:r>
              <a:rPr lang="pt-BR" dirty="0"/>
              <a:t> - Transformando Dados em Informação - www.dbaassists.com.br</a:t>
            </a:r>
          </a:p>
        </p:txBody>
      </p:sp>
    </p:spTree>
    <p:extLst>
      <p:ext uri="{BB962C8B-B14F-4D97-AF65-F5344CB8AC3E}">
        <p14:creationId xmlns:p14="http://schemas.microsoft.com/office/powerpoint/2010/main" val="3432923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130373" y="6452755"/>
            <a:ext cx="4114800" cy="365125"/>
          </a:xfrm>
        </p:spPr>
        <p:txBody>
          <a:bodyPr/>
          <a:lstStyle/>
          <a:p>
            <a:r>
              <a:rPr lang="pt-BR" dirty="0"/>
              <a:t>DBA </a:t>
            </a:r>
            <a:r>
              <a:rPr lang="pt-BR" dirty="0" err="1"/>
              <a:t>Assists</a:t>
            </a:r>
            <a:r>
              <a:rPr lang="pt-BR" dirty="0"/>
              <a:t> - Transformando Dados em Informação - www.dbaassists.com.br</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2" name="CaixaDeTexto 1">
            <a:extLst>
              <a:ext uri="{FF2B5EF4-FFF2-40B4-BE49-F238E27FC236}">
                <a16:creationId xmlns:a16="http://schemas.microsoft.com/office/drawing/2014/main" id="{3690ABA5-30B2-6A77-0B65-3AFB78B90CAA}"/>
              </a:ext>
            </a:extLst>
          </p:cNvPr>
          <p:cNvSpPr txBox="1"/>
          <p:nvPr/>
        </p:nvSpPr>
        <p:spPr>
          <a:xfrm>
            <a:off x="197038" y="2236733"/>
            <a:ext cx="11636893" cy="3139321"/>
          </a:xfrm>
          <a:prstGeom prst="rect">
            <a:avLst/>
          </a:prstGeom>
          <a:noFill/>
        </p:spPr>
        <p:txBody>
          <a:bodyPr wrap="square" rtlCol="0">
            <a:spAutoFit/>
          </a:bodyPr>
          <a:lstStyle/>
          <a:p>
            <a:pPr algn="ctr"/>
            <a:r>
              <a:rPr lang="pt-BR" sz="6600" dirty="0">
                <a:solidFill>
                  <a:srgbClr val="007DA9"/>
                </a:solidFill>
                <a:latin typeface="Impact" panose="020B0806030902050204" pitchFamily="34" charset="0"/>
              </a:rPr>
              <a:t>Como que aplicamos a modelagem multidimensional nesse cenário?</a:t>
            </a:r>
          </a:p>
        </p:txBody>
      </p:sp>
    </p:spTree>
    <p:extLst>
      <p:ext uri="{BB962C8B-B14F-4D97-AF65-F5344CB8AC3E}">
        <p14:creationId xmlns:p14="http://schemas.microsoft.com/office/powerpoint/2010/main" val="4054160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4038600" y="6517118"/>
            <a:ext cx="4114800" cy="365125"/>
          </a:xfrm>
        </p:spPr>
        <p:txBody>
          <a:bodyPr/>
          <a:lstStyle/>
          <a:p>
            <a:r>
              <a:rPr lang="pt-BR" dirty="0"/>
              <a:t>DBA </a:t>
            </a:r>
            <a:r>
              <a:rPr lang="pt-BR" dirty="0" err="1"/>
              <a:t>Assists</a:t>
            </a:r>
            <a:r>
              <a:rPr lang="pt-BR" dirty="0"/>
              <a:t> - Transformando Dados em Informação - www.dbaassists.com.br</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pic>
        <p:nvPicPr>
          <p:cNvPr id="4" name="Imagem 3">
            <a:extLst>
              <a:ext uri="{FF2B5EF4-FFF2-40B4-BE49-F238E27FC236}">
                <a16:creationId xmlns:a16="http://schemas.microsoft.com/office/drawing/2014/main" id="{659E0964-774E-D848-6FBA-2A7DC93D3B03}"/>
              </a:ext>
            </a:extLst>
          </p:cNvPr>
          <p:cNvPicPr>
            <a:picLocks noChangeAspect="1"/>
          </p:cNvPicPr>
          <p:nvPr/>
        </p:nvPicPr>
        <p:blipFill>
          <a:blip r:embed="rId3"/>
          <a:stretch>
            <a:fillRect/>
          </a:stretch>
        </p:blipFill>
        <p:spPr>
          <a:xfrm>
            <a:off x="268062" y="2376152"/>
            <a:ext cx="11579441" cy="3216145"/>
          </a:xfrm>
          <a:prstGeom prst="rect">
            <a:avLst/>
          </a:prstGeom>
        </p:spPr>
      </p:pic>
    </p:spTree>
    <p:extLst>
      <p:ext uri="{BB962C8B-B14F-4D97-AF65-F5344CB8AC3E}">
        <p14:creationId xmlns:p14="http://schemas.microsoft.com/office/powerpoint/2010/main" val="3435049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4038600" y="6517118"/>
            <a:ext cx="4114800" cy="365125"/>
          </a:xfrm>
        </p:spPr>
        <p:txBody>
          <a:bodyPr/>
          <a:lstStyle/>
          <a:p>
            <a:r>
              <a:rPr lang="pt-BR" dirty="0"/>
              <a:t>DBA </a:t>
            </a:r>
            <a:r>
              <a:rPr lang="pt-BR" dirty="0" err="1"/>
              <a:t>Assists</a:t>
            </a:r>
            <a:r>
              <a:rPr lang="pt-BR" dirty="0"/>
              <a:t> - Transformando Dados em Informação - www.dbaassists.com.br</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pic>
        <p:nvPicPr>
          <p:cNvPr id="2" name="Imagem 1">
            <a:extLst>
              <a:ext uri="{FF2B5EF4-FFF2-40B4-BE49-F238E27FC236}">
                <a16:creationId xmlns:a16="http://schemas.microsoft.com/office/drawing/2014/main" id="{49340FB3-55E3-5611-627D-9F13BF72C23B}"/>
              </a:ext>
            </a:extLst>
          </p:cNvPr>
          <p:cNvPicPr>
            <a:picLocks noChangeAspect="1"/>
          </p:cNvPicPr>
          <p:nvPr/>
        </p:nvPicPr>
        <p:blipFill>
          <a:blip r:embed="rId3"/>
          <a:stretch>
            <a:fillRect/>
          </a:stretch>
        </p:blipFill>
        <p:spPr>
          <a:xfrm>
            <a:off x="268062" y="2376152"/>
            <a:ext cx="11579441" cy="3216145"/>
          </a:xfrm>
          <a:prstGeom prst="rect">
            <a:avLst/>
          </a:prstGeom>
        </p:spPr>
      </p:pic>
      <p:sp>
        <p:nvSpPr>
          <p:cNvPr id="8" name="Retângulo 7">
            <a:extLst>
              <a:ext uri="{FF2B5EF4-FFF2-40B4-BE49-F238E27FC236}">
                <a16:creationId xmlns:a16="http://schemas.microsoft.com/office/drawing/2014/main" id="{D3850B84-F1B8-DA0A-66E2-A8D3344038A9}"/>
              </a:ext>
            </a:extLst>
          </p:cNvPr>
          <p:cNvSpPr/>
          <p:nvPr/>
        </p:nvSpPr>
        <p:spPr>
          <a:xfrm>
            <a:off x="268062" y="2376152"/>
            <a:ext cx="4827721" cy="3216145"/>
          </a:xfrm>
          <a:prstGeom prst="rect">
            <a:avLst/>
          </a:prstGeom>
          <a:noFill/>
          <a:ln w="381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n w="38100">
                <a:solidFill>
                  <a:schemeClr val="accent2"/>
                </a:solidFill>
              </a:ln>
              <a:solidFill>
                <a:srgbClr val="007DA9"/>
              </a:solidFill>
            </a:endParaRPr>
          </a:p>
        </p:txBody>
      </p:sp>
      <p:sp>
        <p:nvSpPr>
          <p:cNvPr id="9" name="Retângulo 8">
            <a:extLst>
              <a:ext uri="{FF2B5EF4-FFF2-40B4-BE49-F238E27FC236}">
                <a16:creationId xmlns:a16="http://schemas.microsoft.com/office/drawing/2014/main" id="{653BC7B6-C910-7298-D7FD-A9CACA868718}"/>
              </a:ext>
            </a:extLst>
          </p:cNvPr>
          <p:cNvSpPr/>
          <p:nvPr/>
        </p:nvSpPr>
        <p:spPr>
          <a:xfrm>
            <a:off x="6025197" y="2376152"/>
            <a:ext cx="1627354" cy="3216145"/>
          </a:xfrm>
          <a:prstGeom prst="rect">
            <a:avLst/>
          </a:prstGeom>
          <a:noFill/>
          <a:ln w="381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n w="38100">
                <a:solidFill>
                  <a:schemeClr val="accent2"/>
                </a:solidFill>
              </a:ln>
              <a:solidFill>
                <a:srgbClr val="007DA9"/>
              </a:solidFill>
            </a:endParaRPr>
          </a:p>
        </p:txBody>
      </p:sp>
      <p:sp>
        <p:nvSpPr>
          <p:cNvPr id="10" name="Retângulo 9">
            <a:extLst>
              <a:ext uri="{FF2B5EF4-FFF2-40B4-BE49-F238E27FC236}">
                <a16:creationId xmlns:a16="http://schemas.microsoft.com/office/drawing/2014/main" id="{CF846C42-B757-5F7D-346A-774EFE875F8A}"/>
              </a:ext>
            </a:extLst>
          </p:cNvPr>
          <p:cNvSpPr/>
          <p:nvPr/>
        </p:nvSpPr>
        <p:spPr>
          <a:xfrm>
            <a:off x="8915400" y="2368756"/>
            <a:ext cx="2922578" cy="3216145"/>
          </a:xfrm>
          <a:prstGeom prst="rect">
            <a:avLst/>
          </a:prstGeom>
          <a:noFill/>
          <a:ln w="381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n w="38100">
                <a:solidFill>
                  <a:schemeClr val="accent2"/>
                </a:solidFill>
              </a:ln>
              <a:solidFill>
                <a:srgbClr val="007DA9"/>
              </a:solidFill>
            </a:endParaRPr>
          </a:p>
        </p:txBody>
      </p:sp>
      <p:sp>
        <p:nvSpPr>
          <p:cNvPr id="11" name="Retângulo 10">
            <a:extLst>
              <a:ext uri="{FF2B5EF4-FFF2-40B4-BE49-F238E27FC236}">
                <a16:creationId xmlns:a16="http://schemas.microsoft.com/office/drawing/2014/main" id="{36FA23AF-E8BA-8284-20CE-1626F4F9C938}"/>
              </a:ext>
            </a:extLst>
          </p:cNvPr>
          <p:cNvSpPr/>
          <p:nvPr/>
        </p:nvSpPr>
        <p:spPr>
          <a:xfrm>
            <a:off x="1642250" y="2080877"/>
            <a:ext cx="1509323" cy="3948448"/>
          </a:xfrm>
          <a:prstGeom prst="rect">
            <a:avLst/>
          </a:prstGeom>
          <a:noFill/>
          <a:ln w="381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n w="38100">
                <a:solidFill>
                  <a:schemeClr val="accent2"/>
                </a:solidFill>
              </a:ln>
              <a:solidFill>
                <a:srgbClr val="007DA9"/>
              </a:solidFill>
            </a:endParaRPr>
          </a:p>
        </p:txBody>
      </p:sp>
      <p:sp>
        <p:nvSpPr>
          <p:cNvPr id="12" name="Retângulo 11">
            <a:extLst>
              <a:ext uri="{FF2B5EF4-FFF2-40B4-BE49-F238E27FC236}">
                <a16:creationId xmlns:a16="http://schemas.microsoft.com/office/drawing/2014/main" id="{6F4AE2DD-C76C-E64E-3420-96D7E2615C7F}"/>
              </a:ext>
            </a:extLst>
          </p:cNvPr>
          <p:cNvSpPr/>
          <p:nvPr/>
        </p:nvSpPr>
        <p:spPr>
          <a:xfrm>
            <a:off x="3099575" y="2213073"/>
            <a:ext cx="3035881" cy="3673377"/>
          </a:xfrm>
          <a:prstGeom prst="rect">
            <a:avLst/>
          </a:prstGeom>
          <a:noFill/>
          <a:ln w="38100">
            <a:solidFill>
              <a:schemeClr val="accent4">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n w="38100">
                <a:solidFill>
                  <a:schemeClr val="accent2"/>
                </a:solidFill>
              </a:ln>
              <a:solidFill>
                <a:srgbClr val="007DA9"/>
              </a:solidFill>
            </a:endParaRPr>
          </a:p>
        </p:txBody>
      </p:sp>
      <p:sp>
        <p:nvSpPr>
          <p:cNvPr id="13" name="Retângulo 12">
            <a:extLst>
              <a:ext uri="{FF2B5EF4-FFF2-40B4-BE49-F238E27FC236}">
                <a16:creationId xmlns:a16="http://schemas.microsoft.com/office/drawing/2014/main" id="{03EA535B-F3EC-21E8-B2B7-6FE594A83F65}"/>
              </a:ext>
            </a:extLst>
          </p:cNvPr>
          <p:cNvSpPr/>
          <p:nvPr/>
        </p:nvSpPr>
        <p:spPr>
          <a:xfrm>
            <a:off x="6096000" y="1905000"/>
            <a:ext cx="891400" cy="4251382"/>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n w="38100">
                <a:solidFill>
                  <a:schemeClr val="accent2"/>
                </a:solidFill>
              </a:ln>
              <a:solidFill>
                <a:srgbClr val="007DA9"/>
              </a:solidFill>
            </a:endParaRPr>
          </a:p>
        </p:txBody>
      </p:sp>
      <p:sp>
        <p:nvSpPr>
          <p:cNvPr id="14" name="Retângulo 13">
            <a:extLst>
              <a:ext uri="{FF2B5EF4-FFF2-40B4-BE49-F238E27FC236}">
                <a16:creationId xmlns:a16="http://schemas.microsoft.com/office/drawing/2014/main" id="{51E2BC1B-3B3B-B119-B6A8-2156C5FB2106}"/>
              </a:ext>
            </a:extLst>
          </p:cNvPr>
          <p:cNvSpPr/>
          <p:nvPr/>
        </p:nvSpPr>
        <p:spPr>
          <a:xfrm>
            <a:off x="6905625" y="2075738"/>
            <a:ext cx="2076450" cy="3948448"/>
          </a:xfrm>
          <a:prstGeom prst="rect">
            <a:avLst/>
          </a:prstGeom>
          <a:noFill/>
          <a:ln w="38100">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n w="38100">
                <a:solidFill>
                  <a:schemeClr val="accent2"/>
                </a:solidFill>
              </a:ln>
              <a:solidFill>
                <a:srgbClr val="007DA9"/>
              </a:solidFill>
            </a:endParaRPr>
          </a:p>
        </p:txBody>
      </p:sp>
      <p:sp>
        <p:nvSpPr>
          <p:cNvPr id="15" name="CaixaDeTexto 14">
            <a:extLst>
              <a:ext uri="{FF2B5EF4-FFF2-40B4-BE49-F238E27FC236}">
                <a16:creationId xmlns:a16="http://schemas.microsoft.com/office/drawing/2014/main" id="{643B49F9-958B-0387-80B4-599B0EF2C252}"/>
              </a:ext>
            </a:extLst>
          </p:cNvPr>
          <p:cNvSpPr txBox="1"/>
          <p:nvPr/>
        </p:nvSpPr>
        <p:spPr>
          <a:xfrm>
            <a:off x="268062" y="5681302"/>
            <a:ext cx="1374188" cy="646331"/>
          </a:xfrm>
          <a:prstGeom prst="rect">
            <a:avLst/>
          </a:prstGeom>
          <a:noFill/>
        </p:spPr>
        <p:txBody>
          <a:bodyPr wrap="square" rtlCol="0">
            <a:spAutoFit/>
          </a:bodyPr>
          <a:lstStyle/>
          <a:p>
            <a:pPr algn="l"/>
            <a:r>
              <a:rPr lang="pt-BR" sz="1800" dirty="0">
                <a:solidFill>
                  <a:srgbClr val="007DA9"/>
                </a:solidFill>
                <a:latin typeface="Impact" panose="020B0806030902050204" pitchFamily="34" charset="0"/>
              </a:rPr>
              <a:t>Vendas/</a:t>
            </a:r>
          </a:p>
          <a:p>
            <a:pPr algn="l"/>
            <a:r>
              <a:rPr lang="pt-BR" sz="1800" dirty="0">
                <a:solidFill>
                  <a:srgbClr val="007DA9"/>
                </a:solidFill>
                <a:latin typeface="Impact" panose="020B0806030902050204" pitchFamily="34" charset="0"/>
              </a:rPr>
              <a:t>Itens Venda</a:t>
            </a:r>
          </a:p>
        </p:txBody>
      </p:sp>
      <p:sp>
        <p:nvSpPr>
          <p:cNvPr id="16" name="CaixaDeTexto 15">
            <a:extLst>
              <a:ext uri="{FF2B5EF4-FFF2-40B4-BE49-F238E27FC236}">
                <a16:creationId xmlns:a16="http://schemas.microsoft.com/office/drawing/2014/main" id="{3AF4832F-6B8F-7D60-5EFE-132CFBECCE7C}"/>
              </a:ext>
            </a:extLst>
          </p:cNvPr>
          <p:cNvSpPr txBox="1"/>
          <p:nvPr/>
        </p:nvSpPr>
        <p:spPr>
          <a:xfrm>
            <a:off x="1897529" y="6068287"/>
            <a:ext cx="998763" cy="369332"/>
          </a:xfrm>
          <a:prstGeom prst="rect">
            <a:avLst/>
          </a:prstGeom>
          <a:noFill/>
        </p:spPr>
        <p:txBody>
          <a:bodyPr wrap="square" rtlCol="0">
            <a:spAutoFit/>
          </a:bodyPr>
          <a:lstStyle/>
          <a:p>
            <a:pPr algn="l"/>
            <a:r>
              <a:rPr lang="pt-BR" sz="1800" dirty="0">
                <a:solidFill>
                  <a:srgbClr val="007DA9"/>
                </a:solidFill>
                <a:latin typeface="Impact" panose="020B0806030902050204" pitchFamily="34" charset="0"/>
              </a:rPr>
              <a:t>Clientes</a:t>
            </a:r>
          </a:p>
        </p:txBody>
      </p:sp>
      <p:sp>
        <p:nvSpPr>
          <p:cNvPr id="17" name="CaixaDeTexto 16">
            <a:extLst>
              <a:ext uri="{FF2B5EF4-FFF2-40B4-BE49-F238E27FC236}">
                <a16:creationId xmlns:a16="http://schemas.microsoft.com/office/drawing/2014/main" id="{187ED626-1710-BEC6-6DD3-5F2DC9FC467C}"/>
              </a:ext>
            </a:extLst>
          </p:cNvPr>
          <p:cNvSpPr txBox="1"/>
          <p:nvPr/>
        </p:nvSpPr>
        <p:spPr>
          <a:xfrm>
            <a:off x="4087821" y="5922675"/>
            <a:ext cx="1053426" cy="369332"/>
          </a:xfrm>
          <a:prstGeom prst="rect">
            <a:avLst/>
          </a:prstGeom>
          <a:noFill/>
        </p:spPr>
        <p:txBody>
          <a:bodyPr wrap="square" rtlCol="0">
            <a:spAutoFit/>
          </a:bodyPr>
          <a:lstStyle/>
          <a:p>
            <a:pPr algn="l"/>
            <a:r>
              <a:rPr lang="pt-BR" sz="1800" dirty="0">
                <a:solidFill>
                  <a:srgbClr val="007DA9"/>
                </a:solidFill>
                <a:latin typeface="Impact" panose="020B0806030902050204" pitchFamily="34" charset="0"/>
              </a:rPr>
              <a:t>Produtos</a:t>
            </a:r>
          </a:p>
        </p:txBody>
      </p:sp>
      <p:sp>
        <p:nvSpPr>
          <p:cNvPr id="18" name="CaixaDeTexto 17">
            <a:extLst>
              <a:ext uri="{FF2B5EF4-FFF2-40B4-BE49-F238E27FC236}">
                <a16:creationId xmlns:a16="http://schemas.microsoft.com/office/drawing/2014/main" id="{D8233E5D-E8D9-A596-3A04-B107E9C45184}"/>
              </a:ext>
            </a:extLst>
          </p:cNvPr>
          <p:cNvSpPr txBox="1"/>
          <p:nvPr/>
        </p:nvSpPr>
        <p:spPr>
          <a:xfrm>
            <a:off x="6003782" y="6175014"/>
            <a:ext cx="1225693" cy="369332"/>
          </a:xfrm>
          <a:prstGeom prst="rect">
            <a:avLst/>
          </a:prstGeom>
          <a:noFill/>
        </p:spPr>
        <p:txBody>
          <a:bodyPr wrap="square" rtlCol="0">
            <a:spAutoFit/>
          </a:bodyPr>
          <a:lstStyle/>
          <a:p>
            <a:pPr algn="l"/>
            <a:r>
              <a:rPr lang="pt-BR" sz="1800" dirty="0">
                <a:solidFill>
                  <a:srgbClr val="007DA9"/>
                </a:solidFill>
                <a:latin typeface="Impact" panose="020B0806030902050204" pitchFamily="34" charset="0"/>
              </a:rPr>
              <a:t>Vendedor</a:t>
            </a:r>
          </a:p>
        </p:txBody>
      </p:sp>
      <p:sp>
        <p:nvSpPr>
          <p:cNvPr id="19" name="CaixaDeTexto 18">
            <a:extLst>
              <a:ext uri="{FF2B5EF4-FFF2-40B4-BE49-F238E27FC236}">
                <a16:creationId xmlns:a16="http://schemas.microsoft.com/office/drawing/2014/main" id="{494B6DD5-F474-70AD-2587-0A93E4863EFB}"/>
              </a:ext>
            </a:extLst>
          </p:cNvPr>
          <p:cNvSpPr txBox="1"/>
          <p:nvPr/>
        </p:nvSpPr>
        <p:spPr>
          <a:xfrm>
            <a:off x="8158045" y="6000558"/>
            <a:ext cx="998763" cy="369332"/>
          </a:xfrm>
          <a:prstGeom prst="rect">
            <a:avLst/>
          </a:prstGeom>
          <a:noFill/>
        </p:spPr>
        <p:txBody>
          <a:bodyPr wrap="square" rtlCol="0">
            <a:spAutoFit/>
          </a:bodyPr>
          <a:lstStyle/>
          <a:p>
            <a:pPr algn="l"/>
            <a:r>
              <a:rPr lang="pt-BR" sz="1800" dirty="0">
                <a:solidFill>
                  <a:srgbClr val="007DA9"/>
                </a:solidFill>
                <a:latin typeface="Impact" panose="020B0806030902050204" pitchFamily="34" charset="0"/>
              </a:rPr>
              <a:t>Loja</a:t>
            </a:r>
          </a:p>
        </p:txBody>
      </p:sp>
      <p:sp>
        <p:nvSpPr>
          <p:cNvPr id="20" name="Retângulo 19">
            <a:extLst>
              <a:ext uri="{FF2B5EF4-FFF2-40B4-BE49-F238E27FC236}">
                <a16:creationId xmlns:a16="http://schemas.microsoft.com/office/drawing/2014/main" id="{9DDCC9DE-2A1A-CC56-D445-473BD6C4CE1B}"/>
              </a:ext>
            </a:extLst>
          </p:cNvPr>
          <p:cNvSpPr/>
          <p:nvPr/>
        </p:nvSpPr>
        <p:spPr>
          <a:xfrm>
            <a:off x="10921186" y="1887766"/>
            <a:ext cx="998762" cy="4251382"/>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n w="38100">
                <a:solidFill>
                  <a:schemeClr val="accent2"/>
                </a:solidFill>
              </a:ln>
              <a:solidFill>
                <a:srgbClr val="007DA9"/>
              </a:solidFill>
            </a:endParaRPr>
          </a:p>
        </p:txBody>
      </p:sp>
      <p:sp>
        <p:nvSpPr>
          <p:cNvPr id="21" name="CaixaDeTexto 20">
            <a:extLst>
              <a:ext uri="{FF2B5EF4-FFF2-40B4-BE49-F238E27FC236}">
                <a16:creationId xmlns:a16="http://schemas.microsoft.com/office/drawing/2014/main" id="{686B2A58-693B-B40F-D960-9B4EA9402B1B}"/>
              </a:ext>
            </a:extLst>
          </p:cNvPr>
          <p:cNvSpPr txBox="1"/>
          <p:nvPr/>
        </p:nvSpPr>
        <p:spPr>
          <a:xfrm>
            <a:off x="10705865" y="6084795"/>
            <a:ext cx="1389054" cy="646331"/>
          </a:xfrm>
          <a:prstGeom prst="rect">
            <a:avLst/>
          </a:prstGeom>
          <a:noFill/>
        </p:spPr>
        <p:txBody>
          <a:bodyPr wrap="square" rtlCol="0">
            <a:spAutoFit/>
          </a:bodyPr>
          <a:lstStyle/>
          <a:p>
            <a:pPr algn="ctr"/>
            <a:r>
              <a:rPr lang="pt-BR" sz="1800" dirty="0">
                <a:solidFill>
                  <a:srgbClr val="007DA9"/>
                </a:solidFill>
                <a:latin typeface="Impact" panose="020B0806030902050204" pitchFamily="34" charset="0"/>
              </a:rPr>
              <a:t>Forma Pagamento</a:t>
            </a:r>
          </a:p>
        </p:txBody>
      </p:sp>
      <p:sp>
        <p:nvSpPr>
          <p:cNvPr id="22" name="Espaço Reservado para Rodapé 3">
            <a:extLst>
              <a:ext uri="{FF2B5EF4-FFF2-40B4-BE49-F238E27FC236}">
                <a16:creationId xmlns:a16="http://schemas.microsoft.com/office/drawing/2014/main" id="{C1E4DE3F-91DA-0FFE-61B2-B7B3FC272272}"/>
              </a:ext>
            </a:extLst>
          </p:cNvPr>
          <p:cNvSpPr txBox="1">
            <a:spLocks/>
          </p:cNvSpPr>
          <p:nvPr/>
        </p:nvSpPr>
        <p:spPr>
          <a:xfrm>
            <a:off x="4038600" y="6511998"/>
            <a:ext cx="4114800" cy="365125"/>
          </a:xfrm>
          <a:prstGeom prst="rect">
            <a:avLst/>
          </a:prstGeom>
        </p:spPr>
        <p:txBody>
          <a:bodyPr vert="horz" lIns="91440" tIns="45720" rIns="91440" bIns="45720" rtlCol="0" anchor="ctr"/>
          <a:lstStyle>
            <a:defPPr>
              <a:defRPr lang="pt-B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solidFill>
                  <a:srgbClr val="007DA9"/>
                </a:solidFill>
              </a:rPr>
              <a:t>DBA Assists - Transformando Dados em Informação - www.dbaassists.com.br</a:t>
            </a:r>
            <a:endParaRPr lang="pt-BR" dirty="0">
              <a:solidFill>
                <a:srgbClr val="007DA9"/>
              </a:solidFill>
            </a:endParaRPr>
          </a:p>
        </p:txBody>
      </p:sp>
    </p:spTree>
    <p:extLst>
      <p:ext uri="{BB962C8B-B14F-4D97-AF65-F5344CB8AC3E}">
        <p14:creationId xmlns:p14="http://schemas.microsoft.com/office/powerpoint/2010/main" val="149178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p:bldP spid="16" grpId="0"/>
      <p:bldP spid="17" grpId="0"/>
      <p:bldP spid="18" grpId="0"/>
      <p:bldP spid="19" grpId="0"/>
      <p:bldP spid="20" grpId="0" animBg="1"/>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C322-2FC1-BCB8-A84E-05E5DB587DF5}"/>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75CB30F6-DC5D-5C9F-69EF-E791ACE34B58}"/>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5" name="sketchy line">
            <a:extLst>
              <a:ext uri="{FF2B5EF4-FFF2-40B4-BE49-F238E27FC236}">
                <a16:creationId xmlns:a16="http://schemas.microsoft.com/office/drawing/2014/main" id="{C4EE8E8D-EEBB-9963-6B9A-688C0D9B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DB9BD4E6-2009-3660-131F-028590145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pic>
        <p:nvPicPr>
          <p:cNvPr id="4" name="Imagem 3" descr="Tela de computador com texto preto sobre fundo branco&#10;&#10;Descrição gerada automaticamente">
            <a:extLst>
              <a:ext uri="{FF2B5EF4-FFF2-40B4-BE49-F238E27FC236}">
                <a16:creationId xmlns:a16="http://schemas.microsoft.com/office/drawing/2014/main" id="{F94A628C-C8A9-AA1C-C670-A7DD4E6572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598" y="1343154"/>
            <a:ext cx="11355696" cy="5401182"/>
          </a:xfrm>
          <a:prstGeom prst="rect">
            <a:avLst/>
          </a:prstGeom>
        </p:spPr>
      </p:pic>
      <p:sp>
        <p:nvSpPr>
          <p:cNvPr id="8" name="Estrela: 5 Pontas 7">
            <a:extLst>
              <a:ext uri="{FF2B5EF4-FFF2-40B4-BE49-F238E27FC236}">
                <a16:creationId xmlns:a16="http://schemas.microsoft.com/office/drawing/2014/main" id="{44A05D8F-18A2-96A7-9AFB-456CE14F28CE}"/>
              </a:ext>
            </a:extLst>
          </p:cNvPr>
          <p:cNvSpPr/>
          <p:nvPr/>
        </p:nvSpPr>
        <p:spPr>
          <a:xfrm>
            <a:off x="2558144" y="1408030"/>
            <a:ext cx="6688725" cy="4921884"/>
          </a:xfrm>
          <a:prstGeom prst="star5">
            <a:avLst/>
          </a:prstGeom>
          <a:noFill/>
          <a:ln w="57150">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3">
            <a:extLst>
              <a:ext uri="{FF2B5EF4-FFF2-40B4-BE49-F238E27FC236}">
                <a16:creationId xmlns:a16="http://schemas.microsoft.com/office/drawing/2014/main" id="{87DD0FC8-CCB3-8A55-5DF7-09FAD1CB1767}"/>
              </a:ext>
            </a:extLst>
          </p:cNvPr>
          <p:cNvSpPr>
            <a:spLocks noGrp="1"/>
          </p:cNvSpPr>
          <p:nvPr>
            <p:ph type="ftr" sz="quarter" idx="11"/>
          </p:nvPr>
        </p:nvSpPr>
        <p:spPr>
          <a:xfrm>
            <a:off x="3935046" y="6492875"/>
            <a:ext cx="4114800" cy="365125"/>
          </a:xfrm>
        </p:spPr>
        <p:txBody>
          <a:bodyPr/>
          <a:lstStyle/>
          <a:p>
            <a:r>
              <a:rPr lang="pt-BR" dirty="0"/>
              <a:t>DBA </a:t>
            </a:r>
            <a:r>
              <a:rPr lang="pt-BR" dirty="0" err="1"/>
              <a:t>Assists</a:t>
            </a:r>
            <a:r>
              <a:rPr lang="pt-BR" dirty="0"/>
              <a:t> - Transformando Dados em Informação - www.dbaassists.com.br</a:t>
            </a:r>
          </a:p>
        </p:txBody>
      </p:sp>
    </p:spTree>
    <p:extLst>
      <p:ext uri="{BB962C8B-B14F-4D97-AF65-F5344CB8AC3E}">
        <p14:creationId xmlns:p14="http://schemas.microsoft.com/office/powerpoint/2010/main" val="59249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278F2-0ACB-E2B9-57F2-20AF8A7475F5}"/>
            </a:ext>
          </a:extLst>
        </p:cNvPr>
        <p:cNvGrpSpPr/>
        <p:nvPr/>
      </p:nvGrpSpPr>
      <p:grpSpPr>
        <a:xfrm>
          <a:off x="0" y="0"/>
          <a:ext cx="0" cy="0"/>
          <a:chOff x="0" y="0"/>
          <a:chExt cx="0" cy="0"/>
        </a:xfrm>
      </p:grpSpPr>
      <p:sp>
        <p:nvSpPr>
          <p:cNvPr id="29" name="Retângulo 28">
            <a:extLst>
              <a:ext uri="{FF2B5EF4-FFF2-40B4-BE49-F238E27FC236}">
                <a16:creationId xmlns:a16="http://schemas.microsoft.com/office/drawing/2014/main" id="{C04AC995-926C-3363-567D-E0D222B8F9B9}"/>
              </a:ext>
            </a:extLst>
          </p:cNvPr>
          <p:cNvSpPr/>
          <p:nvPr/>
        </p:nvSpPr>
        <p:spPr>
          <a:xfrm>
            <a:off x="590637" y="2707689"/>
            <a:ext cx="11082291" cy="3515562"/>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pic>
        <p:nvPicPr>
          <p:cNvPr id="4" name="Imagem 3">
            <a:extLst>
              <a:ext uri="{FF2B5EF4-FFF2-40B4-BE49-F238E27FC236}">
                <a16:creationId xmlns:a16="http://schemas.microsoft.com/office/drawing/2014/main" id="{0CE47E24-BC2D-9D35-22E9-BBFEA53C1A50}"/>
              </a:ext>
            </a:extLst>
          </p:cNvPr>
          <p:cNvPicPr>
            <a:picLocks noChangeAspect="1"/>
          </p:cNvPicPr>
          <p:nvPr/>
        </p:nvPicPr>
        <p:blipFill>
          <a:blip r:embed="rId2"/>
          <a:stretch>
            <a:fillRect/>
          </a:stretch>
        </p:blipFill>
        <p:spPr>
          <a:xfrm>
            <a:off x="590637" y="1470643"/>
            <a:ext cx="11082291" cy="1117542"/>
          </a:xfrm>
          <a:prstGeom prst="rect">
            <a:avLst/>
          </a:prstGeom>
        </p:spPr>
      </p:pic>
      <p:sp>
        <p:nvSpPr>
          <p:cNvPr id="5" name="Espaço Reservado para Rodapé 3">
            <a:extLst>
              <a:ext uri="{FF2B5EF4-FFF2-40B4-BE49-F238E27FC236}">
                <a16:creationId xmlns:a16="http://schemas.microsoft.com/office/drawing/2014/main" id="{09E4330F-57E8-3E1A-FF2C-C1DB40A06F37}"/>
              </a:ext>
            </a:extLst>
          </p:cNvPr>
          <p:cNvSpPr>
            <a:spLocks noGrp="1"/>
          </p:cNvSpPr>
          <p:nvPr>
            <p:ph type="ftr" sz="quarter" idx="11"/>
          </p:nvPr>
        </p:nvSpPr>
        <p:spPr>
          <a:xfrm>
            <a:off x="4038600" y="6356350"/>
            <a:ext cx="4114800" cy="365125"/>
          </a:xfrm>
        </p:spPr>
        <p:txBody>
          <a:bodyPr/>
          <a:lstStyle/>
          <a:p>
            <a:r>
              <a:rPr lang="pt-BR" dirty="0"/>
              <a:t>DBA </a:t>
            </a:r>
            <a:r>
              <a:rPr lang="pt-BR" dirty="0" err="1"/>
              <a:t>Assists</a:t>
            </a:r>
            <a:r>
              <a:rPr lang="pt-BR" dirty="0"/>
              <a:t> - Transformando Dados em Informação - www.dbaassists.com.br</a:t>
            </a:r>
          </a:p>
        </p:txBody>
      </p:sp>
      <p:sp>
        <p:nvSpPr>
          <p:cNvPr id="3" name="CaixaDeTexto 2">
            <a:extLst>
              <a:ext uri="{FF2B5EF4-FFF2-40B4-BE49-F238E27FC236}">
                <a16:creationId xmlns:a16="http://schemas.microsoft.com/office/drawing/2014/main" id="{3AABDC94-AA30-1279-ADC8-B4F3F0272DF1}"/>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sketchy line">
            <a:extLst>
              <a:ext uri="{FF2B5EF4-FFF2-40B4-BE49-F238E27FC236}">
                <a16:creationId xmlns:a16="http://schemas.microsoft.com/office/drawing/2014/main" id="{F739B30C-A3B5-E0B6-8B0B-4CD93E18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3E77A132-A233-4733-C77E-5ECA03B34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8" name="Retângulo 7">
            <a:extLst>
              <a:ext uri="{FF2B5EF4-FFF2-40B4-BE49-F238E27FC236}">
                <a16:creationId xmlns:a16="http://schemas.microsoft.com/office/drawing/2014/main" id="{17197C68-E22C-B6DB-C9F3-D377A63D21F6}"/>
              </a:ext>
            </a:extLst>
          </p:cNvPr>
          <p:cNvSpPr/>
          <p:nvPr/>
        </p:nvSpPr>
        <p:spPr>
          <a:xfrm>
            <a:off x="1129196" y="3988357"/>
            <a:ext cx="1743959" cy="900000"/>
          </a:xfrm>
          <a:prstGeom prst="rect">
            <a:avLst/>
          </a:prstGeom>
          <a:solidFill>
            <a:srgbClr val="007DA9"/>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Modelagem Multidimensional</a:t>
            </a:r>
          </a:p>
        </p:txBody>
      </p:sp>
      <p:sp>
        <p:nvSpPr>
          <p:cNvPr id="9" name="Retângulo 8">
            <a:extLst>
              <a:ext uri="{FF2B5EF4-FFF2-40B4-BE49-F238E27FC236}">
                <a16:creationId xmlns:a16="http://schemas.microsoft.com/office/drawing/2014/main" id="{4E4CAD29-C06C-D274-B980-01B4CED21FDB}"/>
              </a:ext>
            </a:extLst>
          </p:cNvPr>
          <p:cNvSpPr/>
          <p:nvPr/>
        </p:nvSpPr>
        <p:spPr>
          <a:xfrm>
            <a:off x="3793976" y="2799746"/>
            <a:ext cx="1743959" cy="900000"/>
          </a:xfrm>
          <a:prstGeom prst="rect">
            <a:avLst/>
          </a:prstGeom>
          <a:solidFill>
            <a:srgbClr val="007DA9"/>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Dimensão (Tempo)</a:t>
            </a:r>
          </a:p>
        </p:txBody>
      </p:sp>
      <p:sp>
        <p:nvSpPr>
          <p:cNvPr id="10" name="Retângulo 9">
            <a:extLst>
              <a:ext uri="{FF2B5EF4-FFF2-40B4-BE49-F238E27FC236}">
                <a16:creationId xmlns:a16="http://schemas.microsoft.com/office/drawing/2014/main" id="{8DA3DC3C-1F60-FEA2-3D25-342A6AB04ABF}"/>
              </a:ext>
            </a:extLst>
          </p:cNvPr>
          <p:cNvSpPr/>
          <p:nvPr/>
        </p:nvSpPr>
        <p:spPr>
          <a:xfrm>
            <a:off x="3793976" y="5176969"/>
            <a:ext cx="1743959" cy="900000"/>
          </a:xfrm>
          <a:prstGeom prst="rect">
            <a:avLst/>
          </a:prstGeom>
          <a:solidFill>
            <a:srgbClr val="007DA9"/>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Dimensões (Outras)</a:t>
            </a:r>
          </a:p>
        </p:txBody>
      </p:sp>
      <p:sp>
        <p:nvSpPr>
          <p:cNvPr id="12" name="Retângulo 11">
            <a:extLst>
              <a:ext uri="{FF2B5EF4-FFF2-40B4-BE49-F238E27FC236}">
                <a16:creationId xmlns:a16="http://schemas.microsoft.com/office/drawing/2014/main" id="{1AC8869B-4DF6-2611-AF68-2F0F58632769}"/>
              </a:ext>
            </a:extLst>
          </p:cNvPr>
          <p:cNvSpPr/>
          <p:nvPr/>
        </p:nvSpPr>
        <p:spPr>
          <a:xfrm>
            <a:off x="3793975" y="3988703"/>
            <a:ext cx="1743959" cy="900000"/>
          </a:xfrm>
          <a:prstGeom prst="rect">
            <a:avLst/>
          </a:prstGeom>
          <a:solidFill>
            <a:srgbClr val="007DA9"/>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Tabela Fato</a:t>
            </a:r>
          </a:p>
        </p:txBody>
      </p:sp>
      <p:cxnSp>
        <p:nvCxnSpPr>
          <p:cNvPr id="16" name="Conector: Angulado 15">
            <a:extLst>
              <a:ext uri="{FF2B5EF4-FFF2-40B4-BE49-F238E27FC236}">
                <a16:creationId xmlns:a16="http://schemas.microsoft.com/office/drawing/2014/main" id="{BC0D20ED-17E3-89F0-D669-C1CB51D47415}"/>
              </a:ext>
            </a:extLst>
          </p:cNvPr>
          <p:cNvCxnSpPr>
            <a:stCxn id="8" idx="3"/>
            <a:endCxn id="9" idx="1"/>
          </p:cNvCxnSpPr>
          <p:nvPr/>
        </p:nvCxnSpPr>
        <p:spPr>
          <a:xfrm flipV="1">
            <a:off x="2873155" y="3249746"/>
            <a:ext cx="920821" cy="1188611"/>
          </a:xfrm>
          <a:prstGeom prst="bentConnector3">
            <a:avLst/>
          </a:prstGeom>
          <a:ln>
            <a:solidFill>
              <a:srgbClr val="007DA9"/>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do 17">
            <a:extLst>
              <a:ext uri="{FF2B5EF4-FFF2-40B4-BE49-F238E27FC236}">
                <a16:creationId xmlns:a16="http://schemas.microsoft.com/office/drawing/2014/main" id="{9F22A6A7-0AB5-573E-BF2E-F866FF96906E}"/>
              </a:ext>
            </a:extLst>
          </p:cNvPr>
          <p:cNvCxnSpPr>
            <a:stCxn id="8" idx="3"/>
            <a:endCxn id="10" idx="1"/>
          </p:cNvCxnSpPr>
          <p:nvPr/>
        </p:nvCxnSpPr>
        <p:spPr>
          <a:xfrm>
            <a:off x="2873155" y="4438357"/>
            <a:ext cx="920821" cy="1188612"/>
          </a:xfrm>
          <a:prstGeom prst="bentConnector3">
            <a:avLst/>
          </a:prstGeom>
          <a:ln>
            <a:solidFill>
              <a:srgbClr val="007DA9"/>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FD657AD5-CFF5-87DF-7860-D62AD70A46CA}"/>
              </a:ext>
            </a:extLst>
          </p:cNvPr>
          <p:cNvCxnSpPr>
            <a:cxnSpLocks/>
            <a:stCxn id="8" idx="3"/>
            <a:endCxn id="12" idx="1"/>
          </p:cNvCxnSpPr>
          <p:nvPr/>
        </p:nvCxnSpPr>
        <p:spPr>
          <a:xfrm>
            <a:off x="2873155" y="4438357"/>
            <a:ext cx="920820" cy="346"/>
          </a:xfrm>
          <a:prstGeom prst="straightConnector1">
            <a:avLst/>
          </a:prstGeom>
          <a:ln>
            <a:solidFill>
              <a:srgbClr val="007DA9"/>
            </a:solidFill>
            <a:tailEnd type="triangle"/>
          </a:ln>
        </p:spPr>
        <p:style>
          <a:lnRef idx="1">
            <a:schemeClr val="accent1"/>
          </a:lnRef>
          <a:fillRef idx="0">
            <a:schemeClr val="accent1"/>
          </a:fillRef>
          <a:effectRef idx="0">
            <a:schemeClr val="accent1"/>
          </a:effectRef>
          <a:fontRef idx="minor">
            <a:schemeClr val="tx1"/>
          </a:fontRef>
        </p:style>
      </p:cxnSp>
      <p:sp>
        <p:nvSpPr>
          <p:cNvPr id="23" name="Retângulo 22">
            <a:extLst>
              <a:ext uri="{FF2B5EF4-FFF2-40B4-BE49-F238E27FC236}">
                <a16:creationId xmlns:a16="http://schemas.microsoft.com/office/drawing/2014/main" id="{2C121E4B-F70A-C1AC-043B-87BD1C9C1C2F}"/>
              </a:ext>
            </a:extLst>
          </p:cNvPr>
          <p:cNvSpPr/>
          <p:nvPr/>
        </p:nvSpPr>
        <p:spPr>
          <a:xfrm>
            <a:off x="7097947" y="3988715"/>
            <a:ext cx="3359948"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Representam os eventos de negócios ou medidas quantitativas</a:t>
            </a:r>
          </a:p>
        </p:txBody>
      </p:sp>
      <p:sp>
        <p:nvSpPr>
          <p:cNvPr id="24" name="Retângulo 23">
            <a:extLst>
              <a:ext uri="{FF2B5EF4-FFF2-40B4-BE49-F238E27FC236}">
                <a16:creationId xmlns:a16="http://schemas.microsoft.com/office/drawing/2014/main" id="{CF0A94D2-F5FC-D963-592F-6F96EF221BB8}"/>
              </a:ext>
            </a:extLst>
          </p:cNvPr>
          <p:cNvSpPr/>
          <p:nvPr/>
        </p:nvSpPr>
        <p:spPr>
          <a:xfrm>
            <a:off x="7097946" y="5176969"/>
            <a:ext cx="335994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Representam os atributos de análise</a:t>
            </a:r>
          </a:p>
        </p:txBody>
      </p:sp>
      <p:cxnSp>
        <p:nvCxnSpPr>
          <p:cNvPr id="26" name="Conector de Seta Reta 25">
            <a:extLst>
              <a:ext uri="{FF2B5EF4-FFF2-40B4-BE49-F238E27FC236}">
                <a16:creationId xmlns:a16="http://schemas.microsoft.com/office/drawing/2014/main" id="{8C110C5C-9E39-F0A0-19D5-5E750E3C926D}"/>
              </a:ext>
            </a:extLst>
          </p:cNvPr>
          <p:cNvCxnSpPr>
            <a:stCxn id="12" idx="3"/>
            <a:endCxn id="23" idx="1"/>
          </p:cNvCxnSpPr>
          <p:nvPr/>
        </p:nvCxnSpPr>
        <p:spPr>
          <a:xfrm>
            <a:off x="5537934" y="4438703"/>
            <a:ext cx="1560013" cy="12"/>
          </a:xfrm>
          <a:prstGeom prst="straightConnector1">
            <a:avLst/>
          </a:prstGeom>
          <a:ln w="38100">
            <a:solidFill>
              <a:srgbClr val="007DA9"/>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4F37EAE3-D52E-65FA-D481-677205493B53}"/>
              </a:ext>
            </a:extLst>
          </p:cNvPr>
          <p:cNvCxnSpPr>
            <a:stCxn id="10" idx="3"/>
            <a:endCxn id="24" idx="1"/>
          </p:cNvCxnSpPr>
          <p:nvPr/>
        </p:nvCxnSpPr>
        <p:spPr>
          <a:xfrm>
            <a:off x="5537935" y="5626969"/>
            <a:ext cx="1560011" cy="0"/>
          </a:xfrm>
          <a:prstGeom prst="straightConnector1">
            <a:avLst/>
          </a:prstGeom>
          <a:ln w="38100">
            <a:solidFill>
              <a:srgbClr val="007DA9"/>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644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278F2-0ACB-E2B9-57F2-20AF8A7475F5}"/>
            </a:ext>
          </a:extLst>
        </p:cNvPr>
        <p:cNvGrpSpPr/>
        <p:nvPr/>
      </p:nvGrpSpPr>
      <p:grpSpPr>
        <a:xfrm>
          <a:off x="0" y="0"/>
          <a:ext cx="0" cy="0"/>
          <a:chOff x="0" y="0"/>
          <a:chExt cx="0" cy="0"/>
        </a:xfrm>
      </p:grpSpPr>
      <p:pic>
        <p:nvPicPr>
          <p:cNvPr id="11" name="Imagem 10">
            <a:extLst>
              <a:ext uri="{FF2B5EF4-FFF2-40B4-BE49-F238E27FC236}">
                <a16:creationId xmlns:a16="http://schemas.microsoft.com/office/drawing/2014/main" id="{B2227E84-16BB-D2DD-B567-A72A82FB9176}"/>
              </a:ext>
            </a:extLst>
          </p:cNvPr>
          <p:cNvPicPr>
            <a:picLocks noChangeAspect="1"/>
          </p:cNvPicPr>
          <p:nvPr/>
        </p:nvPicPr>
        <p:blipFill>
          <a:blip r:embed="rId2"/>
          <a:stretch>
            <a:fillRect/>
          </a:stretch>
        </p:blipFill>
        <p:spPr>
          <a:xfrm>
            <a:off x="590637" y="1464853"/>
            <a:ext cx="11082291" cy="960100"/>
          </a:xfrm>
          <a:prstGeom prst="rect">
            <a:avLst/>
          </a:prstGeom>
        </p:spPr>
      </p:pic>
      <p:sp>
        <p:nvSpPr>
          <p:cNvPr id="29" name="Retângulo 28">
            <a:extLst>
              <a:ext uri="{FF2B5EF4-FFF2-40B4-BE49-F238E27FC236}">
                <a16:creationId xmlns:a16="http://schemas.microsoft.com/office/drawing/2014/main" id="{C04AC995-926C-3363-567D-E0D222B8F9B9}"/>
              </a:ext>
            </a:extLst>
          </p:cNvPr>
          <p:cNvSpPr/>
          <p:nvPr/>
        </p:nvSpPr>
        <p:spPr>
          <a:xfrm>
            <a:off x="590637" y="2707689"/>
            <a:ext cx="11082291" cy="3515562"/>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sp>
        <p:nvSpPr>
          <p:cNvPr id="5" name="Espaço Reservado para Rodapé 3">
            <a:extLst>
              <a:ext uri="{FF2B5EF4-FFF2-40B4-BE49-F238E27FC236}">
                <a16:creationId xmlns:a16="http://schemas.microsoft.com/office/drawing/2014/main" id="{09E4330F-57E8-3E1A-FF2C-C1DB40A06F37}"/>
              </a:ext>
            </a:extLst>
          </p:cNvPr>
          <p:cNvSpPr>
            <a:spLocks noGrp="1"/>
          </p:cNvSpPr>
          <p:nvPr>
            <p:ph type="ftr" sz="quarter" idx="11"/>
          </p:nvPr>
        </p:nvSpPr>
        <p:spPr>
          <a:xfrm>
            <a:off x="4038600" y="6356350"/>
            <a:ext cx="4114800" cy="365125"/>
          </a:xfrm>
          <a:ln>
            <a:solidFill>
              <a:srgbClr val="007DA9"/>
            </a:solidFill>
          </a:ln>
        </p:spPr>
        <p:txBody>
          <a:bodyPr/>
          <a:lstStyle/>
          <a:p>
            <a:r>
              <a:rPr lang="pt-BR" dirty="0"/>
              <a:t>DBA </a:t>
            </a:r>
            <a:r>
              <a:rPr lang="pt-BR" dirty="0" err="1"/>
              <a:t>Assists</a:t>
            </a:r>
            <a:r>
              <a:rPr lang="pt-BR" dirty="0"/>
              <a:t> - Transformando Dados em Informação - www.dbaassists.com.br</a:t>
            </a:r>
          </a:p>
        </p:txBody>
      </p:sp>
      <p:sp>
        <p:nvSpPr>
          <p:cNvPr id="3" name="CaixaDeTexto 2">
            <a:extLst>
              <a:ext uri="{FF2B5EF4-FFF2-40B4-BE49-F238E27FC236}">
                <a16:creationId xmlns:a16="http://schemas.microsoft.com/office/drawing/2014/main" id="{3AABDC94-AA30-1279-ADC8-B4F3F0272DF1}"/>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sketchy line">
            <a:extLst>
              <a:ext uri="{FF2B5EF4-FFF2-40B4-BE49-F238E27FC236}">
                <a16:creationId xmlns:a16="http://schemas.microsoft.com/office/drawing/2014/main" id="{F739B30C-A3B5-E0B6-8B0B-4CD93E18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3E77A132-A233-4733-C77E-5ECA03B34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8" name="Retângulo 7">
            <a:extLst>
              <a:ext uri="{FF2B5EF4-FFF2-40B4-BE49-F238E27FC236}">
                <a16:creationId xmlns:a16="http://schemas.microsoft.com/office/drawing/2014/main" id="{17197C68-E22C-B6DB-C9F3-D377A63D21F6}"/>
              </a:ext>
            </a:extLst>
          </p:cNvPr>
          <p:cNvSpPr/>
          <p:nvPr/>
        </p:nvSpPr>
        <p:spPr>
          <a:xfrm>
            <a:off x="1129196" y="3988357"/>
            <a:ext cx="1743959" cy="900000"/>
          </a:xfrm>
          <a:prstGeom prst="rect">
            <a:avLst/>
          </a:prstGeom>
          <a:solidFill>
            <a:srgbClr val="007DA9"/>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Modelagem Multidimensional/Relacional</a:t>
            </a:r>
          </a:p>
        </p:txBody>
      </p:sp>
      <p:sp>
        <p:nvSpPr>
          <p:cNvPr id="9" name="Retângulo 8">
            <a:extLst>
              <a:ext uri="{FF2B5EF4-FFF2-40B4-BE49-F238E27FC236}">
                <a16:creationId xmlns:a16="http://schemas.microsoft.com/office/drawing/2014/main" id="{4E4CAD29-C06C-D274-B980-01B4CED21FDB}"/>
              </a:ext>
            </a:extLst>
          </p:cNvPr>
          <p:cNvSpPr/>
          <p:nvPr/>
        </p:nvSpPr>
        <p:spPr>
          <a:xfrm>
            <a:off x="3793976" y="2965998"/>
            <a:ext cx="1743959" cy="900000"/>
          </a:xfrm>
          <a:prstGeom prst="rect">
            <a:avLst/>
          </a:prstGeom>
          <a:solidFill>
            <a:srgbClr val="007DA9"/>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Chaves Naturais</a:t>
            </a:r>
          </a:p>
        </p:txBody>
      </p:sp>
      <p:sp>
        <p:nvSpPr>
          <p:cNvPr id="10" name="Retângulo 9">
            <a:extLst>
              <a:ext uri="{FF2B5EF4-FFF2-40B4-BE49-F238E27FC236}">
                <a16:creationId xmlns:a16="http://schemas.microsoft.com/office/drawing/2014/main" id="{8DA3DC3C-1F60-FEA2-3D25-342A6AB04ABF}"/>
              </a:ext>
            </a:extLst>
          </p:cNvPr>
          <p:cNvSpPr/>
          <p:nvPr/>
        </p:nvSpPr>
        <p:spPr>
          <a:xfrm>
            <a:off x="3793976" y="4909117"/>
            <a:ext cx="1743959" cy="900000"/>
          </a:xfrm>
          <a:prstGeom prst="rect">
            <a:avLst/>
          </a:prstGeom>
          <a:solidFill>
            <a:srgbClr val="007DA9"/>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Chaves Artificiais</a:t>
            </a:r>
          </a:p>
        </p:txBody>
      </p:sp>
      <p:cxnSp>
        <p:nvCxnSpPr>
          <p:cNvPr id="16" name="Conector: Angulado 15">
            <a:extLst>
              <a:ext uri="{FF2B5EF4-FFF2-40B4-BE49-F238E27FC236}">
                <a16:creationId xmlns:a16="http://schemas.microsoft.com/office/drawing/2014/main" id="{BC0D20ED-17E3-89F0-D669-C1CB51D47415}"/>
              </a:ext>
            </a:extLst>
          </p:cNvPr>
          <p:cNvCxnSpPr>
            <a:stCxn id="8" idx="3"/>
            <a:endCxn id="9" idx="1"/>
          </p:cNvCxnSpPr>
          <p:nvPr/>
        </p:nvCxnSpPr>
        <p:spPr>
          <a:xfrm flipV="1">
            <a:off x="2873155" y="3415998"/>
            <a:ext cx="920821" cy="1022359"/>
          </a:xfrm>
          <a:prstGeom prst="bentConnector3">
            <a:avLst/>
          </a:prstGeom>
          <a:ln>
            <a:solidFill>
              <a:srgbClr val="007DA9"/>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do 17">
            <a:extLst>
              <a:ext uri="{FF2B5EF4-FFF2-40B4-BE49-F238E27FC236}">
                <a16:creationId xmlns:a16="http://schemas.microsoft.com/office/drawing/2014/main" id="{9F22A6A7-0AB5-573E-BF2E-F866FF96906E}"/>
              </a:ext>
            </a:extLst>
          </p:cNvPr>
          <p:cNvCxnSpPr>
            <a:stCxn id="8" idx="3"/>
            <a:endCxn id="10" idx="1"/>
          </p:cNvCxnSpPr>
          <p:nvPr/>
        </p:nvCxnSpPr>
        <p:spPr>
          <a:xfrm>
            <a:off x="2873155" y="4438357"/>
            <a:ext cx="920821" cy="920760"/>
          </a:xfrm>
          <a:prstGeom prst="bentConnector3">
            <a:avLst/>
          </a:prstGeom>
          <a:ln>
            <a:solidFill>
              <a:srgbClr val="007DA9"/>
            </a:solidFill>
            <a:tailEnd type="triangle"/>
          </a:ln>
        </p:spPr>
        <p:style>
          <a:lnRef idx="1">
            <a:schemeClr val="accent1"/>
          </a:lnRef>
          <a:fillRef idx="0">
            <a:schemeClr val="accent1"/>
          </a:fillRef>
          <a:effectRef idx="0">
            <a:schemeClr val="accent1"/>
          </a:effectRef>
          <a:fontRef idx="minor">
            <a:schemeClr val="tx1"/>
          </a:fontRef>
        </p:style>
      </p:cxnSp>
      <p:sp>
        <p:nvSpPr>
          <p:cNvPr id="23" name="Retângulo 22">
            <a:extLst>
              <a:ext uri="{FF2B5EF4-FFF2-40B4-BE49-F238E27FC236}">
                <a16:creationId xmlns:a16="http://schemas.microsoft.com/office/drawing/2014/main" id="{2C121E4B-F70A-C1AC-043B-87BD1C9C1C2F}"/>
              </a:ext>
            </a:extLst>
          </p:cNvPr>
          <p:cNvSpPr/>
          <p:nvPr/>
        </p:nvSpPr>
        <p:spPr>
          <a:xfrm>
            <a:off x="6654068" y="2965998"/>
            <a:ext cx="4700472"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1200" dirty="0">
                <a:latin typeface="Impact" panose="020B0806030902050204" pitchFamily="34" charset="0"/>
              </a:rPr>
              <a:t>Derivam diretamente dos dados do mundo real e possuem significado intrínseco e estão relacionadas aos atributos.</a:t>
            </a:r>
          </a:p>
          <a:p>
            <a:r>
              <a:rPr lang="pt-BR" sz="1200" dirty="0">
                <a:latin typeface="Impact" panose="020B0806030902050204" pitchFamily="34" charset="0"/>
              </a:rPr>
              <a:t>São frequentemente utilizadas para identificar registros</a:t>
            </a:r>
          </a:p>
        </p:txBody>
      </p:sp>
      <p:sp>
        <p:nvSpPr>
          <p:cNvPr id="24" name="Retângulo 23">
            <a:extLst>
              <a:ext uri="{FF2B5EF4-FFF2-40B4-BE49-F238E27FC236}">
                <a16:creationId xmlns:a16="http://schemas.microsoft.com/office/drawing/2014/main" id="{CF0A94D2-F5FC-D963-592F-6F96EF221BB8}"/>
              </a:ext>
            </a:extLst>
          </p:cNvPr>
          <p:cNvSpPr/>
          <p:nvPr/>
        </p:nvSpPr>
        <p:spPr>
          <a:xfrm>
            <a:off x="6654067" y="4909117"/>
            <a:ext cx="4700473"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1200" dirty="0">
                <a:latin typeface="Impact" panose="020B0806030902050204" pitchFamily="34" charset="0"/>
              </a:rPr>
              <a:t>Criadas especificamente para fins de modelagem e não têm significado no mundo real.</a:t>
            </a:r>
          </a:p>
          <a:p>
            <a:r>
              <a:rPr lang="pt-BR" sz="1200" dirty="0">
                <a:latin typeface="Impact" panose="020B0806030902050204" pitchFamily="34" charset="0"/>
              </a:rPr>
              <a:t>Elas são frequentemente geradas automaticamente, como números sequenciais ou identificadores únicos.</a:t>
            </a:r>
          </a:p>
        </p:txBody>
      </p:sp>
      <p:cxnSp>
        <p:nvCxnSpPr>
          <p:cNvPr id="26" name="Conector de Seta Reta 25">
            <a:extLst>
              <a:ext uri="{FF2B5EF4-FFF2-40B4-BE49-F238E27FC236}">
                <a16:creationId xmlns:a16="http://schemas.microsoft.com/office/drawing/2014/main" id="{8C110C5C-9E39-F0A0-19D5-5E750E3C926D}"/>
              </a:ext>
            </a:extLst>
          </p:cNvPr>
          <p:cNvCxnSpPr>
            <a:cxnSpLocks/>
            <a:stCxn id="9" idx="3"/>
            <a:endCxn id="23" idx="1"/>
          </p:cNvCxnSpPr>
          <p:nvPr/>
        </p:nvCxnSpPr>
        <p:spPr>
          <a:xfrm>
            <a:off x="5537935" y="3415998"/>
            <a:ext cx="1116133" cy="0"/>
          </a:xfrm>
          <a:prstGeom prst="straightConnector1">
            <a:avLst/>
          </a:prstGeom>
          <a:ln w="38100">
            <a:solidFill>
              <a:srgbClr val="007DA9"/>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4F37EAE3-D52E-65FA-D481-677205493B53}"/>
              </a:ext>
            </a:extLst>
          </p:cNvPr>
          <p:cNvCxnSpPr>
            <a:cxnSpLocks/>
            <a:stCxn id="10" idx="3"/>
            <a:endCxn id="24" idx="1"/>
          </p:cNvCxnSpPr>
          <p:nvPr/>
        </p:nvCxnSpPr>
        <p:spPr>
          <a:xfrm>
            <a:off x="5537935" y="5359117"/>
            <a:ext cx="1116132" cy="0"/>
          </a:xfrm>
          <a:prstGeom prst="straightConnector1">
            <a:avLst/>
          </a:prstGeom>
          <a:ln w="38100">
            <a:solidFill>
              <a:srgbClr val="007DA9"/>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918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278F2-0ACB-E2B9-57F2-20AF8A7475F5}"/>
            </a:ext>
          </a:extLst>
        </p:cNvPr>
        <p:cNvGrpSpPr/>
        <p:nvPr/>
      </p:nvGrpSpPr>
      <p:grpSpPr>
        <a:xfrm>
          <a:off x="0" y="0"/>
          <a:ext cx="0" cy="0"/>
          <a:chOff x="0" y="0"/>
          <a:chExt cx="0" cy="0"/>
        </a:xfrm>
      </p:grpSpPr>
      <p:sp>
        <p:nvSpPr>
          <p:cNvPr id="29" name="Retângulo 28">
            <a:extLst>
              <a:ext uri="{FF2B5EF4-FFF2-40B4-BE49-F238E27FC236}">
                <a16:creationId xmlns:a16="http://schemas.microsoft.com/office/drawing/2014/main" id="{C04AC995-926C-3363-567D-E0D222B8F9B9}"/>
              </a:ext>
            </a:extLst>
          </p:cNvPr>
          <p:cNvSpPr/>
          <p:nvPr/>
        </p:nvSpPr>
        <p:spPr>
          <a:xfrm>
            <a:off x="590637" y="2707689"/>
            <a:ext cx="11082291" cy="3515562"/>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pic>
        <p:nvPicPr>
          <p:cNvPr id="4" name="Imagem 3">
            <a:extLst>
              <a:ext uri="{FF2B5EF4-FFF2-40B4-BE49-F238E27FC236}">
                <a16:creationId xmlns:a16="http://schemas.microsoft.com/office/drawing/2014/main" id="{0CE47E24-BC2D-9D35-22E9-BBFEA53C1A50}"/>
              </a:ext>
            </a:extLst>
          </p:cNvPr>
          <p:cNvPicPr>
            <a:picLocks noChangeAspect="1"/>
          </p:cNvPicPr>
          <p:nvPr/>
        </p:nvPicPr>
        <p:blipFill>
          <a:blip r:embed="rId2"/>
          <a:stretch>
            <a:fillRect/>
          </a:stretch>
        </p:blipFill>
        <p:spPr>
          <a:xfrm>
            <a:off x="590637" y="1470643"/>
            <a:ext cx="11082291" cy="1117542"/>
          </a:xfrm>
          <a:prstGeom prst="rect">
            <a:avLst/>
          </a:prstGeom>
        </p:spPr>
      </p:pic>
      <p:sp>
        <p:nvSpPr>
          <p:cNvPr id="5" name="Espaço Reservado para Rodapé 3">
            <a:extLst>
              <a:ext uri="{FF2B5EF4-FFF2-40B4-BE49-F238E27FC236}">
                <a16:creationId xmlns:a16="http://schemas.microsoft.com/office/drawing/2014/main" id="{09E4330F-57E8-3E1A-FF2C-C1DB40A06F37}"/>
              </a:ext>
            </a:extLst>
          </p:cNvPr>
          <p:cNvSpPr>
            <a:spLocks noGrp="1"/>
          </p:cNvSpPr>
          <p:nvPr>
            <p:ph type="ftr" sz="quarter" idx="11"/>
          </p:nvPr>
        </p:nvSpPr>
        <p:spPr>
          <a:xfrm>
            <a:off x="4038600" y="6356350"/>
            <a:ext cx="4114800" cy="365125"/>
          </a:xfrm>
        </p:spPr>
        <p:txBody>
          <a:bodyPr/>
          <a:lstStyle/>
          <a:p>
            <a:r>
              <a:rPr lang="pt-BR" dirty="0"/>
              <a:t>DBA </a:t>
            </a:r>
            <a:r>
              <a:rPr lang="pt-BR" dirty="0" err="1"/>
              <a:t>Assists</a:t>
            </a:r>
            <a:r>
              <a:rPr lang="pt-BR" dirty="0"/>
              <a:t> - Transformando Dados em Informação - www.dbaassists.com.br</a:t>
            </a:r>
          </a:p>
        </p:txBody>
      </p:sp>
      <p:sp>
        <p:nvSpPr>
          <p:cNvPr id="3" name="CaixaDeTexto 2">
            <a:extLst>
              <a:ext uri="{FF2B5EF4-FFF2-40B4-BE49-F238E27FC236}">
                <a16:creationId xmlns:a16="http://schemas.microsoft.com/office/drawing/2014/main" id="{3AABDC94-AA30-1279-ADC8-B4F3F0272DF1}"/>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sketchy line">
            <a:extLst>
              <a:ext uri="{FF2B5EF4-FFF2-40B4-BE49-F238E27FC236}">
                <a16:creationId xmlns:a16="http://schemas.microsoft.com/office/drawing/2014/main" id="{F739B30C-A3B5-E0B6-8B0B-4CD93E18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3E77A132-A233-4733-C77E-5ECA03B34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8" name="Retângulo 7">
            <a:extLst>
              <a:ext uri="{FF2B5EF4-FFF2-40B4-BE49-F238E27FC236}">
                <a16:creationId xmlns:a16="http://schemas.microsoft.com/office/drawing/2014/main" id="{17197C68-E22C-B6DB-C9F3-D377A63D21F6}"/>
              </a:ext>
            </a:extLst>
          </p:cNvPr>
          <p:cNvSpPr/>
          <p:nvPr/>
        </p:nvSpPr>
        <p:spPr>
          <a:xfrm>
            <a:off x="1129196" y="3988357"/>
            <a:ext cx="1743959" cy="900000"/>
          </a:xfrm>
          <a:prstGeom prst="rect">
            <a:avLst/>
          </a:prstGeom>
          <a:solidFill>
            <a:srgbClr val="007DA9"/>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Modelagem Multidimensional</a:t>
            </a:r>
          </a:p>
        </p:txBody>
      </p:sp>
      <p:sp>
        <p:nvSpPr>
          <p:cNvPr id="9" name="Retângulo 8">
            <a:extLst>
              <a:ext uri="{FF2B5EF4-FFF2-40B4-BE49-F238E27FC236}">
                <a16:creationId xmlns:a16="http://schemas.microsoft.com/office/drawing/2014/main" id="{4E4CAD29-C06C-D274-B980-01B4CED21FDB}"/>
              </a:ext>
            </a:extLst>
          </p:cNvPr>
          <p:cNvSpPr/>
          <p:nvPr/>
        </p:nvSpPr>
        <p:spPr>
          <a:xfrm>
            <a:off x="3793976" y="2892106"/>
            <a:ext cx="1743959" cy="900000"/>
          </a:xfrm>
          <a:prstGeom prst="rect">
            <a:avLst/>
          </a:prstGeom>
          <a:solidFill>
            <a:srgbClr val="007DA9"/>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Modelo Star </a:t>
            </a:r>
            <a:r>
              <a:rPr lang="pt-BR" sz="1600" dirty="0" err="1">
                <a:latin typeface="Impact" panose="020B0806030902050204" pitchFamily="34" charset="0"/>
              </a:rPr>
              <a:t>Schema</a:t>
            </a:r>
            <a:endParaRPr lang="pt-BR" sz="1600" dirty="0">
              <a:latin typeface="Impact" panose="020B0806030902050204" pitchFamily="34" charset="0"/>
            </a:endParaRPr>
          </a:p>
        </p:txBody>
      </p:sp>
      <p:sp>
        <p:nvSpPr>
          <p:cNvPr id="10" name="Retângulo 9">
            <a:extLst>
              <a:ext uri="{FF2B5EF4-FFF2-40B4-BE49-F238E27FC236}">
                <a16:creationId xmlns:a16="http://schemas.microsoft.com/office/drawing/2014/main" id="{8DA3DC3C-1F60-FEA2-3D25-342A6AB04ABF}"/>
              </a:ext>
            </a:extLst>
          </p:cNvPr>
          <p:cNvSpPr/>
          <p:nvPr/>
        </p:nvSpPr>
        <p:spPr>
          <a:xfrm>
            <a:off x="3793976" y="5084609"/>
            <a:ext cx="1743959" cy="900000"/>
          </a:xfrm>
          <a:prstGeom prst="rect">
            <a:avLst/>
          </a:prstGeom>
          <a:solidFill>
            <a:srgbClr val="007DA9"/>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Modelo </a:t>
            </a:r>
            <a:r>
              <a:rPr lang="pt-BR" sz="1600" dirty="0" err="1">
                <a:latin typeface="Impact" panose="020B0806030902050204" pitchFamily="34" charset="0"/>
              </a:rPr>
              <a:t>Snowflake</a:t>
            </a:r>
            <a:endParaRPr lang="pt-BR" sz="1600" dirty="0">
              <a:latin typeface="Impact" panose="020B0806030902050204" pitchFamily="34" charset="0"/>
            </a:endParaRPr>
          </a:p>
        </p:txBody>
      </p:sp>
      <p:cxnSp>
        <p:nvCxnSpPr>
          <p:cNvPr id="16" name="Conector: Angulado 15">
            <a:extLst>
              <a:ext uri="{FF2B5EF4-FFF2-40B4-BE49-F238E27FC236}">
                <a16:creationId xmlns:a16="http://schemas.microsoft.com/office/drawing/2014/main" id="{BC0D20ED-17E3-89F0-D669-C1CB51D47415}"/>
              </a:ext>
            </a:extLst>
          </p:cNvPr>
          <p:cNvCxnSpPr>
            <a:stCxn id="8" idx="3"/>
            <a:endCxn id="9" idx="1"/>
          </p:cNvCxnSpPr>
          <p:nvPr/>
        </p:nvCxnSpPr>
        <p:spPr>
          <a:xfrm flipV="1">
            <a:off x="2873155" y="3342106"/>
            <a:ext cx="920821" cy="1096251"/>
          </a:xfrm>
          <a:prstGeom prst="bentConnector3">
            <a:avLst/>
          </a:prstGeom>
          <a:ln>
            <a:solidFill>
              <a:srgbClr val="007DA9"/>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do 17">
            <a:extLst>
              <a:ext uri="{FF2B5EF4-FFF2-40B4-BE49-F238E27FC236}">
                <a16:creationId xmlns:a16="http://schemas.microsoft.com/office/drawing/2014/main" id="{9F22A6A7-0AB5-573E-BF2E-F866FF96906E}"/>
              </a:ext>
            </a:extLst>
          </p:cNvPr>
          <p:cNvCxnSpPr>
            <a:stCxn id="8" idx="3"/>
            <a:endCxn id="10" idx="1"/>
          </p:cNvCxnSpPr>
          <p:nvPr/>
        </p:nvCxnSpPr>
        <p:spPr>
          <a:xfrm>
            <a:off x="2873155" y="4438357"/>
            <a:ext cx="920821" cy="1096252"/>
          </a:xfrm>
          <a:prstGeom prst="bentConnector3">
            <a:avLst/>
          </a:prstGeom>
          <a:ln>
            <a:solidFill>
              <a:srgbClr val="007DA9"/>
            </a:solidFill>
            <a:tailEnd type="triangle"/>
          </a:ln>
        </p:spPr>
        <p:style>
          <a:lnRef idx="1">
            <a:schemeClr val="accent1"/>
          </a:lnRef>
          <a:fillRef idx="0">
            <a:schemeClr val="accent1"/>
          </a:fillRef>
          <a:effectRef idx="0">
            <a:schemeClr val="accent1"/>
          </a:effectRef>
          <a:fontRef idx="minor">
            <a:schemeClr val="tx1"/>
          </a:fontRef>
        </p:style>
      </p:cxnSp>
      <p:sp>
        <p:nvSpPr>
          <p:cNvPr id="23" name="Retângulo 22">
            <a:extLst>
              <a:ext uri="{FF2B5EF4-FFF2-40B4-BE49-F238E27FC236}">
                <a16:creationId xmlns:a16="http://schemas.microsoft.com/office/drawing/2014/main" id="{2C121E4B-F70A-C1AC-043B-87BD1C9C1C2F}"/>
              </a:ext>
            </a:extLst>
          </p:cNvPr>
          <p:cNvSpPr/>
          <p:nvPr/>
        </p:nvSpPr>
        <p:spPr>
          <a:xfrm>
            <a:off x="6654068" y="2892106"/>
            <a:ext cx="4700472"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1200" dirty="0">
                <a:latin typeface="Impact" panose="020B0806030902050204" pitchFamily="34" charset="0"/>
              </a:rPr>
              <a:t>O modelo Star </a:t>
            </a:r>
            <a:r>
              <a:rPr lang="pt-BR" sz="1200" dirty="0" err="1">
                <a:latin typeface="Impact" panose="020B0806030902050204" pitchFamily="34" charset="0"/>
              </a:rPr>
              <a:t>Schema</a:t>
            </a:r>
            <a:r>
              <a:rPr lang="pt-BR" sz="1200" dirty="0">
                <a:latin typeface="Impact" panose="020B0806030902050204" pitchFamily="34" charset="0"/>
              </a:rPr>
              <a:t> é o mais simples e amplamente usado na modelagem multidimensional.</a:t>
            </a:r>
          </a:p>
          <a:p>
            <a:r>
              <a:rPr lang="pt-BR" sz="1200" dirty="0">
                <a:latin typeface="Impact" panose="020B0806030902050204" pitchFamily="34" charset="0"/>
              </a:rPr>
              <a:t>Ele tem esse nome devido ao formato de estrela que o modelo obtém após construído.</a:t>
            </a:r>
          </a:p>
        </p:txBody>
      </p:sp>
      <p:sp>
        <p:nvSpPr>
          <p:cNvPr id="24" name="Retângulo 23">
            <a:extLst>
              <a:ext uri="{FF2B5EF4-FFF2-40B4-BE49-F238E27FC236}">
                <a16:creationId xmlns:a16="http://schemas.microsoft.com/office/drawing/2014/main" id="{CF0A94D2-F5FC-D963-592F-6F96EF221BB8}"/>
              </a:ext>
            </a:extLst>
          </p:cNvPr>
          <p:cNvSpPr/>
          <p:nvPr/>
        </p:nvSpPr>
        <p:spPr>
          <a:xfrm>
            <a:off x="6654067" y="5084609"/>
            <a:ext cx="4700473"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1200" dirty="0">
                <a:latin typeface="Impact" panose="020B0806030902050204" pitchFamily="34" charset="0"/>
              </a:rPr>
              <a:t>O modelo </a:t>
            </a:r>
            <a:r>
              <a:rPr lang="pt-BR" sz="1200" dirty="0" err="1">
                <a:latin typeface="Impact" panose="020B0806030902050204" pitchFamily="34" charset="0"/>
              </a:rPr>
              <a:t>Snowflake</a:t>
            </a:r>
            <a:r>
              <a:rPr lang="pt-BR" sz="1200" dirty="0">
                <a:latin typeface="Impact" panose="020B0806030902050204" pitchFamily="34" charset="0"/>
              </a:rPr>
              <a:t> é uma extensão do modelo Star </a:t>
            </a:r>
            <a:r>
              <a:rPr lang="pt-BR" sz="1200" dirty="0" err="1">
                <a:latin typeface="Impact" panose="020B0806030902050204" pitchFamily="34" charset="0"/>
              </a:rPr>
              <a:t>Schema</a:t>
            </a:r>
            <a:r>
              <a:rPr lang="pt-BR" sz="1200" dirty="0">
                <a:latin typeface="Impact" panose="020B0806030902050204" pitchFamily="34" charset="0"/>
              </a:rPr>
              <a:t>.</a:t>
            </a:r>
          </a:p>
          <a:p>
            <a:r>
              <a:rPr lang="pt-BR" sz="1200" dirty="0">
                <a:latin typeface="Impact" panose="020B0806030902050204" pitchFamily="34" charset="0"/>
              </a:rPr>
              <a:t>Subdivide as tabelas de dimensão em tabelas de </a:t>
            </a:r>
            <a:r>
              <a:rPr lang="pt-BR" sz="1200" dirty="0" err="1">
                <a:latin typeface="Impact" panose="020B0806030902050204" pitchFamily="34" charset="0"/>
              </a:rPr>
              <a:t>subdimensão</a:t>
            </a:r>
            <a:r>
              <a:rPr lang="pt-BR" sz="1200" dirty="0">
                <a:latin typeface="Impact" panose="020B0806030902050204" pitchFamily="34" charset="0"/>
              </a:rPr>
              <a:t>.</a:t>
            </a:r>
          </a:p>
        </p:txBody>
      </p:sp>
      <p:cxnSp>
        <p:nvCxnSpPr>
          <p:cNvPr id="26" name="Conector de Seta Reta 25">
            <a:extLst>
              <a:ext uri="{FF2B5EF4-FFF2-40B4-BE49-F238E27FC236}">
                <a16:creationId xmlns:a16="http://schemas.microsoft.com/office/drawing/2014/main" id="{8C110C5C-9E39-F0A0-19D5-5E750E3C926D}"/>
              </a:ext>
            </a:extLst>
          </p:cNvPr>
          <p:cNvCxnSpPr>
            <a:cxnSpLocks/>
            <a:stCxn id="9" idx="3"/>
            <a:endCxn id="23" idx="1"/>
          </p:cNvCxnSpPr>
          <p:nvPr/>
        </p:nvCxnSpPr>
        <p:spPr>
          <a:xfrm>
            <a:off x="5537935" y="3342106"/>
            <a:ext cx="1116133" cy="0"/>
          </a:xfrm>
          <a:prstGeom prst="straightConnector1">
            <a:avLst/>
          </a:prstGeom>
          <a:ln w="38100">
            <a:solidFill>
              <a:srgbClr val="007DA9"/>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4F37EAE3-D52E-65FA-D481-677205493B53}"/>
              </a:ext>
            </a:extLst>
          </p:cNvPr>
          <p:cNvCxnSpPr>
            <a:cxnSpLocks/>
            <a:stCxn id="10" idx="3"/>
            <a:endCxn id="24" idx="1"/>
          </p:cNvCxnSpPr>
          <p:nvPr/>
        </p:nvCxnSpPr>
        <p:spPr>
          <a:xfrm>
            <a:off x="5537935" y="5534609"/>
            <a:ext cx="1116132" cy="0"/>
          </a:xfrm>
          <a:prstGeom prst="straightConnector1">
            <a:avLst/>
          </a:prstGeom>
          <a:ln w="38100">
            <a:solidFill>
              <a:srgbClr val="007DA9"/>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0204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278F2-0ACB-E2B9-57F2-20AF8A7475F5}"/>
            </a:ext>
          </a:extLst>
        </p:cNvPr>
        <p:cNvGrpSpPr/>
        <p:nvPr/>
      </p:nvGrpSpPr>
      <p:grpSpPr>
        <a:xfrm>
          <a:off x="0" y="0"/>
          <a:ext cx="0" cy="0"/>
          <a:chOff x="0" y="0"/>
          <a:chExt cx="0" cy="0"/>
        </a:xfrm>
      </p:grpSpPr>
      <p:sp>
        <p:nvSpPr>
          <p:cNvPr id="29" name="Retângulo 28">
            <a:extLst>
              <a:ext uri="{FF2B5EF4-FFF2-40B4-BE49-F238E27FC236}">
                <a16:creationId xmlns:a16="http://schemas.microsoft.com/office/drawing/2014/main" id="{C04AC995-926C-3363-567D-E0D222B8F9B9}"/>
              </a:ext>
            </a:extLst>
          </p:cNvPr>
          <p:cNvSpPr/>
          <p:nvPr/>
        </p:nvSpPr>
        <p:spPr>
          <a:xfrm>
            <a:off x="590637" y="2707689"/>
            <a:ext cx="11082291" cy="3515562"/>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pic>
        <p:nvPicPr>
          <p:cNvPr id="4" name="Imagem 3">
            <a:extLst>
              <a:ext uri="{FF2B5EF4-FFF2-40B4-BE49-F238E27FC236}">
                <a16:creationId xmlns:a16="http://schemas.microsoft.com/office/drawing/2014/main" id="{0CE47E24-BC2D-9D35-22E9-BBFEA53C1A50}"/>
              </a:ext>
            </a:extLst>
          </p:cNvPr>
          <p:cNvPicPr>
            <a:picLocks noChangeAspect="1"/>
          </p:cNvPicPr>
          <p:nvPr/>
        </p:nvPicPr>
        <p:blipFill>
          <a:blip r:embed="rId2"/>
          <a:stretch>
            <a:fillRect/>
          </a:stretch>
        </p:blipFill>
        <p:spPr>
          <a:xfrm>
            <a:off x="590637" y="1470643"/>
            <a:ext cx="11082291" cy="1117542"/>
          </a:xfrm>
          <a:prstGeom prst="rect">
            <a:avLst/>
          </a:prstGeom>
        </p:spPr>
      </p:pic>
      <p:sp>
        <p:nvSpPr>
          <p:cNvPr id="5" name="Espaço Reservado para Rodapé 3">
            <a:extLst>
              <a:ext uri="{FF2B5EF4-FFF2-40B4-BE49-F238E27FC236}">
                <a16:creationId xmlns:a16="http://schemas.microsoft.com/office/drawing/2014/main" id="{09E4330F-57E8-3E1A-FF2C-C1DB40A06F37}"/>
              </a:ext>
            </a:extLst>
          </p:cNvPr>
          <p:cNvSpPr>
            <a:spLocks noGrp="1"/>
          </p:cNvSpPr>
          <p:nvPr>
            <p:ph type="ftr" sz="quarter" idx="11"/>
          </p:nvPr>
        </p:nvSpPr>
        <p:spPr>
          <a:xfrm>
            <a:off x="4038600" y="6356350"/>
            <a:ext cx="4114800" cy="365125"/>
          </a:xfrm>
        </p:spPr>
        <p:txBody>
          <a:bodyPr/>
          <a:lstStyle/>
          <a:p>
            <a:r>
              <a:rPr lang="pt-BR" dirty="0"/>
              <a:t>DBA </a:t>
            </a:r>
            <a:r>
              <a:rPr lang="pt-BR" dirty="0" err="1"/>
              <a:t>Assists</a:t>
            </a:r>
            <a:r>
              <a:rPr lang="pt-BR" dirty="0"/>
              <a:t> - Transformando Dados em Informação - www.dbaassists.com.br</a:t>
            </a:r>
          </a:p>
        </p:txBody>
      </p:sp>
      <p:sp>
        <p:nvSpPr>
          <p:cNvPr id="3" name="CaixaDeTexto 2">
            <a:extLst>
              <a:ext uri="{FF2B5EF4-FFF2-40B4-BE49-F238E27FC236}">
                <a16:creationId xmlns:a16="http://schemas.microsoft.com/office/drawing/2014/main" id="{3AABDC94-AA30-1279-ADC8-B4F3F0272DF1}"/>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sketchy line">
            <a:extLst>
              <a:ext uri="{FF2B5EF4-FFF2-40B4-BE49-F238E27FC236}">
                <a16:creationId xmlns:a16="http://schemas.microsoft.com/office/drawing/2014/main" id="{F739B30C-A3B5-E0B6-8B0B-4CD93E18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3E77A132-A233-4733-C77E-5ECA03B34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8" name="Retângulo 7">
            <a:extLst>
              <a:ext uri="{FF2B5EF4-FFF2-40B4-BE49-F238E27FC236}">
                <a16:creationId xmlns:a16="http://schemas.microsoft.com/office/drawing/2014/main" id="{17197C68-E22C-B6DB-C9F3-D377A63D21F6}"/>
              </a:ext>
            </a:extLst>
          </p:cNvPr>
          <p:cNvSpPr/>
          <p:nvPr/>
        </p:nvSpPr>
        <p:spPr>
          <a:xfrm>
            <a:off x="1129196" y="3988357"/>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Modelagem Multidimensional</a:t>
            </a:r>
          </a:p>
          <a:p>
            <a:pPr algn="ctr"/>
            <a:r>
              <a:rPr lang="pt-BR" sz="1600" dirty="0">
                <a:latin typeface="Impact" panose="020B0806030902050204" pitchFamily="34" charset="0"/>
              </a:rPr>
              <a:t>(Características)</a:t>
            </a:r>
          </a:p>
        </p:txBody>
      </p:sp>
      <p:sp>
        <p:nvSpPr>
          <p:cNvPr id="9" name="Retângulo 8">
            <a:extLst>
              <a:ext uri="{FF2B5EF4-FFF2-40B4-BE49-F238E27FC236}">
                <a16:creationId xmlns:a16="http://schemas.microsoft.com/office/drawing/2014/main" id="{4E4CAD29-C06C-D274-B980-01B4CED21FDB}"/>
              </a:ext>
            </a:extLst>
          </p:cNvPr>
          <p:cNvSpPr/>
          <p:nvPr/>
        </p:nvSpPr>
        <p:spPr>
          <a:xfrm>
            <a:off x="3793976" y="3154855"/>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Modelo Star </a:t>
            </a:r>
            <a:r>
              <a:rPr lang="pt-BR" sz="1600" dirty="0" err="1">
                <a:latin typeface="Impact" panose="020B0806030902050204" pitchFamily="34" charset="0"/>
              </a:rPr>
              <a:t>Schema</a:t>
            </a:r>
            <a:endParaRPr lang="pt-BR" sz="1600" dirty="0">
              <a:latin typeface="Impact" panose="020B0806030902050204" pitchFamily="34" charset="0"/>
            </a:endParaRPr>
          </a:p>
        </p:txBody>
      </p:sp>
      <p:sp>
        <p:nvSpPr>
          <p:cNvPr id="10" name="Retângulo 9">
            <a:extLst>
              <a:ext uri="{FF2B5EF4-FFF2-40B4-BE49-F238E27FC236}">
                <a16:creationId xmlns:a16="http://schemas.microsoft.com/office/drawing/2014/main" id="{8DA3DC3C-1F60-FEA2-3D25-342A6AB04ABF}"/>
              </a:ext>
            </a:extLst>
          </p:cNvPr>
          <p:cNvSpPr/>
          <p:nvPr/>
        </p:nvSpPr>
        <p:spPr>
          <a:xfrm>
            <a:off x="3793976" y="4928391"/>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Modelo </a:t>
            </a:r>
            <a:r>
              <a:rPr lang="pt-BR" sz="1600" dirty="0" err="1">
                <a:latin typeface="Impact" panose="020B0806030902050204" pitchFamily="34" charset="0"/>
              </a:rPr>
              <a:t>Snowflake</a:t>
            </a:r>
            <a:endParaRPr lang="pt-BR" sz="1600" dirty="0">
              <a:latin typeface="Impact" panose="020B0806030902050204" pitchFamily="34" charset="0"/>
            </a:endParaRPr>
          </a:p>
        </p:txBody>
      </p:sp>
      <p:cxnSp>
        <p:nvCxnSpPr>
          <p:cNvPr id="16" name="Conector: Angulado 15">
            <a:extLst>
              <a:ext uri="{FF2B5EF4-FFF2-40B4-BE49-F238E27FC236}">
                <a16:creationId xmlns:a16="http://schemas.microsoft.com/office/drawing/2014/main" id="{BC0D20ED-17E3-89F0-D669-C1CB51D47415}"/>
              </a:ext>
            </a:extLst>
          </p:cNvPr>
          <p:cNvCxnSpPr>
            <a:stCxn id="8" idx="3"/>
            <a:endCxn id="9" idx="1"/>
          </p:cNvCxnSpPr>
          <p:nvPr/>
        </p:nvCxnSpPr>
        <p:spPr>
          <a:xfrm flipV="1">
            <a:off x="2873155" y="3604855"/>
            <a:ext cx="920821" cy="8335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do 17">
            <a:extLst>
              <a:ext uri="{FF2B5EF4-FFF2-40B4-BE49-F238E27FC236}">
                <a16:creationId xmlns:a16="http://schemas.microsoft.com/office/drawing/2014/main" id="{9F22A6A7-0AB5-573E-BF2E-F866FF96906E}"/>
              </a:ext>
            </a:extLst>
          </p:cNvPr>
          <p:cNvCxnSpPr>
            <a:stCxn id="8" idx="3"/>
            <a:endCxn id="10" idx="1"/>
          </p:cNvCxnSpPr>
          <p:nvPr/>
        </p:nvCxnSpPr>
        <p:spPr>
          <a:xfrm>
            <a:off x="2873155" y="4438357"/>
            <a:ext cx="920821" cy="9400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tângulo 22">
            <a:extLst>
              <a:ext uri="{FF2B5EF4-FFF2-40B4-BE49-F238E27FC236}">
                <a16:creationId xmlns:a16="http://schemas.microsoft.com/office/drawing/2014/main" id="{2C121E4B-F70A-C1AC-043B-87BD1C9C1C2F}"/>
              </a:ext>
            </a:extLst>
          </p:cNvPr>
          <p:cNvSpPr/>
          <p:nvPr/>
        </p:nvSpPr>
        <p:spPr>
          <a:xfrm>
            <a:off x="6654068" y="2950667"/>
            <a:ext cx="4700472" cy="131061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1200" dirty="0">
                <a:latin typeface="Impact" panose="020B0806030902050204" pitchFamily="34" charset="0"/>
              </a:rPr>
              <a:t>Tabelas de Fatos: Contêm fatos ocorridos e chaves para características referentes.</a:t>
            </a:r>
          </a:p>
          <a:p>
            <a:r>
              <a:rPr lang="pt-BR" sz="1200" dirty="0">
                <a:latin typeface="Impact" panose="020B0806030902050204" pitchFamily="34" charset="0"/>
              </a:rPr>
              <a:t>Dimensões: Armazenam atributos de análise.</a:t>
            </a:r>
          </a:p>
          <a:p>
            <a:r>
              <a:rPr lang="pt-BR" sz="1200" dirty="0">
                <a:latin typeface="Impact" panose="020B0806030902050204" pitchFamily="34" charset="0"/>
              </a:rPr>
              <a:t>Performance: Consultas rápidas devido à menor quantidade de chaves externas e menos necessidade de junções.</a:t>
            </a:r>
          </a:p>
        </p:txBody>
      </p:sp>
      <p:sp>
        <p:nvSpPr>
          <p:cNvPr id="24" name="Retângulo 23">
            <a:extLst>
              <a:ext uri="{FF2B5EF4-FFF2-40B4-BE49-F238E27FC236}">
                <a16:creationId xmlns:a16="http://schemas.microsoft.com/office/drawing/2014/main" id="{CF0A94D2-F5FC-D963-592F-6F96EF221BB8}"/>
              </a:ext>
            </a:extLst>
          </p:cNvPr>
          <p:cNvSpPr/>
          <p:nvPr/>
        </p:nvSpPr>
        <p:spPr>
          <a:xfrm>
            <a:off x="6654067" y="4710802"/>
            <a:ext cx="4700473" cy="13104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1200" dirty="0">
                <a:latin typeface="Impact" panose="020B0806030902050204" pitchFamily="34" charset="0"/>
              </a:rPr>
              <a:t>Normalização: As tabelas de dimensão são normalizadas.</a:t>
            </a:r>
          </a:p>
          <a:p>
            <a:r>
              <a:rPr lang="pt-BR" sz="1200" dirty="0">
                <a:latin typeface="Impact" panose="020B0806030902050204" pitchFamily="34" charset="0"/>
              </a:rPr>
              <a:t>Governança de Dados: Não apresenta redundâncias.</a:t>
            </a:r>
          </a:p>
          <a:p>
            <a:r>
              <a:rPr lang="pt-BR" sz="1200" dirty="0">
                <a:latin typeface="Impact" panose="020B0806030902050204" pitchFamily="34" charset="0"/>
              </a:rPr>
              <a:t>Complexidade: Mais complexo e mais lento devido às várias junções necessárias durante a análise.</a:t>
            </a:r>
          </a:p>
        </p:txBody>
      </p:sp>
      <p:cxnSp>
        <p:nvCxnSpPr>
          <p:cNvPr id="26" name="Conector de Seta Reta 25">
            <a:extLst>
              <a:ext uri="{FF2B5EF4-FFF2-40B4-BE49-F238E27FC236}">
                <a16:creationId xmlns:a16="http://schemas.microsoft.com/office/drawing/2014/main" id="{8C110C5C-9E39-F0A0-19D5-5E750E3C926D}"/>
              </a:ext>
            </a:extLst>
          </p:cNvPr>
          <p:cNvCxnSpPr>
            <a:cxnSpLocks/>
            <a:stCxn id="9" idx="3"/>
            <a:endCxn id="23" idx="1"/>
          </p:cNvCxnSpPr>
          <p:nvPr/>
        </p:nvCxnSpPr>
        <p:spPr>
          <a:xfrm>
            <a:off x="5537935" y="3604855"/>
            <a:ext cx="1116133" cy="1120"/>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4F37EAE3-D52E-65FA-D481-677205493B53}"/>
              </a:ext>
            </a:extLst>
          </p:cNvPr>
          <p:cNvCxnSpPr>
            <a:cxnSpLocks/>
            <a:stCxn id="10" idx="3"/>
            <a:endCxn id="24" idx="1"/>
          </p:cNvCxnSpPr>
          <p:nvPr/>
        </p:nvCxnSpPr>
        <p:spPr>
          <a:xfrm flipV="1">
            <a:off x="5537935" y="5366002"/>
            <a:ext cx="1116132" cy="12389"/>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0916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278F2-0ACB-E2B9-57F2-20AF8A7475F5}"/>
            </a:ext>
          </a:extLst>
        </p:cNvPr>
        <p:cNvGrpSpPr/>
        <p:nvPr/>
      </p:nvGrpSpPr>
      <p:grpSpPr>
        <a:xfrm>
          <a:off x="0" y="0"/>
          <a:ext cx="0" cy="0"/>
          <a:chOff x="0" y="0"/>
          <a:chExt cx="0" cy="0"/>
        </a:xfrm>
      </p:grpSpPr>
      <p:sp>
        <p:nvSpPr>
          <p:cNvPr id="29" name="Retângulo 28">
            <a:extLst>
              <a:ext uri="{FF2B5EF4-FFF2-40B4-BE49-F238E27FC236}">
                <a16:creationId xmlns:a16="http://schemas.microsoft.com/office/drawing/2014/main" id="{C04AC995-926C-3363-567D-E0D222B8F9B9}"/>
              </a:ext>
            </a:extLst>
          </p:cNvPr>
          <p:cNvSpPr/>
          <p:nvPr/>
        </p:nvSpPr>
        <p:spPr>
          <a:xfrm>
            <a:off x="590637" y="2495826"/>
            <a:ext cx="11082291" cy="4192656"/>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pic>
        <p:nvPicPr>
          <p:cNvPr id="4" name="Imagem 3">
            <a:extLst>
              <a:ext uri="{FF2B5EF4-FFF2-40B4-BE49-F238E27FC236}">
                <a16:creationId xmlns:a16="http://schemas.microsoft.com/office/drawing/2014/main" id="{0CE47E24-BC2D-9D35-22E9-BBFEA53C1A50}"/>
              </a:ext>
            </a:extLst>
          </p:cNvPr>
          <p:cNvPicPr>
            <a:picLocks noChangeAspect="1"/>
          </p:cNvPicPr>
          <p:nvPr/>
        </p:nvPicPr>
        <p:blipFill>
          <a:blip r:embed="rId2"/>
          <a:stretch>
            <a:fillRect/>
          </a:stretch>
        </p:blipFill>
        <p:spPr>
          <a:xfrm>
            <a:off x="590637" y="1378283"/>
            <a:ext cx="11082291" cy="1117542"/>
          </a:xfrm>
          <a:prstGeom prst="rect">
            <a:avLst/>
          </a:prstGeom>
        </p:spPr>
      </p:pic>
      <p:sp>
        <p:nvSpPr>
          <p:cNvPr id="5" name="Espaço Reservado para Rodapé 3">
            <a:extLst>
              <a:ext uri="{FF2B5EF4-FFF2-40B4-BE49-F238E27FC236}">
                <a16:creationId xmlns:a16="http://schemas.microsoft.com/office/drawing/2014/main" id="{09E4330F-57E8-3E1A-FF2C-C1DB40A06F37}"/>
              </a:ext>
            </a:extLst>
          </p:cNvPr>
          <p:cNvSpPr>
            <a:spLocks noGrp="1"/>
          </p:cNvSpPr>
          <p:nvPr>
            <p:ph type="ftr" sz="quarter" idx="11"/>
          </p:nvPr>
        </p:nvSpPr>
        <p:spPr>
          <a:xfrm>
            <a:off x="4038600" y="6356350"/>
            <a:ext cx="4114800" cy="365125"/>
          </a:xfrm>
        </p:spPr>
        <p:txBody>
          <a:bodyPr/>
          <a:lstStyle/>
          <a:p>
            <a:r>
              <a:rPr lang="pt-BR" dirty="0"/>
              <a:t>DBA </a:t>
            </a:r>
            <a:r>
              <a:rPr lang="pt-BR" dirty="0" err="1"/>
              <a:t>Assists</a:t>
            </a:r>
            <a:r>
              <a:rPr lang="pt-BR" dirty="0"/>
              <a:t> - Transformando Dados em Informação - www.dbaassists.com.br</a:t>
            </a:r>
          </a:p>
        </p:txBody>
      </p:sp>
      <p:sp>
        <p:nvSpPr>
          <p:cNvPr id="3" name="CaixaDeTexto 2">
            <a:extLst>
              <a:ext uri="{FF2B5EF4-FFF2-40B4-BE49-F238E27FC236}">
                <a16:creationId xmlns:a16="http://schemas.microsoft.com/office/drawing/2014/main" id="{3AABDC94-AA30-1279-ADC8-B4F3F0272DF1}"/>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sketchy line">
            <a:extLst>
              <a:ext uri="{FF2B5EF4-FFF2-40B4-BE49-F238E27FC236}">
                <a16:creationId xmlns:a16="http://schemas.microsoft.com/office/drawing/2014/main" id="{F739B30C-A3B5-E0B6-8B0B-4CD93E18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3E77A132-A233-4733-C77E-5ECA03B34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8" name="Retângulo 7">
            <a:extLst>
              <a:ext uri="{FF2B5EF4-FFF2-40B4-BE49-F238E27FC236}">
                <a16:creationId xmlns:a16="http://schemas.microsoft.com/office/drawing/2014/main" id="{17197C68-E22C-B6DB-C9F3-D377A63D21F6}"/>
              </a:ext>
            </a:extLst>
          </p:cNvPr>
          <p:cNvSpPr/>
          <p:nvPr/>
        </p:nvSpPr>
        <p:spPr>
          <a:xfrm>
            <a:off x="1129196" y="3988357"/>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Modelagem Multidimensional</a:t>
            </a:r>
          </a:p>
          <a:p>
            <a:pPr algn="ctr"/>
            <a:r>
              <a:rPr lang="pt-BR" sz="1600" dirty="0">
                <a:latin typeface="Impact" panose="020B0806030902050204" pitchFamily="34" charset="0"/>
              </a:rPr>
              <a:t>(Características)</a:t>
            </a:r>
          </a:p>
        </p:txBody>
      </p:sp>
      <p:sp>
        <p:nvSpPr>
          <p:cNvPr id="9" name="Retângulo 8">
            <a:extLst>
              <a:ext uri="{FF2B5EF4-FFF2-40B4-BE49-F238E27FC236}">
                <a16:creationId xmlns:a16="http://schemas.microsoft.com/office/drawing/2014/main" id="{4E4CAD29-C06C-D274-B980-01B4CED21FDB}"/>
              </a:ext>
            </a:extLst>
          </p:cNvPr>
          <p:cNvSpPr/>
          <p:nvPr/>
        </p:nvSpPr>
        <p:spPr>
          <a:xfrm>
            <a:off x="3793976" y="2960890"/>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Modelo Star </a:t>
            </a:r>
            <a:r>
              <a:rPr lang="pt-BR" sz="1600" dirty="0" err="1">
                <a:latin typeface="Impact" panose="020B0806030902050204" pitchFamily="34" charset="0"/>
              </a:rPr>
              <a:t>Schema</a:t>
            </a:r>
            <a:endParaRPr lang="pt-BR" sz="1600" dirty="0">
              <a:latin typeface="Impact" panose="020B0806030902050204" pitchFamily="34" charset="0"/>
            </a:endParaRPr>
          </a:p>
        </p:txBody>
      </p:sp>
      <p:sp>
        <p:nvSpPr>
          <p:cNvPr id="10" name="Retângulo 9">
            <a:extLst>
              <a:ext uri="{FF2B5EF4-FFF2-40B4-BE49-F238E27FC236}">
                <a16:creationId xmlns:a16="http://schemas.microsoft.com/office/drawing/2014/main" id="{8DA3DC3C-1F60-FEA2-3D25-342A6AB04ABF}"/>
              </a:ext>
            </a:extLst>
          </p:cNvPr>
          <p:cNvSpPr/>
          <p:nvPr/>
        </p:nvSpPr>
        <p:spPr>
          <a:xfrm>
            <a:off x="3793976" y="5094639"/>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Modelo </a:t>
            </a:r>
            <a:r>
              <a:rPr lang="pt-BR" sz="1600" dirty="0" err="1">
                <a:latin typeface="Impact" panose="020B0806030902050204" pitchFamily="34" charset="0"/>
              </a:rPr>
              <a:t>Snowflake</a:t>
            </a:r>
            <a:endParaRPr lang="pt-BR" sz="1600" dirty="0">
              <a:latin typeface="Impact" panose="020B0806030902050204" pitchFamily="34" charset="0"/>
            </a:endParaRPr>
          </a:p>
        </p:txBody>
      </p:sp>
      <p:cxnSp>
        <p:nvCxnSpPr>
          <p:cNvPr id="16" name="Conector: Angulado 15">
            <a:extLst>
              <a:ext uri="{FF2B5EF4-FFF2-40B4-BE49-F238E27FC236}">
                <a16:creationId xmlns:a16="http://schemas.microsoft.com/office/drawing/2014/main" id="{BC0D20ED-17E3-89F0-D669-C1CB51D47415}"/>
              </a:ext>
            </a:extLst>
          </p:cNvPr>
          <p:cNvCxnSpPr>
            <a:stCxn id="8" idx="3"/>
            <a:endCxn id="9" idx="1"/>
          </p:cNvCxnSpPr>
          <p:nvPr/>
        </p:nvCxnSpPr>
        <p:spPr>
          <a:xfrm flipV="1">
            <a:off x="2873155" y="3410890"/>
            <a:ext cx="920821" cy="10274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do 17">
            <a:extLst>
              <a:ext uri="{FF2B5EF4-FFF2-40B4-BE49-F238E27FC236}">
                <a16:creationId xmlns:a16="http://schemas.microsoft.com/office/drawing/2014/main" id="{9F22A6A7-0AB5-573E-BF2E-F866FF96906E}"/>
              </a:ext>
            </a:extLst>
          </p:cNvPr>
          <p:cNvCxnSpPr>
            <a:stCxn id="8" idx="3"/>
            <a:endCxn id="10" idx="1"/>
          </p:cNvCxnSpPr>
          <p:nvPr/>
        </p:nvCxnSpPr>
        <p:spPr>
          <a:xfrm>
            <a:off x="2873155" y="4438357"/>
            <a:ext cx="920821" cy="11062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25">
            <a:extLst>
              <a:ext uri="{FF2B5EF4-FFF2-40B4-BE49-F238E27FC236}">
                <a16:creationId xmlns:a16="http://schemas.microsoft.com/office/drawing/2014/main" id="{8C110C5C-9E39-F0A0-19D5-5E750E3C926D}"/>
              </a:ext>
            </a:extLst>
          </p:cNvPr>
          <p:cNvCxnSpPr>
            <a:cxnSpLocks/>
            <a:stCxn id="9" idx="3"/>
          </p:cNvCxnSpPr>
          <p:nvPr/>
        </p:nvCxnSpPr>
        <p:spPr>
          <a:xfrm>
            <a:off x="5537935" y="3410890"/>
            <a:ext cx="1116133" cy="1120"/>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4F37EAE3-D52E-65FA-D481-677205493B53}"/>
              </a:ext>
            </a:extLst>
          </p:cNvPr>
          <p:cNvCxnSpPr>
            <a:cxnSpLocks/>
            <a:stCxn id="10" idx="3"/>
          </p:cNvCxnSpPr>
          <p:nvPr/>
        </p:nvCxnSpPr>
        <p:spPr>
          <a:xfrm flipV="1">
            <a:off x="5537935" y="5532250"/>
            <a:ext cx="1116132" cy="12389"/>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pic>
        <p:nvPicPr>
          <p:cNvPr id="2" name="Picture 2" descr="Understand star schema and the importance for Power BI - Power BI |  Microsoft Learn">
            <a:extLst>
              <a:ext uri="{FF2B5EF4-FFF2-40B4-BE49-F238E27FC236}">
                <a16:creationId xmlns:a16="http://schemas.microsoft.com/office/drawing/2014/main" id="{9A7AC480-690E-D3BB-FE04-840FC9434C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0345" y="2588555"/>
            <a:ext cx="2650173" cy="187132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Snowflake schema - Wikipedia">
            <a:extLst>
              <a:ext uri="{FF2B5EF4-FFF2-40B4-BE49-F238E27FC236}">
                <a16:creationId xmlns:a16="http://schemas.microsoft.com/office/drawing/2014/main" id="{2C8B1D1B-1401-E735-E8B0-A53506D3A9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80344" y="4639553"/>
            <a:ext cx="2650173" cy="1601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814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278F2-0ACB-E2B9-57F2-20AF8A7475F5}"/>
            </a:ext>
          </a:extLst>
        </p:cNvPr>
        <p:cNvGrpSpPr/>
        <p:nvPr/>
      </p:nvGrpSpPr>
      <p:grpSpPr>
        <a:xfrm>
          <a:off x="0" y="0"/>
          <a:ext cx="0" cy="0"/>
          <a:chOff x="0" y="0"/>
          <a:chExt cx="0" cy="0"/>
        </a:xfrm>
      </p:grpSpPr>
      <p:sp>
        <p:nvSpPr>
          <p:cNvPr id="29" name="Retângulo 28">
            <a:extLst>
              <a:ext uri="{FF2B5EF4-FFF2-40B4-BE49-F238E27FC236}">
                <a16:creationId xmlns:a16="http://schemas.microsoft.com/office/drawing/2014/main" id="{C04AC995-926C-3363-567D-E0D222B8F9B9}"/>
              </a:ext>
            </a:extLst>
          </p:cNvPr>
          <p:cNvSpPr/>
          <p:nvPr/>
        </p:nvSpPr>
        <p:spPr>
          <a:xfrm>
            <a:off x="590637" y="2588186"/>
            <a:ext cx="11082291" cy="4100296"/>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pic>
        <p:nvPicPr>
          <p:cNvPr id="4" name="Imagem 3">
            <a:extLst>
              <a:ext uri="{FF2B5EF4-FFF2-40B4-BE49-F238E27FC236}">
                <a16:creationId xmlns:a16="http://schemas.microsoft.com/office/drawing/2014/main" id="{0CE47E24-BC2D-9D35-22E9-BBFEA53C1A50}"/>
              </a:ext>
            </a:extLst>
          </p:cNvPr>
          <p:cNvPicPr>
            <a:picLocks noChangeAspect="1"/>
          </p:cNvPicPr>
          <p:nvPr/>
        </p:nvPicPr>
        <p:blipFill>
          <a:blip r:embed="rId2"/>
          <a:stretch>
            <a:fillRect/>
          </a:stretch>
        </p:blipFill>
        <p:spPr>
          <a:xfrm>
            <a:off x="590637" y="1470643"/>
            <a:ext cx="11082291" cy="1117542"/>
          </a:xfrm>
          <a:prstGeom prst="rect">
            <a:avLst/>
          </a:prstGeom>
        </p:spPr>
      </p:pic>
      <p:sp>
        <p:nvSpPr>
          <p:cNvPr id="5" name="Espaço Reservado para Rodapé 3">
            <a:extLst>
              <a:ext uri="{FF2B5EF4-FFF2-40B4-BE49-F238E27FC236}">
                <a16:creationId xmlns:a16="http://schemas.microsoft.com/office/drawing/2014/main" id="{09E4330F-57E8-3E1A-FF2C-C1DB40A06F37}"/>
              </a:ext>
            </a:extLst>
          </p:cNvPr>
          <p:cNvSpPr>
            <a:spLocks noGrp="1"/>
          </p:cNvSpPr>
          <p:nvPr>
            <p:ph type="ftr" sz="quarter" idx="11"/>
          </p:nvPr>
        </p:nvSpPr>
        <p:spPr>
          <a:xfrm>
            <a:off x="3808700" y="6482594"/>
            <a:ext cx="4114800" cy="365125"/>
          </a:xfrm>
        </p:spPr>
        <p:txBody>
          <a:bodyPr/>
          <a:lstStyle/>
          <a:p>
            <a:r>
              <a:rPr lang="pt-BR" dirty="0"/>
              <a:t>DBA </a:t>
            </a:r>
            <a:r>
              <a:rPr lang="pt-BR" dirty="0" err="1"/>
              <a:t>Assists</a:t>
            </a:r>
            <a:r>
              <a:rPr lang="pt-BR" dirty="0"/>
              <a:t> - Transformando Dados em Informação - www.dbaassists.com.br</a:t>
            </a:r>
          </a:p>
        </p:txBody>
      </p:sp>
      <p:sp>
        <p:nvSpPr>
          <p:cNvPr id="3" name="CaixaDeTexto 2">
            <a:extLst>
              <a:ext uri="{FF2B5EF4-FFF2-40B4-BE49-F238E27FC236}">
                <a16:creationId xmlns:a16="http://schemas.microsoft.com/office/drawing/2014/main" id="{3AABDC94-AA30-1279-ADC8-B4F3F0272DF1}"/>
              </a:ext>
            </a:extLst>
          </p:cNvPr>
          <p:cNvSpPr txBox="1"/>
          <p:nvPr/>
        </p:nvSpPr>
        <p:spPr>
          <a:xfrm>
            <a:off x="130373" y="169518"/>
            <a:ext cx="10487075" cy="1107996"/>
          </a:xfrm>
          <a:prstGeom prst="rect">
            <a:avLst/>
          </a:prstGeom>
          <a:noFill/>
        </p:spPr>
        <p:txBody>
          <a:bodyPr wrap="square" rtlCol="0">
            <a:spAutoFit/>
          </a:bodyPr>
          <a:lstStyle/>
          <a:p>
            <a:r>
              <a:rPr lang="pt-BR" sz="6600" dirty="0">
                <a:solidFill>
                  <a:srgbClr val="007DA9"/>
                </a:solidFill>
                <a:latin typeface="Impact" panose="020B0806030902050204" pitchFamily="34" charset="0"/>
              </a:rPr>
              <a:t>Modelagem de Dados</a:t>
            </a:r>
          </a:p>
        </p:txBody>
      </p:sp>
      <p:sp>
        <p:nvSpPr>
          <p:cNvPr id="6" name="sketchy line">
            <a:extLst>
              <a:ext uri="{FF2B5EF4-FFF2-40B4-BE49-F238E27FC236}">
                <a16:creationId xmlns:a16="http://schemas.microsoft.com/office/drawing/2014/main" id="{F739B30C-A3B5-E0B6-8B0B-4CD93E18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3E77A132-A233-4733-C77E-5ECA03B34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8" name="Retângulo 7">
            <a:extLst>
              <a:ext uri="{FF2B5EF4-FFF2-40B4-BE49-F238E27FC236}">
                <a16:creationId xmlns:a16="http://schemas.microsoft.com/office/drawing/2014/main" id="{17197C68-E22C-B6DB-C9F3-D377A63D21F6}"/>
              </a:ext>
            </a:extLst>
          </p:cNvPr>
          <p:cNvSpPr/>
          <p:nvPr/>
        </p:nvSpPr>
        <p:spPr>
          <a:xfrm>
            <a:off x="1129196" y="3988357"/>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latin typeface="Impact" panose="020B0806030902050204" pitchFamily="34" charset="0"/>
              </a:rPr>
              <a:t>Modelagem Multidimensional</a:t>
            </a:r>
          </a:p>
          <a:p>
            <a:pPr algn="ctr"/>
            <a:r>
              <a:rPr lang="pt-BR" sz="1400" dirty="0">
                <a:latin typeface="Impact" panose="020B0806030902050204" pitchFamily="34" charset="0"/>
              </a:rPr>
              <a:t>(Quando Usar e Quando Não Usar)</a:t>
            </a:r>
          </a:p>
        </p:txBody>
      </p:sp>
      <p:sp>
        <p:nvSpPr>
          <p:cNvPr id="9" name="Retângulo 8">
            <a:extLst>
              <a:ext uri="{FF2B5EF4-FFF2-40B4-BE49-F238E27FC236}">
                <a16:creationId xmlns:a16="http://schemas.microsoft.com/office/drawing/2014/main" id="{4E4CAD29-C06C-D274-B980-01B4CED21FDB}"/>
              </a:ext>
            </a:extLst>
          </p:cNvPr>
          <p:cNvSpPr/>
          <p:nvPr/>
        </p:nvSpPr>
        <p:spPr>
          <a:xfrm>
            <a:off x="3793976" y="3154855"/>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Modelo Star </a:t>
            </a:r>
            <a:r>
              <a:rPr lang="pt-BR" sz="1600" dirty="0" err="1">
                <a:latin typeface="Impact" panose="020B0806030902050204" pitchFamily="34" charset="0"/>
              </a:rPr>
              <a:t>Schema</a:t>
            </a:r>
            <a:endParaRPr lang="pt-BR" sz="1600" dirty="0">
              <a:latin typeface="Impact" panose="020B0806030902050204" pitchFamily="34" charset="0"/>
            </a:endParaRPr>
          </a:p>
        </p:txBody>
      </p:sp>
      <p:sp>
        <p:nvSpPr>
          <p:cNvPr id="10" name="Retângulo 9">
            <a:extLst>
              <a:ext uri="{FF2B5EF4-FFF2-40B4-BE49-F238E27FC236}">
                <a16:creationId xmlns:a16="http://schemas.microsoft.com/office/drawing/2014/main" id="{8DA3DC3C-1F60-FEA2-3D25-342A6AB04ABF}"/>
              </a:ext>
            </a:extLst>
          </p:cNvPr>
          <p:cNvSpPr/>
          <p:nvPr/>
        </p:nvSpPr>
        <p:spPr>
          <a:xfrm>
            <a:off x="3793976" y="4928391"/>
            <a:ext cx="1743959" cy="9000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Modelo </a:t>
            </a:r>
            <a:r>
              <a:rPr lang="pt-BR" sz="1600" dirty="0" err="1">
                <a:latin typeface="Impact" panose="020B0806030902050204" pitchFamily="34" charset="0"/>
              </a:rPr>
              <a:t>Snowflake</a:t>
            </a:r>
            <a:endParaRPr lang="pt-BR" sz="1600" dirty="0">
              <a:latin typeface="Impact" panose="020B0806030902050204" pitchFamily="34" charset="0"/>
            </a:endParaRPr>
          </a:p>
        </p:txBody>
      </p:sp>
      <p:cxnSp>
        <p:nvCxnSpPr>
          <p:cNvPr id="16" name="Conector: Angulado 15">
            <a:extLst>
              <a:ext uri="{FF2B5EF4-FFF2-40B4-BE49-F238E27FC236}">
                <a16:creationId xmlns:a16="http://schemas.microsoft.com/office/drawing/2014/main" id="{BC0D20ED-17E3-89F0-D669-C1CB51D47415}"/>
              </a:ext>
            </a:extLst>
          </p:cNvPr>
          <p:cNvCxnSpPr>
            <a:stCxn id="8" idx="3"/>
            <a:endCxn id="9" idx="1"/>
          </p:cNvCxnSpPr>
          <p:nvPr/>
        </p:nvCxnSpPr>
        <p:spPr>
          <a:xfrm flipV="1">
            <a:off x="2873155" y="3604855"/>
            <a:ext cx="920821" cy="8335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do 17">
            <a:extLst>
              <a:ext uri="{FF2B5EF4-FFF2-40B4-BE49-F238E27FC236}">
                <a16:creationId xmlns:a16="http://schemas.microsoft.com/office/drawing/2014/main" id="{9F22A6A7-0AB5-573E-BF2E-F866FF96906E}"/>
              </a:ext>
            </a:extLst>
          </p:cNvPr>
          <p:cNvCxnSpPr>
            <a:stCxn id="8" idx="3"/>
            <a:endCxn id="10" idx="1"/>
          </p:cNvCxnSpPr>
          <p:nvPr/>
        </p:nvCxnSpPr>
        <p:spPr>
          <a:xfrm>
            <a:off x="2873155" y="4438357"/>
            <a:ext cx="920821" cy="9400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tângulo 22">
            <a:extLst>
              <a:ext uri="{FF2B5EF4-FFF2-40B4-BE49-F238E27FC236}">
                <a16:creationId xmlns:a16="http://schemas.microsoft.com/office/drawing/2014/main" id="{2C121E4B-F70A-C1AC-043B-87BD1C9C1C2F}"/>
              </a:ext>
            </a:extLst>
          </p:cNvPr>
          <p:cNvSpPr/>
          <p:nvPr/>
        </p:nvSpPr>
        <p:spPr>
          <a:xfrm>
            <a:off x="6654068" y="2950667"/>
            <a:ext cx="4700472" cy="1310615"/>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1200" dirty="0">
                <a:latin typeface="Impact" panose="020B0806030902050204" pitchFamily="34" charset="0"/>
              </a:rPr>
              <a:t>Para análise rápida e simplicidade.</a:t>
            </a:r>
          </a:p>
          <a:p>
            <a:r>
              <a:rPr lang="pt-BR" sz="1200" dirty="0">
                <a:latin typeface="Impact" panose="020B0806030902050204" pitchFamily="34" charset="0"/>
              </a:rPr>
              <a:t>Quando a performance é crucial.</a:t>
            </a:r>
          </a:p>
          <a:p>
            <a:endParaRPr lang="pt-BR" sz="1200" dirty="0">
              <a:latin typeface="Impact" panose="020B0806030902050204" pitchFamily="34" charset="0"/>
            </a:endParaRPr>
          </a:p>
          <a:p>
            <a:r>
              <a:rPr lang="pt-BR" sz="1200" dirty="0">
                <a:latin typeface="Impact" panose="020B0806030902050204" pitchFamily="34" charset="0"/>
              </a:rPr>
              <a:t>Evite o Star </a:t>
            </a:r>
            <a:r>
              <a:rPr lang="pt-BR" sz="1200" dirty="0" err="1">
                <a:latin typeface="Impact" panose="020B0806030902050204" pitchFamily="34" charset="0"/>
              </a:rPr>
              <a:t>Schema</a:t>
            </a:r>
            <a:r>
              <a:rPr lang="pt-BR" sz="1200" dirty="0">
                <a:latin typeface="Impact" panose="020B0806030902050204" pitchFamily="34" charset="0"/>
              </a:rPr>
              <a:t> se a governança de dados for prioridade.</a:t>
            </a:r>
          </a:p>
        </p:txBody>
      </p:sp>
      <p:sp>
        <p:nvSpPr>
          <p:cNvPr id="24" name="Retângulo 23">
            <a:extLst>
              <a:ext uri="{FF2B5EF4-FFF2-40B4-BE49-F238E27FC236}">
                <a16:creationId xmlns:a16="http://schemas.microsoft.com/office/drawing/2014/main" id="{CF0A94D2-F5FC-D963-592F-6F96EF221BB8}"/>
              </a:ext>
            </a:extLst>
          </p:cNvPr>
          <p:cNvSpPr/>
          <p:nvPr/>
        </p:nvSpPr>
        <p:spPr>
          <a:xfrm>
            <a:off x="6654067" y="4710802"/>
            <a:ext cx="4700473" cy="1310400"/>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1200" dirty="0">
                <a:latin typeface="Impact" panose="020B0806030902050204" pitchFamily="34" charset="0"/>
              </a:rPr>
              <a:t>Para governança de dados e normalização.</a:t>
            </a:r>
          </a:p>
          <a:p>
            <a:r>
              <a:rPr lang="pt-BR" sz="1200" dirty="0">
                <a:latin typeface="Impact" panose="020B0806030902050204" pitchFamily="34" charset="0"/>
              </a:rPr>
              <a:t>Quando a complexidade não é um problema.</a:t>
            </a:r>
          </a:p>
          <a:p>
            <a:endParaRPr lang="pt-BR" sz="1200" dirty="0">
              <a:latin typeface="Impact" panose="020B0806030902050204" pitchFamily="34" charset="0"/>
            </a:endParaRPr>
          </a:p>
          <a:p>
            <a:r>
              <a:rPr lang="pt-BR" sz="1200" dirty="0">
                <a:latin typeface="Impact" panose="020B0806030902050204" pitchFamily="34" charset="0"/>
              </a:rPr>
              <a:t>Evite o </a:t>
            </a:r>
            <a:r>
              <a:rPr lang="pt-BR" sz="1200" dirty="0" err="1">
                <a:latin typeface="Impact" panose="020B0806030902050204" pitchFamily="34" charset="0"/>
              </a:rPr>
              <a:t>Snowflake</a:t>
            </a:r>
            <a:r>
              <a:rPr lang="pt-BR" sz="1200" dirty="0">
                <a:latin typeface="Impact" panose="020B0806030902050204" pitchFamily="34" charset="0"/>
              </a:rPr>
              <a:t> se a performance for crítica.</a:t>
            </a:r>
          </a:p>
        </p:txBody>
      </p:sp>
      <p:cxnSp>
        <p:nvCxnSpPr>
          <p:cNvPr id="26" name="Conector de Seta Reta 25">
            <a:extLst>
              <a:ext uri="{FF2B5EF4-FFF2-40B4-BE49-F238E27FC236}">
                <a16:creationId xmlns:a16="http://schemas.microsoft.com/office/drawing/2014/main" id="{8C110C5C-9E39-F0A0-19D5-5E750E3C926D}"/>
              </a:ext>
            </a:extLst>
          </p:cNvPr>
          <p:cNvCxnSpPr>
            <a:cxnSpLocks/>
            <a:stCxn id="9" idx="3"/>
            <a:endCxn id="23" idx="1"/>
          </p:cNvCxnSpPr>
          <p:nvPr/>
        </p:nvCxnSpPr>
        <p:spPr>
          <a:xfrm>
            <a:off x="5537935" y="3604855"/>
            <a:ext cx="1116133" cy="1120"/>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4F37EAE3-D52E-65FA-D481-677205493B53}"/>
              </a:ext>
            </a:extLst>
          </p:cNvPr>
          <p:cNvCxnSpPr>
            <a:cxnSpLocks/>
            <a:stCxn id="10" idx="3"/>
            <a:endCxn id="24" idx="1"/>
          </p:cNvCxnSpPr>
          <p:nvPr/>
        </p:nvCxnSpPr>
        <p:spPr>
          <a:xfrm flipV="1">
            <a:off x="5537935" y="5366002"/>
            <a:ext cx="1116132" cy="12389"/>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Retângulo 1">
            <a:extLst>
              <a:ext uri="{FF2B5EF4-FFF2-40B4-BE49-F238E27FC236}">
                <a16:creationId xmlns:a16="http://schemas.microsoft.com/office/drawing/2014/main" id="{ACAC95BB-3E37-5278-4BAB-B0E9A87D3428}"/>
              </a:ext>
            </a:extLst>
          </p:cNvPr>
          <p:cNvSpPr/>
          <p:nvPr/>
        </p:nvSpPr>
        <p:spPr>
          <a:xfrm>
            <a:off x="6680701" y="3199245"/>
            <a:ext cx="4629451" cy="450000"/>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C956A63A-9C70-8DB9-45F1-5B51389EFA1A}"/>
              </a:ext>
            </a:extLst>
          </p:cNvPr>
          <p:cNvSpPr/>
          <p:nvPr/>
        </p:nvSpPr>
        <p:spPr>
          <a:xfrm>
            <a:off x="6680700" y="4955113"/>
            <a:ext cx="4629451" cy="450000"/>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37979C34-5109-949E-E5D1-B3D75EA67EEE}"/>
              </a:ext>
            </a:extLst>
          </p:cNvPr>
          <p:cNvSpPr/>
          <p:nvPr/>
        </p:nvSpPr>
        <p:spPr>
          <a:xfrm>
            <a:off x="6680699" y="3739074"/>
            <a:ext cx="4629451" cy="4500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AF6EA7E1-89B0-63E5-3FC4-7D17A5F34E4F}"/>
              </a:ext>
            </a:extLst>
          </p:cNvPr>
          <p:cNvSpPr/>
          <p:nvPr/>
        </p:nvSpPr>
        <p:spPr>
          <a:xfrm>
            <a:off x="6680699" y="5479279"/>
            <a:ext cx="4629451" cy="4500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D4827626-BE4F-E105-0ED6-2FBD6B255C42}"/>
              </a:ext>
            </a:extLst>
          </p:cNvPr>
          <p:cNvSpPr/>
          <p:nvPr/>
        </p:nvSpPr>
        <p:spPr>
          <a:xfrm>
            <a:off x="1305017" y="4663357"/>
            <a:ext cx="1372827" cy="2250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6834B060-245E-89A8-1A47-0422435F367B}"/>
              </a:ext>
            </a:extLst>
          </p:cNvPr>
          <p:cNvSpPr/>
          <p:nvPr/>
        </p:nvSpPr>
        <p:spPr>
          <a:xfrm>
            <a:off x="1363948" y="4417758"/>
            <a:ext cx="1372827" cy="225000"/>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Angulado 18">
            <a:extLst>
              <a:ext uri="{FF2B5EF4-FFF2-40B4-BE49-F238E27FC236}">
                <a16:creationId xmlns:a16="http://schemas.microsoft.com/office/drawing/2014/main" id="{F445D078-16D0-39F3-D5F5-9BD75A298173}"/>
              </a:ext>
            </a:extLst>
          </p:cNvPr>
          <p:cNvCxnSpPr>
            <a:cxnSpLocks/>
            <a:stCxn id="15" idx="0"/>
            <a:endCxn id="2" idx="0"/>
          </p:cNvCxnSpPr>
          <p:nvPr/>
        </p:nvCxnSpPr>
        <p:spPr>
          <a:xfrm rot="5400000" flipH="1" flipV="1">
            <a:off x="4913638" y="335970"/>
            <a:ext cx="1218513" cy="6945065"/>
          </a:xfrm>
          <a:prstGeom prst="bentConnector3">
            <a:avLst>
              <a:gd name="adj1" fmla="val 131147"/>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do 24">
            <a:extLst>
              <a:ext uri="{FF2B5EF4-FFF2-40B4-BE49-F238E27FC236}">
                <a16:creationId xmlns:a16="http://schemas.microsoft.com/office/drawing/2014/main" id="{D70452BD-8118-AAB6-3CE0-C7C8CA7AF0BA}"/>
              </a:ext>
            </a:extLst>
          </p:cNvPr>
          <p:cNvCxnSpPr>
            <a:cxnSpLocks/>
            <a:stCxn id="15" idx="3"/>
            <a:endCxn id="11" idx="0"/>
          </p:cNvCxnSpPr>
          <p:nvPr/>
        </p:nvCxnSpPr>
        <p:spPr>
          <a:xfrm>
            <a:off x="2736775" y="4530258"/>
            <a:ext cx="6258651" cy="424855"/>
          </a:xfrm>
          <a:prstGeom prst="bentConnector2">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Angulado 29">
            <a:extLst>
              <a:ext uri="{FF2B5EF4-FFF2-40B4-BE49-F238E27FC236}">
                <a16:creationId xmlns:a16="http://schemas.microsoft.com/office/drawing/2014/main" id="{0D23C428-7A8E-77BE-FA6C-1618525C2B37}"/>
              </a:ext>
            </a:extLst>
          </p:cNvPr>
          <p:cNvCxnSpPr>
            <a:stCxn id="14" idx="2"/>
            <a:endCxn id="24" idx="2"/>
          </p:cNvCxnSpPr>
          <p:nvPr/>
        </p:nvCxnSpPr>
        <p:spPr>
          <a:xfrm rot="16200000" flipH="1">
            <a:off x="4931445" y="1948342"/>
            <a:ext cx="1132845" cy="7012873"/>
          </a:xfrm>
          <a:prstGeom prst="bentConnector3">
            <a:avLst>
              <a:gd name="adj1" fmla="val 106857"/>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Angulado 32">
            <a:extLst>
              <a:ext uri="{FF2B5EF4-FFF2-40B4-BE49-F238E27FC236}">
                <a16:creationId xmlns:a16="http://schemas.microsoft.com/office/drawing/2014/main" id="{A5A482CA-3D1B-5010-92B2-970F3E9EA496}"/>
              </a:ext>
            </a:extLst>
          </p:cNvPr>
          <p:cNvCxnSpPr>
            <a:cxnSpLocks/>
            <a:stCxn id="14" idx="3"/>
            <a:endCxn id="12" idx="1"/>
          </p:cNvCxnSpPr>
          <p:nvPr/>
        </p:nvCxnSpPr>
        <p:spPr>
          <a:xfrm flipV="1">
            <a:off x="2677844" y="3964074"/>
            <a:ext cx="4002855" cy="811783"/>
          </a:xfrm>
          <a:prstGeom prst="bentConnector3">
            <a:avLst>
              <a:gd name="adj1" fmla="val 89477"/>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CaixaDeTexto 36">
            <a:extLst>
              <a:ext uri="{FF2B5EF4-FFF2-40B4-BE49-F238E27FC236}">
                <a16:creationId xmlns:a16="http://schemas.microsoft.com/office/drawing/2014/main" id="{D69D3341-52E2-EDCF-24E1-F02CD2B92E30}"/>
              </a:ext>
            </a:extLst>
          </p:cNvPr>
          <p:cNvSpPr txBox="1"/>
          <p:nvPr/>
        </p:nvSpPr>
        <p:spPr>
          <a:xfrm>
            <a:off x="550814" y="6153947"/>
            <a:ext cx="11193568" cy="523220"/>
          </a:xfrm>
          <a:prstGeom prst="rect">
            <a:avLst/>
          </a:prstGeom>
          <a:noFill/>
        </p:spPr>
        <p:txBody>
          <a:bodyPr wrap="square">
            <a:spAutoFit/>
          </a:bodyPr>
          <a:lstStyle/>
          <a:p>
            <a:r>
              <a:rPr lang="pt-BR" sz="1400" dirty="0">
                <a:latin typeface="Impact" panose="020B0806030902050204" pitchFamily="34" charset="0"/>
              </a:rPr>
              <a:t>Em resumo, escolha o modelo (Star </a:t>
            </a:r>
            <a:r>
              <a:rPr lang="pt-BR" sz="1400" dirty="0" err="1">
                <a:latin typeface="Impact" panose="020B0806030902050204" pitchFamily="34" charset="0"/>
              </a:rPr>
              <a:t>Schema</a:t>
            </a:r>
            <a:r>
              <a:rPr lang="pt-BR" sz="1400" dirty="0">
                <a:latin typeface="Impact" panose="020B0806030902050204" pitchFamily="34" charset="0"/>
              </a:rPr>
              <a:t> ou </a:t>
            </a:r>
            <a:r>
              <a:rPr lang="pt-BR" sz="1400" dirty="0" err="1">
                <a:latin typeface="Impact" panose="020B0806030902050204" pitchFamily="34" charset="0"/>
              </a:rPr>
              <a:t>Snowflake</a:t>
            </a:r>
            <a:r>
              <a:rPr lang="pt-BR" sz="1400" dirty="0">
                <a:latin typeface="Impact" panose="020B0806030902050204" pitchFamily="34" charset="0"/>
              </a:rPr>
              <a:t>) com base nas necessidades específicas do projeto, considerando performance, governança e complexidade. </a:t>
            </a:r>
          </a:p>
        </p:txBody>
      </p:sp>
    </p:spTree>
    <p:extLst>
      <p:ext uri="{BB962C8B-B14F-4D97-AF65-F5344CB8AC3E}">
        <p14:creationId xmlns:p14="http://schemas.microsoft.com/office/powerpoint/2010/main" val="132826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2" grpId="0" animBg="1"/>
      <p:bldP spid="13" grpId="0" animBg="1"/>
      <p:bldP spid="14" grpId="0" animBg="1"/>
      <p:bldP spid="15" grpId="0" animBg="1"/>
      <p:bldP spid="3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CB59A-62EE-E24B-D952-13D73B0B8CC3}"/>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3B021BF6-E3BB-D280-FEAC-0036E33808A8}"/>
              </a:ext>
            </a:extLst>
          </p:cNvPr>
          <p:cNvSpPr txBox="1"/>
          <p:nvPr/>
        </p:nvSpPr>
        <p:spPr>
          <a:xfrm>
            <a:off x="0" y="1834306"/>
            <a:ext cx="11655876" cy="4154984"/>
          </a:xfrm>
          <a:prstGeom prst="rect">
            <a:avLst/>
          </a:prstGeom>
          <a:noFill/>
        </p:spPr>
        <p:txBody>
          <a:bodyPr wrap="square" rtlCol="0">
            <a:spAutoFit/>
          </a:bodyPr>
          <a:lstStyle/>
          <a:p>
            <a:pPr algn="ctr"/>
            <a:r>
              <a:rPr lang="pt-BR" sz="8800" dirty="0">
                <a:solidFill>
                  <a:srgbClr val="007DA9"/>
                </a:solidFill>
                <a:latin typeface="Impact" panose="020B0806030902050204" pitchFamily="34" charset="0"/>
              </a:rPr>
              <a:t>Já ouviu falar? Pode explicar como que funciona?</a:t>
            </a:r>
            <a:endParaRPr lang="en-US" sz="8800" dirty="0">
              <a:solidFill>
                <a:srgbClr val="007DA9"/>
              </a:solidFill>
              <a:latin typeface="Impact" panose="020B0806030902050204" pitchFamily="34" charset="0"/>
            </a:endParaRPr>
          </a:p>
        </p:txBody>
      </p:sp>
      <p:sp>
        <p:nvSpPr>
          <p:cNvPr id="11" name="Retângulo 10">
            <a:extLst>
              <a:ext uri="{FF2B5EF4-FFF2-40B4-BE49-F238E27FC236}">
                <a16:creationId xmlns:a16="http://schemas.microsoft.com/office/drawing/2014/main" id="{1661CA45-2168-89A7-0225-F9AC51D213F0}"/>
              </a:ext>
            </a:extLst>
          </p:cNvPr>
          <p:cNvSpPr/>
          <p:nvPr/>
        </p:nvSpPr>
        <p:spPr>
          <a:xfrm>
            <a:off x="268062" y="1635110"/>
            <a:ext cx="11655876" cy="49213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ketchy line">
            <a:extLst>
              <a:ext uri="{FF2B5EF4-FFF2-40B4-BE49-F238E27FC236}">
                <a16:creationId xmlns:a16="http://schemas.microsoft.com/office/drawing/2014/main" id="{93EBC875-5B13-09C5-CFE3-BCCC4E7EA0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sp>
        <p:nvSpPr>
          <p:cNvPr id="7" name="CaixaDeTexto 6">
            <a:extLst>
              <a:ext uri="{FF2B5EF4-FFF2-40B4-BE49-F238E27FC236}">
                <a16:creationId xmlns:a16="http://schemas.microsoft.com/office/drawing/2014/main" id="{743F8ED6-47B0-77FB-68D7-AFB6D4E30B77}"/>
              </a:ext>
            </a:extLst>
          </p:cNvPr>
          <p:cNvSpPr txBox="1"/>
          <p:nvPr/>
        </p:nvSpPr>
        <p:spPr>
          <a:xfrm>
            <a:off x="130373" y="301496"/>
            <a:ext cx="12061627" cy="923330"/>
          </a:xfrm>
          <a:prstGeom prst="rect">
            <a:avLst/>
          </a:prstGeom>
          <a:noFill/>
        </p:spPr>
        <p:txBody>
          <a:bodyPr wrap="square" rtlCol="0">
            <a:spAutoFit/>
          </a:bodyPr>
          <a:lstStyle/>
          <a:p>
            <a:r>
              <a:rPr lang="pt-BR" sz="5400" dirty="0">
                <a:solidFill>
                  <a:srgbClr val="007DA9"/>
                </a:solidFill>
                <a:latin typeface="Impact" panose="020B0806030902050204" pitchFamily="34" charset="0"/>
              </a:rPr>
              <a:t>SCD ou </a:t>
            </a:r>
            <a:r>
              <a:rPr lang="pt-BR" sz="5400" dirty="0" err="1">
                <a:solidFill>
                  <a:srgbClr val="007DA9"/>
                </a:solidFill>
                <a:latin typeface="Impact" panose="020B0806030902050204" pitchFamily="34" charset="0"/>
              </a:rPr>
              <a:t>Slowly</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Changing</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Dimensions</a:t>
            </a:r>
            <a:r>
              <a:rPr lang="pt-BR" sz="5400" dirty="0">
                <a:solidFill>
                  <a:srgbClr val="007DA9"/>
                </a:solidFill>
                <a:latin typeface="Impact" panose="020B0806030902050204" pitchFamily="34" charset="0"/>
              </a:rPr>
              <a:t> </a:t>
            </a:r>
          </a:p>
        </p:txBody>
      </p:sp>
      <p:pic>
        <p:nvPicPr>
          <p:cNvPr id="9" name="Imagem 8" descr="Placa azul com letras brancas em fundo preto&#10;&#10;Descrição gerada automaticamente com confiança média">
            <a:extLst>
              <a:ext uri="{FF2B5EF4-FFF2-40B4-BE49-F238E27FC236}">
                <a16:creationId xmlns:a16="http://schemas.microsoft.com/office/drawing/2014/main" id="{261864C9-F866-E683-6BDA-C79DFE84D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pic>
        <p:nvPicPr>
          <p:cNvPr id="3" name="Imagem 2">
            <a:extLst>
              <a:ext uri="{FF2B5EF4-FFF2-40B4-BE49-F238E27FC236}">
                <a16:creationId xmlns:a16="http://schemas.microsoft.com/office/drawing/2014/main" id="{C74AA34E-B950-494D-FE71-D80785F7B9EA}"/>
              </a:ext>
            </a:extLst>
          </p:cNvPr>
          <p:cNvPicPr>
            <a:picLocks noChangeAspect="1"/>
          </p:cNvPicPr>
          <p:nvPr/>
        </p:nvPicPr>
        <p:blipFill>
          <a:blip r:embed="rId4"/>
          <a:stretch>
            <a:fillRect/>
          </a:stretch>
        </p:blipFill>
        <p:spPr>
          <a:xfrm>
            <a:off x="268062" y="2078611"/>
            <a:ext cx="11774543" cy="1495634"/>
          </a:xfrm>
          <a:prstGeom prst="rect">
            <a:avLst/>
          </a:prstGeom>
        </p:spPr>
      </p:pic>
      <p:pic>
        <p:nvPicPr>
          <p:cNvPr id="10" name="Imagem 9">
            <a:extLst>
              <a:ext uri="{FF2B5EF4-FFF2-40B4-BE49-F238E27FC236}">
                <a16:creationId xmlns:a16="http://schemas.microsoft.com/office/drawing/2014/main" id="{E8D163CB-9FA0-B3CF-6A23-193274397776}"/>
              </a:ext>
            </a:extLst>
          </p:cNvPr>
          <p:cNvPicPr>
            <a:picLocks noChangeAspect="1"/>
          </p:cNvPicPr>
          <p:nvPr/>
        </p:nvPicPr>
        <p:blipFill>
          <a:blip r:embed="rId5"/>
          <a:stretch>
            <a:fillRect/>
          </a:stretch>
        </p:blipFill>
        <p:spPr>
          <a:xfrm>
            <a:off x="268062" y="3574245"/>
            <a:ext cx="11774543" cy="1535357"/>
          </a:xfrm>
          <a:prstGeom prst="rect">
            <a:avLst/>
          </a:prstGeom>
        </p:spPr>
      </p:pic>
      <p:sp>
        <p:nvSpPr>
          <p:cNvPr id="5" name="Espaço Reservado para Rodapé 3">
            <a:extLst>
              <a:ext uri="{FF2B5EF4-FFF2-40B4-BE49-F238E27FC236}">
                <a16:creationId xmlns:a16="http://schemas.microsoft.com/office/drawing/2014/main" id="{338B9809-60FE-C9EA-0EC5-4EB31675E92E}"/>
              </a:ext>
            </a:extLst>
          </p:cNvPr>
          <p:cNvSpPr>
            <a:spLocks noGrp="1"/>
          </p:cNvSpPr>
          <p:nvPr>
            <p:ph type="ftr" sz="quarter" idx="11"/>
          </p:nvPr>
        </p:nvSpPr>
        <p:spPr>
          <a:xfrm>
            <a:off x="4038600" y="6494893"/>
            <a:ext cx="4114800" cy="365125"/>
          </a:xfrm>
        </p:spPr>
        <p:txBody>
          <a:bodyPr/>
          <a:lstStyle/>
          <a:p>
            <a:r>
              <a:rPr lang="pt-BR" dirty="0"/>
              <a:t>DBA </a:t>
            </a:r>
            <a:r>
              <a:rPr lang="pt-BR" dirty="0" err="1"/>
              <a:t>Assists</a:t>
            </a:r>
            <a:r>
              <a:rPr lang="pt-BR" dirty="0"/>
              <a:t> - Transformando Dados em Informação - www.dbaassists.com.br</a:t>
            </a:r>
          </a:p>
        </p:txBody>
      </p:sp>
    </p:spTree>
    <p:extLst>
      <p:ext uri="{BB962C8B-B14F-4D97-AF65-F5344CB8AC3E}">
        <p14:creationId xmlns:p14="http://schemas.microsoft.com/office/powerpoint/2010/main" val="265606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CB59A-62EE-E24B-D952-13D73B0B8CC3}"/>
            </a:ext>
          </a:extLst>
        </p:cNvPr>
        <p:cNvGrpSpPr/>
        <p:nvPr/>
      </p:nvGrpSpPr>
      <p:grpSpPr>
        <a:xfrm>
          <a:off x="0" y="0"/>
          <a:ext cx="0" cy="0"/>
          <a:chOff x="0" y="0"/>
          <a:chExt cx="0" cy="0"/>
        </a:xfrm>
      </p:grpSpPr>
      <p:sp>
        <p:nvSpPr>
          <p:cNvPr id="96" name="Retângulo 95">
            <a:extLst>
              <a:ext uri="{FF2B5EF4-FFF2-40B4-BE49-F238E27FC236}">
                <a16:creationId xmlns:a16="http://schemas.microsoft.com/office/drawing/2014/main" id="{325AECFC-2E00-A85B-73DC-4D1152F548DF}"/>
              </a:ext>
            </a:extLst>
          </p:cNvPr>
          <p:cNvSpPr/>
          <p:nvPr/>
        </p:nvSpPr>
        <p:spPr>
          <a:xfrm>
            <a:off x="268062" y="1357924"/>
            <a:ext cx="11712277" cy="5070585"/>
          </a:xfrm>
          <a:prstGeom prst="rect">
            <a:avLst/>
          </a:prstGeom>
          <a:solidFill>
            <a:schemeClr val="accent2">
              <a:lumMod val="20000"/>
              <a:lumOff val="80000"/>
            </a:schemeClr>
          </a:solidFill>
          <a:ln>
            <a:solidFill>
              <a:srgbClr val="007D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noFill/>
            </a:endParaRPr>
          </a:p>
        </p:txBody>
      </p:sp>
      <p:sp>
        <p:nvSpPr>
          <p:cNvPr id="6" name="sketchy line">
            <a:extLst>
              <a:ext uri="{FF2B5EF4-FFF2-40B4-BE49-F238E27FC236}">
                <a16:creationId xmlns:a16="http://schemas.microsoft.com/office/drawing/2014/main" id="{93EBC875-5B13-09C5-CFE3-BCCC4E7EA0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sp>
        <p:nvSpPr>
          <p:cNvPr id="7" name="CaixaDeTexto 6">
            <a:extLst>
              <a:ext uri="{FF2B5EF4-FFF2-40B4-BE49-F238E27FC236}">
                <a16:creationId xmlns:a16="http://schemas.microsoft.com/office/drawing/2014/main" id="{743F8ED6-47B0-77FB-68D7-AFB6D4E30B77}"/>
              </a:ext>
            </a:extLst>
          </p:cNvPr>
          <p:cNvSpPr txBox="1"/>
          <p:nvPr/>
        </p:nvSpPr>
        <p:spPr>
          <a:xfrm>
            <a:off x="130373" y="301496"/>
            <a:ext cx="12061627" cy="923330"/>
          </a:xfrm>
          <a:prstGeom prst="rect">
            <a:avLst/>
          </a:prstGeom>
          <a:noFill/>
        </p:spPr>
        <p:txBody>
          <a:bodyPr wrap="square" rtlCol="0">
            <a:spAutoFit/>
          </a:bodyPr>
          <a:lstStyle/>
          <a:p>
            <a:r>
              <a:rPr lang="pt-BR" sz="5400" dirty="0">
                <a:solidFill>
                  <a:srgbClr val="007DA9"/>
                </a:solidFill>
                <a:latin typeface="Impact" panose="020B0806030902050204" pitchFamily="34" charset="0"/>
              </a:rPr>
              <a:t>SCD ou </a:t>
            </a:r>
            <a:r>
              <a:rPr lang="pt-BR" sz="5400" dirty="0" err="1">
                <a:solidFill>
                  <a:srgbClr val="007DA9"/>
                </a:solidFill>
                <a:latin typeface="Impact" panose="020B0806030902050204" pitchFamily="34" charset="0"/>
              </a:rPr>
              <a:t>Slowly</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Changing</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Dimensions</a:t>
            </a:r>
            <a:r>
              <a:rPr lang="pt-BR" sz="5400" dirty="0">
                <a:solidFill>
                  <a:srgbClr val="007DA9"/>
                </a:solidFill>
                <a:latin typeface="Impact" panose="020B0806030902050204" pitchFamily="34" charset="0"/>
              </a:rPr>
              <a:t> </a:t>
            </a:r>
          </a:p>
        </p:txBody>
      </p:sp>
      <p:pic>
        <p:nvPicPr>
          <p:cNvPr id="9" name="Imagem 8" descr="Placa azul com letras brancas em fundo preto&#10;&#10;Descrição gerada automaticamente com confiança média">
            <a:extLst>
              <a:ext uri="{FF2B5EF4-FFF2-40B4-BE49-F238E27FC236}">
                <a16:creationId xmlns:a16="http://schemas.microsoft.com/office/drawing/2014/main" id="{261864C9-F866-E683-6BDA-C79DFE84D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12" name="Retângulo 11">
            <a:extLst>
              <a:ext uri="{FF2B5EF4-FFF2-40B4-BE49-F238E27FC236}">
                <a16:creationId xmlns:a16="http://schemas.microsoft.com/office/drawing/2014/main" id="{49BB00C5-4D48-E375-3773-04812B498F80}"/>
              </a:ext>
            </a:extLst>
          </p:cNvPr>
          <p:cNvSpPr/>
          <p:nvPr/>
        </p:nvSpPr>
        <p:spPr>
          <a:xfrm>
            <a:off x="535115" y="3650489"/>
            <a:ext cx="1043502" cy="497491"/>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SCD</a:t>
            </a:r>
          </a:p>
        </p:txBody>
      </p:sp>
      <p:sp>
        <p:nvSpPr>
          <p:cNvPr id="13" name="Retângulo 12">
            <a:extLst>
              <a:ext uri="{FF2B5EF4-FFF2-40B4-BE49-F238E27FC236}">
                <a16:creationId xmlns:a16="http://schemas.microsoft.com/office/drawing/2014/main" id="{B79D5E6C-6D15-7072-A9B3-CDC804182613}"/>
              </a:ext>
            </a:extLst>
          </p:cNvPr>
          <p:cNvSpPr/>
          <p:nvPr/>
        </p:nvSpPr>
        <p:spPr>
          <a:xfrm>
            <a:off x="2226716" y="1860255"/>
            <a:ext cx="1388565" cy="497491"/>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SCD </a:t>
            </a:r>
            <a:r>
              <a:rPr lang="pt-BR" sz="1600" dirty="0" err="1">
                <a:latin typeface="Impact" panose="020B0806030902050204" pitchFamily="34" charset="0"/>
              </a:rPr>
              <a:t>Type</a:t>
            </a:r>
            <a:r>
              <a:rPr lang="pt-BR" sz="1600" dirty="0">
                <a:latin typeface="Impact" panose="020B0806030902050204" pitchFamily="34" charset="0"/>
              </a:rPr>
              <a:t> 1</a:t>
            </a:r>
          </a:p>
        </p:txBody>
      </p:sp>
      <p:sp>
        <p:nvSpPr>
          <p:cNvPr id="14" name="Retângulo 13">
            <a:extLst>
              <a:ext uri="{FF2B5EF4-FFF2-40B4-BE49-F238E27FC236}">
                <a16:creationId xmlns:a16="http://schemas.microsoft.com/office/drawing/2014/main" id="{A930A9A9-367F-A063-E652-7C6EA907E43B}"/>
              </a:ext>
            </a:extLst>
          </p:cNvPr>
          <p:cNvSpPr/>
          <p:nvPr/>
        </p:nvSpPr>
        <p:spPr>
          <a:xfrm>
            <a:off x="2234399" y="3650489"/>
            <a:ext cx="1388565" cy="497491"/>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SCD </a:t>
            </a:r>
            <a:r>
              <a:rPr lang="pt-BR" sz="1600" dirty="0" err="1">
                <a:latin typeface="Impact" panose="020B0806030902050204" pitchFamily="34" charset="0"/>
              </a:rPr>
              <a:t>Type</a:t>
            </a:r>
            <a:r>
              <a:rPr lang="pt-BR" sz="1600" dirty="0">
                <a:latin typeface="Impact" panose="020B0806030902050204" pitchFamily="34" charset="0"/>
              </a:rPr>
              <a:t> 2</a:t>
            </a:r>
          </a:p>
        </p:txBody>
      </p:sp>
      <p:sp>
        <p:nvSpPr>
          <p:cNvPr id="16" name="Retângulo 15">
            <a:extLst>
              <a:ext uri="{FF2B5EF4-FFF2-40B4-BE49-F238E27FC236}">
                <a16:creationId xmlns:a16="http://schemas.microsoft.com/office/drawing/2014/main" id="{99993C73-3E99-8315-4BAA-A4E7376515D1}"/>
              </a:ext>
            </a:extLst>
          </p:cNvPr>
          <p:cNvSpPr/>
          <p:nvPr/>
        </p:nvSpPr>
        <p:spPr>
          <a:xfrm>
            <a:off x="2226717" y="5379996"/>
            <a:ext cx="1388565" cy="497491"/>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SCD </a:t>
            </a:r>
            <a:r>
              <a:rPr lang="pt-BR" sz="1600" dirty="0" err="1">
                <a:latin typeface="Impact" panose="020B0806030902050204" pitchFamily="34" charset="0"/>
              </a:rPr>
              <a:t>Type</a:t>
            </a:r>
            <a:r>
              <a:rPr lang="pt-BR" sz="1600" dirty="0">
                <a:latin typeface="Impact" panose="020B0806030902050204" pitchFamily="34" charset="0"/>
              </a:rPr>
              <a:t> 3</a:t>
            </a:r>
          </a:p>
        </p:txBody>
      </p:sp>
      <p:sp>
        <p:nvSpPr>
          <p:cNvPr id="5" name="Espaço Reservado para Rodapé 3">
            <a:extLst>
              <a:ext uri="{FF2B5EF4-FFF2-40B4-BE49-F238E27FC236}">
                <a16:creationId xmlns:a16="http://schemas.microsoft.com/office/drawing/2014/main" id="{338B9809-60FE-C9EA-0EC5-4EB31675E92E}"/>
              </a:ext>
            </a:extLst>
          </p:cNvPr>
          <p:cNvSpPr>
            <a:spLocks noGrp="1"/>
          </p:cNvSpPr>
          <p:nvPr>
            <p:ph type="ftr" sz="quarter" idx="11"/>
          </p:nvPr>
        </p:nvSpPr>
        <p:spPr>
          <a:xfrm>
            <a:off x="4038600" y="6494893"/>
            <a:ext cx="4114800" cy="365125"/>
          </a:xfrm>
        </p:spPr>
        <p:txBody>
          <a:bodyPr/>
          <a:lstStyle/>
          <a:p>
            <a:r>
              <a:rPr lang="pt-BR" dirty="0"/>
              <a:t>DBA </a:t>
            </a:r>
            <a:r>
              <a:rPr lang="pt-BR" dirty="0" err="1"/>
              <a:t>Assists</a:t>
            </a:r>
            <a:r>
              <a:rPr lang="pt-BR" dirty="0"/>
              <a:t> - Transformando Dados em Informação - www.dbaassists.com.br</a:t>
            </a:r>
          </a:p>
        </p:txBody>
      </p:sp>
      <p:cxnSp>
        <p:nvCxnSpPr>
          <p:cNvPr id="18" name="Conector: Angulado 17">
            <a:extLst>
              <a:ext uri="{FF2B5EF4-FFF2-40B4-BE49-F238E27FC236}">
                <a16:creationId xmlns:a16="http://schemas.microsoft.com/office/drawing/2014/main" id="{D188D6AD-8AC2-0342-C6B7-C1FADFD4C4CF}"/>
              </a:ext>
            </a:extLst>
          </p:cNvPr>
          <p:cNvCxnSpPr>
            <a:cxnSpLocks/>
            <a:stCxn id="12" idx="3"/>
            <a:endCxn id="13" idx="1"/>
          </p:cNvCxnSpPr>
          <p:nvPr/>
        </p:nvCxnSpPr>
        <p:spPr>
          <a:xfrm flipV="1">
            <a:off x="1578617" y="2109001"/>
            <a:ext cx="648099" cy="179023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do 20">
            <a:extLst>
              <a:ext uri="{FF2B5EF4-FFF2-40B4-BE49-F238E27FC236}">
                <a16:creationId xmlns:a16="http://schemas.microsoft.com/office/drawing/2014/main" id="{3E464744-EEAD-50B3-EF8D-E4AF752CE8DC}"/>
              </a:ext>
            </a:extLst>
          </p:cNvPr>
          <p:cNvCxnSpPr>
            <a:cxnSpLocks/>
            <a:stCxn id="12" idx="3"/>
            <a:endCxn id="16" idx="1"/>
          </p:cNvCxnSpPr>
          <p:nvPr/>
        </p:nvCxnSpPr>
        <p:spPr>
          <a:xfrm>
            <a:off x="1578617" y="3899235"/>
            <a:ext cx="648100" cy="172950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24">
            <a:extLst>
              <a:ext uri="{FF2B5EF4-FFF2-40B4-BE49-F238E27FC236}">
                <a16:creationId xmlns:a16="http://schemas.microsoft.com/office/drawing/2014/main" id="{DA567397-217E-40A6-5378-A793BBBD17D5}"/>
              </a:ext>
            </a:extLst>
          </p:cNvPr>
          <p:cNvCxnSpPr>
            <a:stCxn id="12" idx="3"/>
            <a:endCxn id="14" idx="1"/>
          </p:cNvCxnSpPr>
          <p:nvPr/>
        </p:nvCxnSpPr>
        <p:spPr>
          <a:xfrm>
            <a:off x="1578617" y="3899235"/>
            <a:ext cx="655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tângulo 25">
            <a:extLst>
              <a:ext uri="{FF2B5EF4-FFF2-40B4-BE49-F238E27FC236}">
                <a16:creationId xmlns:a16="http://schemas.microsoft.com/office/drawing/2014/main" id="{E32EF034-05BF-1AC3-652D-CE874BCA600B}"/>
              </a:ext>
            </a:extLst>
          </p:cNvPr>
          <p:cNvSpPr/>
          <p:nvPr/>
        </p:nvSpPr>
        <p:spPr>
          <a:xfrm>
            <a:off x="4312296" y="1461142"/>
            <a:ext cx="1388565" cy="365126"/>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Vantagem</a:t>
            </a:r>
          </a:p>
        </p:txBody>
      </p:sp>
      <p:sp>
        <p:nvSpPr>
          <p:cNvPr id="27" name="Retângulo 26">
            <a:extLst>
              <a:ext uri="{FF2B5EF4-FFF2-40B4-BE49-F238E27FC236}">
                <a16:creationId xmlns:a16="http://schemas.microsoft.com/office/drawing/2014/main" id="{865B9B9C-64F0-5407-7FFD-3D3BEE132419}"/>
              </a:ext>
            </a:extLst>
          </p:cNvPr>
          <p:cNvSpPr/>
          <p:nvPr/>
        </p:nvSpPr>
        <p:spPr>
          <a:xfrm>
            <a:off x="4312296" y="1935385"/>
            <a:ext cx="1388565" cy="365126"/>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Desvantagem</a:t>
            </a:r>
          </a:p>
        </p:txBody>
      </p:sp>
      <p:sp>
        <p:nvSpPr>
          <p:cNvPr id="28" name="Retângulo 27">
            <a:extLst>
              <a:ext uri="{FF2B5EF4-FFF2-40B4-BE49-F238E27FC236}">
                <a16:creationId xmlns:a16="http://schemas.microsoft.com/office/drawing/2014/main" id="{36E9DB74-C399-414F-1E87-D6EF421478C8}"/>
              </a:ext>
            </a:extLst>
          </p:cNvPr>
          <p:cNvSpPr/>
          <p:nvPr/>
        </p:nvSpPr>
        <p:spPr>
          <a:xfrm>
            <a:off x="4312296" y="2431537"/>
            <a:ext cx="1388565" cy="365126"/>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Uso</a:t>
            </a:r>
          </a:p>
        </p:txBody>
      </p:sp>
      <p:sp>
        <p:nvSpPr>
          <p:cNvPr id="32" name="Retângulo 31">
            <a:extLst>
              <a:ext uri="{FF2B5EF4-FFF2-40B4-BE49-F238E27FC236}">
                <a16:creationId xmlns:a16="http://schemas.microsoft.com/office/drawing/2014/main" id="{FCA1E012-47A8-9933-49B6-7211C33A409F}"/>
              </a:ext>
            </a:extLst>
          </p:cNvPr>
          <p:cNvSpPr/>
          <p:nvPr/>
        </p:nvSpPr>
        <p:spPr>
          <a:xfrm>
            <a:off x="4312296" y="3214843"/>
            <a:ext cx="1388565" cy="365126"/>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Vantagem</a:t>
            </a:r>
          </a:p>
        </p:txBody>
      </p:sp>
      <p:sp>
        <p:nvSpPr>
          <p:cNvPr id="33" name="Retângulo 32">
            <a:extLst>
              <a:ext uri="{FF2B5EF4-FFF2-40B4-BE49-F238E27FC236}">
                <a16:creationId xmlns:a16="http://schemas.microsoft.com/office/drawing/2014/main" id="{4FCAF567-CECB-89E3-15AB-CB9DC2F1D6E7}"/>
              </a:ext>
            </a:extLst>
          </p:cNvPr>
          <p:cNvSpPr/>
          <p:nvPr/>
        </p:nvSpPr>
        <p:spPr>
          <a:xfrm>
            <a:off x="4312296" y="3716794"/>
            <a:ext cx="1388565" cy="365126"/>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Desvantagem</a:t>
            </a:r>
          </a:p>
        </p:txBody>
      </p:sp>
      <p:sp>
        <p:nvSpPr>
          <p:cNvPr id="34" name="Retângulo 33">
            <a:extLst>
              <a:ext uri="{FF2B5EF4-FFF2-40B4-BE49-F238E27FC236}">
                <a16:creationId xmlns:a16="http://schemas.microsoft.com/office/drawing/2014/main" id="{6657510A-DD45-58DF-85C0-FAF7E7E3B5A5}"/>
              </a:ext>
            </a:extLst>
          </p:cNvPr>
          <p:cNvSpPr/>
          <p:nvPr/>
        </p:nvSpPr>
        <p:spPr>
          <a:xfrm>
            <a:off x="4312296" y="4185238"/>
            <a:ext cx="1388565" cy="365126"/>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Uso</a:t>
            </a:r>
          </a:p>
        </p:txBody>
      </p:sp>
      <p:sp>
        <p:nvSpPr>
          <p:cNvPr id="35" name="Retângulo 34">
            <a:extLst>
              <a:ext uri="{FF2B5EF4-FFF2-40B4-BE49-F238E27FC236}">
                <a16:creationId xmlns:a16="http://schemas.microsoft.com/office/drawing/2014/main" id="{828BA133-C739-511A-9ABF-1550E2E73125}"/>
              </a:ext>
            </a:extLst>
          </p:cNvPr>
          <p:cNvSpPr/>
          <p:nvPr/>
        </p:nvSpPr>
        <p:spPr>
          <a:xfrm>
            <a:off x="4291799" y="4983783"/>
            <a:ext cx="1388565" cy="365126"/>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Vantagem</a:t>
            </a:r>
          </a:p>
        </p:txBody>
      </p:sp>
      <p:sp>
        <p:nvSpPr>
          <p:cNvPr id="36" name="Retângulo 35">
            <a:extLst>
              <a:ext uri="{FF2B5EF4-FFF2-40B4-BE49-F238E27FC236}">
                <a16:creationId xmlns:a16="http://schemas.microsoft.com/office/drawing/2014/main" id="{4F3585D5-5743-9887-AB7B-41B7C213B4E4}"/>
              </a:ext>
            </a:extLst>
          </p:cNvPr>
          <p:cNvSpPr/>
          <p:nvPr/>
        </p:nvSpPr>
        <p:spPr>
          <a:xfrm>
            <a:off x="4291799" y="5448790"/>
            <a:ext cx="1388565" cy="365126"/>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Desvantagem</a:t>
            </a:r>
          </a:p>
        </p:txBody>
      </p:sp>
      <p:sp>
        <p:nvSpPr>
          <p:cNvPr id="37" name="Retângulo 36">
            <a:extLst>
              <a:ext uri="{FF2B5EF4-FFF2-40B4-BE49-F238E27FC236}">
                <a16:creationId xmlns:a16="http://schemas.microsoft.com/office/drawing/2014/main" id="{0E38E879-7662-A099-A66C-7466AB803798}"/>
              </a:ext>
            </a:extLst>
          </p:cNvPr>
          <p:cNvSpPr/>
          <p:nvPr/>
        </p:nvSpPr>
        <p:spPr>
          <a:xfrm>
            <a:off x="4291799" y="5954178"/>
            <a:ext cx="1388565" cy="365126"/>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Uso</a:t>
            </a:r>
          </a:p>
        </p:txBody>
      </p:sp>
      <p:cxnSp>
        <p:nvCxnSpPr>
          <p:cNvPr id="39" name="Conector: Angulado 38">
            <a:extLst>
              <a:ext uri="{FF2B5EF4-FFF2-40B4-BE49-F238E27FC236}">
                <a16:creationId xmlns:a16="http://schemas.microsoft.com/office/drawing/2014/main" id="{D2BE6187-813E-7025-64BC-070305374E2E}"/>
              </a:ext>
            </a:extLst>
          </p:cNvPr>
          <p:cNvCxnSpPr>
            <a:stCxn id="13" idx="3"/>
            <a:endCxn id="26" idx="1"/>
          </p:cNvCxnSpPr>
          <p:nvPr/>
        </p:nvCxnSpPr>
        <p:spPr>
          <a:xfrm flipV="1">
            <a:off x="3615281" y="1643705"/>
            <a:ext cx="697015" cy="46529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ector: Angulado 40">
            <a:extLst>
              <a:ext uri="{FF2B5EF4-FFF2-40B4-BE49-F238E27FC236}">
                <a16:creationId xmlns:a16="http://schemas.microsoft.com/office/drawing/2014/main" id="{D9B9FAF2-5593-1A37-8A13-D994C87C10C9}"/>
              </a:ext>
            </a:extLst>
          </p:cNvPr>
          <p:cNvCxnSpPr>
            <a:stCxn id="13" idx="3"/>
            <a:endCxn id="28" idx="1"/>
          </p:cNvCxnSpPr>
          <p:nvPr/>
        </p:nvCxnSpPr>
        <p:spPr>
          <a:xfrm>
            <a:off x="3615281" y="2109001"/>
            <a:ext cx="697015" cy="5050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ector: Angulado 42">
            <a:extLst>
              <a:ext uri="{FF2B5EF4-FFF2-40B4-BE49-F238E27FC236}">
                <a16:creationId xmlns:a16="http://schemas.microsoft.com/office/drawing/2014/main" id="{449EF4C8-63F2-D261-CAC6-0B3A17F70A5A}"/>
              </a:ext>
            </a:extLst>
          </p:cNvPr>
          <p:cNvCxnSpPr>
            <a:stCxn id="14" idx="3"/>
            <a:endCxn id="32" idx="1"/>
          </p:cNvCxnSpPr>
          <p:nvPr/>
        </p:nvCxnSpPr>
        <p:spPr>
          <a:xfrm flipV="1">
            <a:off x="3622964" y="3397406"/>
            <a:ext cx="689332" cy="50182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do 44">
            <a:extLst>
              <a:ext uri="{FF2B5EF4-FFF2-40B4-BE49-F238E27FC236}">
                <a16:creationId xmlns:a16="http://schemas.microsoft.com/office/drawing/2014/main" id="{F3552C86-8C2E-BE93-1882-01F524556AF7}"/>
              </a:ext>
            </a:extLst>
          </p:cNvPr>
          <p:cNvCxnSpPr>
            <a:stCxn id="14" idx="3"/>
            <a:endCxn id="34" idx="1"/>
          </p:cNvCxnSpPr>
          <p:nvPr/>
        </p:nvCxnSpPr>
        <p:spPr>
          <a:xfrm>
            <a:off x="3622964" y="3899235"/>
            <a:ext cx="689332" cy="46856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Angulado 46">
            <a:extLst>
              <a:ext uri="{FF2B5EF4-FFF2-40B4-BE49-F238E27FC236}">
                <a16:creationId xmlns:a16="http://schemas.microsoft.com/office/drawing/2014/main" id="{E0A5B332-3AFE-488C-D99A-2B71B78F90EC}"/>
              </a:ext>
            </a:extLst>
          </p:cNvPr>
          <p:cNvCxnSpPr>
            <a:stCxn id="16" idx="3"/>
            <a:endCxn id="35" idx="1"/>
          </p:cNvCxnSpPr>
          <p:nvPr/>
        </p:nvCxnSpPr>
        <p:spPr>
          <a:xfrm flipV="1">
            <a:off x="3615282" y="5166346"/>
            <a:ext cx="676517" cy="46239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ector: Angulado 48">
            <a:extLst>
              <a:ext uri="{FF2B5EF4-FFF2-40B4-BE49-F238E27FC236}">
                <a16:creationId xmlns:a16="http://schemas.microsoft.com/office/drawing/2014/main" id="{56C7FF4F-2FB5-43EB-0638-A97A93144750}"/>
              </a:ext>
            </a:extLst>
          </p:cNvPr>
          <p:cNvCxnSpPr>
            <a:stCxn id="16" idx="3"/>
            <a:endCxn id="37" idx="1"/>
          </p:cNvCxnSpPr>
          <p:nvPr/>
        </p:nvCxnSpPr>
        <p:spPr>
          <a:xfrm>
            <a:off x="3615282" y="5628742"/>
            <a:ext cx="676517" cy="5079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ector de Seta Reta 50">
            <a:extLst>
              <a:ext uri="{FF2B5EF4-FFF2-40B4-BE49-F238E27FC236}">
                <a16:creationId xmlns:a16="http://schemas.microsoft.com/office/drawing/2014/main" id="{34E3E736-1A4C-CFB9-9353-A2DCCC642BE9}"/>
              </a:ext>
            </a:extLst>
          </p:cNvPr>
          <p:cNvCxnSpPr>
            <a:stCxn id="13" idx="3"/>
            <a:endCxn id="27" idx="1"/>
          </p:cNvCxnSpPr>
          <p:nvPr/>
        </p:nvCxnSpPr>
        <p:spPr>
          <a:xfrm>
            <a:off x="3615281" y="2109001"/>
            <a:ext cx="697015" cy="8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ector de Seta Reta 52">
            <a:extLst>
              <a:ext uri="{FF2B5EF4-FFF2-40B4-BE49-F238E27FC236}">
                <a16:creationId xmlns:a16="http://schemas.microsoft.com/office/drawing/2014/main" id="{C3904CD9-9E18-ECF5-1C3A-0328B3C3E43F}"/>
              </a:ext>
            </a:extLst>
          </p:cNvPr>
          <p:cNvCxnSpPr>
            <a:stCxn id="14" idx="3"/>
            <a:endCxn id="33" idx="1"/>
          </p:cNvCxnSpPr>
          <p:nvPr/>
        </p:nvCxnSpPr>
        <p:spPr>
          <a:xfrm>
            <a:off x="3622964" y="3899235"/>
            <a:ext cx="689332" cy="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ector de Seta Reta 54">
            <a:extLst>
              <a:ext uri="{FF2B5EF4-FFF2-40B4-BE49-F238E27FC236}">
                <a16:creationId xmlns:a16="http://schemas.microsoft.com/office/drawing/2014/main" id="{66C1DEFD-A06F-98AB-764B-C60EA525A2FC}"/>
              </a:ext>
            </a:extLst>
          </p:cNvPr>
          <p:cNvCxnSpPr>
            <a:stCxn id="16" idx="3"/>
            <a:endCxn id="36" idx="1"/>
          </p:cNvCxnSpPr>
          <p:nvPr/>
        </p:nvCxnSpPr>
        <p:spPr>
          <a:xfrm>
            <a:off x="3615282" y="5628742"/>
            <a:ext cx="676517" cy="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CaixaDeTexto 56">
            <a:extLst>
              <a:ext uri="{FF2B5EF4-FFF2-40B4-BE49-F238E27FC236}">
                <a16:creationId xmlns:a16="http://schemas.microsoft.com/office/drawing/2014/main" id="{57F5BEB3-49DD-1EBB-A643-8D14DE931778}"/>
              </a:ext>
            </a:extLst>
          </p:cNvPr>
          <p:cNvSpPr txBox="1"/>
          <p:nvPr/>
        </p:nvSpPr>
        <p:spPr>
          <a:xfrm>
            <a:off x="6338455" y="1475408"/>
            <a:ext cx="5437909" cy="338554"/>
          </a:xfrm>
          <a:prstGeom prst="rect">
            <a:avLst/>
          </a:prstGeom>
          <a:noFill/>
        </p:spPr>
        <p:txBody>
          <a:bodyPr wrap="square">
            <a:spAutoFit/>
          </a:bodyPr>
          <a:lstStyle/>
          <a:p>
            <a:r>
              <a:rPr lang="pt-BR" sz="1600" dirty="0"/>
              <a:t>Simplicidade e baixo impacto de armazenamento.</a:t>
            </a:r>
          </a:p>
        </p:txBody>
      </p:sp>
      <p:sp>
        <p:nvSpPr>
          <p:cNvPr id="59" name="CaixaDeTexto 58">
            <a:extLst>
              <a:ext uri="{FF2B5EF4-FFF2-40B4-BE49-F238E27FC236}">
                <a16:creationId xmlns:a16="http://schemas.microsoft.com/office/drawing/2014/main" id="{81B6E44A-FBF3-9BF9-4DFD-66B520290D2E}"/>
              </a:ext>
            </a:extLst>
          </p:cNvPr>
          <p:cNvSpPr txBox="1"/>
          <p:nvPr/>
        </p:nvSpPr>
        <p:spPr>
          <a:xfrm>
            <a:off x="6329219" y="1953857"/>
            <a:ext cx="3618346" cy="338554"/>
          </a:xfrm>
          <a:prstGeom prst="rect">
            <a:avLst/>
          </a:prstGeom>
          <a:noFill/>
        </p:spPr>
        <p:txBody>
          <a:bodyPr wrap="square">
            <a:spAutoFit/>
          </a:bodyPr>
          <a:lstStyle/>
          <a:p>
            <a:r>
              <a:rPr lang="pt-BR" sz="1600" dirty="0"/>
              <a:t>Perda completa do histórico</a:t>
            </a:r>
          </a:p>
        </p:txBody>
      </p:sp>
      <p:sp>
        <p:nvSpPr>
          <p:cNvPr id="61" name="CaixaDeTexto 60">
            <a:extLst>
              <a:ext uri="{FF2B5EF4-FFF2-40B4-BE49-F238E27FC236}">
                <a16:creationId xmlns:a16="http://schemas.microsoft.com/office/drawing/2014/main" id="{7D79FC9C-6C2C-88E2-DB33-2C33685A6D05}"/>
              </a:ext>
            </a:extLst>
          </p:cNvPr>
          <p:cNvSpPr txBox="1"/>
          <p:nvPr/>
        </p:nvSpPr>
        <p:spPr>
          <a:xfrm>
            <a:off x="6329219" y="2437428"/>
            <a:ext cx="5853546" cy="338554"/>
          </a:xfrm>
          <a:prstGeom prst="rect">
            <a:avLst/>
          </a:prstGeom>
          <a:noFill/>
        </p:spPr>
        <p:txBody>
          <a:bodyPr wrap="square">
            <a:spAutoFit/>
          </a:bodyPr>
          <a:lstStyle>
            <a:defPPr>
              <a:defRPr lang="pt-BR"/>
            </a:defPPr>
            <a:lvl1pPr>
              <a:defRPr sz="1600"/>
            </a:lvl1pPr>
          </a:lstStyle>
          <a:p>
            <a:r>
              <a:rPr lang="pt-BR" dirty="0"/>
              <a:t>Quando apenas a versão mais recente dos dados é relevante</a:t>
            </a:r>
          </a:p>
        </p:txBody>
      </p:sp>
      <p:cxnSp>
        <p:nvCxnSpPr>
          <p:cNvPr id="63" name="Conector de Seta Reta 62">
            <a:extLst>
              <a:ext uri="{FF2B5EF4-FFF2-40B4-BE49-F238E27FC236}">
                <a16:creationId xmlns:a16="http://schemas.microsoft.com/office/drawing/2014/main" id="{0A6F6163-29D7-5D77-3F91-8306733E0ED1}"/>
              </a:ext>
            </a:extLst>
          </p:cNvPr>
          <p:cNvCxnSpPr>
            <a:stCxn id="26" idx="3"/>
            <a:endCxn id="57" idx="1"/>
          </p:cNvCxnSpPr>
          <p:nvPr/>
        </p:nvCxnSpPr>
        <p:spPr>
          <a:xfrm>
            <a:off x="5700861" y="1643705"/>
            <a:ext cx="637594" cy="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Conector de Seta Reta 64">
            <a:extLst>
              <a:ext uri="{FF2B5EF4-FFF2-40B4-BE49-F238E27FC236}">
                <a16:creationId xmlns:a16="http://schemas.microsoft.com/office/drawing/2014/main" id="{FF31357C-691B-7AE1-556F-58BADB2F4832}"/>
              </a:ext>
            </a:extLst>
          </p:cNvPr>
          <p:cNvCxnSpPr>
            <a:stCxn id="27" idx="3"/>
            <a:endCxn id="59" idx="1"/>
          </p:cNvCxnSpPr>
          <p:nvPr/>
        </p:nvCxnSpPr>
        <p:spPr>
          <a:xfrm>
            <a:off x="5700861" y="2117948"/>
            <a:ext cx="628358" cy="5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onector de Seta Reta 66">
            <a:extLst>
              <a:ext uri="{FF2B5EF4-FFF2-40B4-BE49-F238E27FC236}">
                <a16:creationId xmlns:a16="http://schemas.microsoft.com/office/drawing/2014/main" id="{732A3963-724A-38B9-9A30-A39D42998EF0}"/>
              </a:ext>
            </a:extLst>
          </p:cNvPr>
          <p:cNvCxnSpPr>
            <a:cxnSpLocks/>
            <a:stCxn id="28" idx="3"/>
          </p:cNvCxnSpPr>
          <p:nvPr/>
        </p:nvCxnSpPr>
        <p:spPr>
          <a:xfrm>
            <a:off x="5700861" y="2614100"/>
            <a:ext cx="637594" cy="1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CaixaDeTexto 68">
            <a:extLst>
              <a:ext uri="{FF2B5EF4-FFF2-40B4-BE49-F238E27FC236}">
                <a16:creationId xmlns:a16="http://schemas.microsoft.com/office/drawing/2014/main" id="{A726A244-2FD1-6642-C30C-E1BB86081E0E}"/>
              </a:ext>
            </a:extLst>
          </p:cNvPr>
          <p:cNvSpPr txBox="1"/>
          <p:nvPr/>
        </p:nvSpPr>
        <p:spPr>
          <a:xfrm>
            <a:off x="6353249" y="3229109"/>
            <a:ext cx="3738419" cy="338554"/>
          </a:xfrm>
          <a:prstGeom prst="rect">
            <a:avLst/>
          </a:prstGeom>
          <a:noFill/>
        </p:spPr>
        <p:txBody>
          <a:bodyPr wrap="square">
            <a:spAutoFit/>
          </a:bodyPr>
          <a:lstStyle>
            <a:defPPr>
              <a:defRPr lang="pt-BR"/>
            </a:defPPr>
            <a:lvl1pPr>
              <a:defRPr sz="1600"/>
            </a:lvl1pPr>
          </a:lstStyle>
          <a:p>
            <a:r>
              <a:rPr lang="pt-BR" dirty="0"/>
              <a:t>Mantém o histórico completo.</a:t>
            </a:r>
          </a:p>
        </p:txBody>
      </p:sp>
      <p:cxnSp>
        <p:nvCxnSpPr>
          <p:cNvPr id="71" name="Conector de Seta Reta 70">
            <a:extLst>
              <a:ext uri="{FF2B5EF4-FFF2-40B4-BE49-F238E27FC236}">
                <a16:creationId xmlns:a16="http://schemas.microsoft.com/office/drawing/2014/main" id="{6194E90D-1341-AFF4-A952-07639646143A}"/>
              </a:ext>
            </a:extLst>
          </p:cNvPr>
          <p:cNvCxnSpPr>
            <a:stCxn id="32" idx="3"/>
            <a:endCxn id="69" idx="1"/>
          </p:cNvCxnSpPr>
          <p:nvPr/>
        </p:nvCxnSpPr>
        <p:spPr>
          <a:xfrm>
            <a:off x="5700861" y="3397406"/>
            <a:ext cx="652388" cy="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CaixaDeTexto 72">
            <a:extLst>
              <a:ext uri="{FF2B5EF4-FFF2-40B4-BE49-F238E27FC236}">
                <a16:creationId xmlns:a16="http://schemas.microsoft.com/office/drawing/2014/main" id="{2F31E00E-BCDD-84F0-29E8-D83DEF25F9A2}"/>
              </a:ext>
            </a:extLst>
          </p:cNvPr>
          <p:cNvSpPr txBox="1"/>
          <p:nvPr/>
        </p:nvSpPr>
        <p:spPr>
          <a:xfrm>
            <a:off x="6353249" y="3728253"/>
            <a:ext cx="3449782" cy="338554"/>
          </a:xfrm>
          <a:prstGeom prst="rect">
            <a:avLst/>
          </a:prstGeom>
          <a:noFill/>
        </p:spPr>
        <p:txBody>
          <a:bodyPr wrap="square">
            <a:spAutoFit/>
          </a:bodyPr>
          <a:lstStyle>
            <a:defPPr>
              <a:defRPr lang="pt-BR"/>
            </a:defPPr>
            <a:lvl1pPr>
              <a:defRPr sz="1600"/>
            </a:lvl1pPr>
          </a:lstStyle>
          <a:p>
            <a:r>
              <a:rPr lang="pt-BR" dirty="0"/>
              <a:t>Aumento do tamanho da tabela</a:t>
            </a:r>
          </a:p>
        </p:txBody>
      </p:sp>
      <p:cxnSp>
        <p:nvCxnSpPr>
          <p:cNvPr id="75" name="Conector de Seta Reta 74">
            <a:extLst>
              <a:ext uri="{FF2B5EF4-FFF2-40B4-BE49-F238E27FC236}">
                <a16:creationId xmlns:a16="http://schemas.microsoft.com/office/drawing/2014/main" id="{23BFC60D-FE2F-7483-1ACE-EFD0664173A1}"/>
              </a:ext>
            </a:extLst>
          </p:cNvPr>
          <p:cNvCxnSpPr>
            <a:stCxn id="33" idx="3"/>
            <a:endCxn id="73" idx="1"/>
          </p:cNvCxnSpPr>
          <p:nvPr/>
        </p:nvCxnSpPr>
        <p:spPr>
          <a:xfrm flipV="1">
            <a:off x="5700861" y="3897530"/>
            <a:ext cx="652388" cy="1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CaixaDeTexto 76">
            <a:extLst>
              <a:ext uri="{FF2B5EF4-FFF2-40B4-BE49-F238E27FC236}">
                <a16:creationId xmlns:a16="http://schemas.microsoft.com/office/drawing/2014/main" id="{CAD73687-D332-84DB-0DE9-356B1601F6AD}"/>
              </a:ext>
            </a:extLst>
          </p:cNvPr>
          <p:cNvSpPr txBox="1"/>
          <p:nvPr/>
        </p:nvSpPr>
        <p:spPr>
          <a:xfrm>
            <a:off x="6353249" y="4190067"/>
            <a:ext cx="4457634" cy="338554"/>
          </a:xfrm>
          <a:prstGeom prst="rect">
            <a:avLst/>
          </a:prstGeom>
          <a:noFill/>
        </p:spPr>
        <p:txBody>
          <a:bodyPr wrap="square">
            <a:spAutoFit/>
          </a:bodyPr>
          <a:lstStyle>
            <a:defPPr>
              <a:defRPr lang="pt-BR"/>
            </a:defPPr>
            <a:lvl1pPr>
              <a:defRPr sz="1600"/>
            </a:lvl1pPr>
          </a:lstStyle>
          <a:p>
            <a:r>
              <a:rPr lang="pt-BR" dirty="0"/>
              <a:t>Quando é importante rastrear todas as alterações</a:t>
            </a:r>
          </a:p>
        </p:txBody>
      </p:sp>
      <p:cxnSp>
        <p:nvCxnSpPr>
          <p:cNvPr id="79" name="Conector de Seta Reta 78">
            <a:extLst>
              <a:ext uri="{FF2B5EF4-FFF2-40B4-BE49-F238E27FC236}">
                <a16:creationId xmlns:a16="http://schemas.microsoft.com/office/drawing/2014/main" id="{F745167A-2FE7-20B3-871D-87EB3DB5F547}"/>
              </a:ext>
            </a:extLst>
          </p:cNvPr>
          <p:cNvCxnSpPr>
            <a:stCxn id="34" idx="3"/>
            <a:endCxn id="77" idx="1"/>
          </p:cNvCxnSpPr>
          <p:nvPr/>
        </p:nvCxnSpPr>
        <p:spPr>
          <a:xfrm flipV="1">
            <a:off x="5700861" y="4359344"/>
            <a:ext cx="652388" cy="8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CaixaDeTexto 80">
            <a:extLst>
              <a:ext uri="{FF2B5EF4-FFF2-40B4-BE49-F238E27FC236}">
                <a16:creationId xmlns:a16="http://schemas.microsoft.com/office/drawing/2014/main" id="{EE85D9BE-4C75-5792-21C3-EAAF239C9EF8}"/>
              </a:ext>
            </a:extLst>
          </p:cNvPr>
          <p:cNvSpPr txBox="1"/>
          <p:nvPr/>
        </p:nvSpPr>
        <p:spPr>
          <a:xfrm>
            <a:off x="6356927" y="4995382"/>
            <a:ext cx="2692400" cy="338554"/>
          </a:xfrm>
          <a:prstGeom prst="rect">
            <a:avLst/>
          </a:prstGeom>
          <a:noFill/>
        </p:spPr>
        <p:txBody>
          <a:bodyPr wrap="square">
            <a:spAutoFit/>
          </a:bodyPr>
          <a:lstStyle>
            <a:defPPr>
              <a:defRPr lang="pt-BR"/>
            </a:defPPr>
            <a:lvl1pPr>
              <a:defRPr sz="1600"/>
            </a:lvl1pPr>
          </a:lstStyle>
          <a:p>
            <a:r>
              <a:rPr lang="pt-BR" dirty="0"/>
              <a:t>Armazena parte do histórico</a:t>
            </a:r>
          </a:p>
        </p:txBody>
      </p:sp>
      <p:sp>
        <p:nvSpPr>
          <p:cNvPr id="85" name="CaixaDeTexto 84">
            <a:extLst>
              <a:ext uri="{FF2B5EF4-FFF2-40B4-BE49-F238E27FC236}">
                <a16:creationId xmlns:a16="http://schemas.microsoft.com/office/drawing/2014/main" id="{76887E41-25BC-1D65-4F75-58D4C793EE1B}"/>
              </a:ext>
            </a:extLst>
          </p:cNvPr>
          <p:cNvSpPr txBox="1"/>
          <p:nvPr/>
        </p:nvSpPr>
        <p:spPr>
          <a:xfrm>
            <a:off x="6353249" y="5466502"/>
            <a:ext cx="3089564" cy="338554"/>
          </a:xfrm>
          <a:prstGeom prst="rect">
            <a:avLst/>
          </a:prstGeom>
          <a:noFill/>
        </p:spPr>
        <p:txBody>
          <a:bodyPr wrap="square">
            <a:spAutoFit/>
          </a:bodyPr>
          <a:lstStyle>
            <a:defPPr>
              <a:defRPr lang="pt-BR"/>
            </a:defPPr>
            <a:lvl1pPr>
              <a:defRPr sz="1600"/>
            </a:lvl1pPr>
          </a:lstStyle>
          <a:p>
            <a:r>
              <a:rPr lang="pt-BR" dirty="0"/>
              <a:t>Não mantém todas as alterações.</a:t>
            </a:r>
          </a:p>
        </p:txBody>
      </p:sp>
      <p:sp>
        <p:nvSpPr>
          <p:cNvPr id="87" name="CaixaDeTexto 86">
            <a:extLst>
              <a:ext uri="{FF2B5EF4-FFF2-40B4-BE49-F238E27FC236}">
                <a16:creationId xmlns:a16="http://schemas.microsoft.com/office/drawing/2014/main" id="{70FB3B10-5348-4BE2-DACE-FA9A2D1A8403}"/>
              </a:ext>
            </a:extLst>
          </p:cNvPr>
          <p:cNvSpPr txBox="1"/>
          <p:nvPr/>
        </p:nvSpPr>
        <p:spPr>
          <a:xfrm>
            <a:off x="6353249" y="5972650"/>
            <a:ext cx="4457634" cy="338554"/>
          </a:xfrm>
          <a:prstGeom prst="rect">
            <a:avLst/>
          </a:prstGeom>
          <a:noFill/>
        </p:spPr>
        <p:txBody>
          <a:bodyPr wrap="square">
            <a:spAutoFit/>
          </a:bodyPr>
          <a:lstStyle>
            <a:defPPr>
              <a:defRPr lang="pt-BR"/>
            </a:defPPr>
            <a:lvl1pPr>
              <a:defRPr sz="1600"/>
            </a:lvl1pPr>
          </a:lstStyle>
          <a:p>
            <a:r>
              <a:rPr lang="pt-BR" dirty="0"/>
              <a:t>Quando apenas algumas mudanças são relevantes</a:t>
            </a:r>
          </a:p>
        </p:txBody>
      </p:sp>
      <p:cxnSp>
        <p:nvCxnSpPr>
          <p:cNvPr id="89" name="Conector de Seta Reta 88">
            <a:extLst>
              <a:ext uri="{FF2B5EF4-FFF2-40B4-BE49-F238E27FC236}">
                <a16:creationId xmlns:a16="http://schemas.microsoft.com/office/drawing/2014/main" id="{CBC3C208-1E37-3B7F-EE2B-C2BA29242467}"/>
              </a:ext>
            </a:extLst>
          </p:cNvPr>
          <p:cNvCxnSpPr>
            <a:stCxn id="35" idx="3"/>
            <a:endCxn id="81" idx="1"/>
          </p:cNvCxnSpPr>
          <p:nvPr/>
        </p:nvCxnSpPr>
        <p:spPr>
          <a:xfrm flipV="1">
            <a:off x="5680364" y="5164659"/>
            <a:ext cx="676563" cy="1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ector de Seta Reta 90">
            <a:extLst>
              <a:ext uri="{FF2B5EF4-FFF2-40B4-BE49-F238E27FC236}">
                <a16:creationId xmlns:a16="http://schemas.microsoft.com/office/drawing/2014/main" id="{84B60DAA-F8D1-0316-ACC1-DB01FBFD35FE}"/>
              </a:ext>
            </a:extLst>
          </p:cNvPr>
          <p:cNvCxnSpPr>
            <a:stCxn id="36" idx="3"/>
            <a:endCxn id="85" idx="1"/>
          </p:cNvCxnSpPr>
          <p:nvPr/>
        </p:nvCxnSpPr>
        <p:spPr>
          <a:xfrm>
            <a:off x="5680364" y="5631353"/>
            <a:ext cx="672885" cy="4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ector de Seta Reta 94">
            <a:extLst>
              <a:ext uri="{FF2B5EF4-FFF2-40B4-BE49-F238E27FC236}">
                <a16:creationId xmlns:a16="http://schemas.microsoft.com/office/drawing/2014/main" id="{7DE7BEF2-7FAC-E5C6-AF78-90C2E6097A5C}"/>
              </a:ext>
            </a:extLst>
          </p:cNvPr>
          <p:cNvCxnSpPr>
            <a:stCxn id="37" idx="3"/>
            <a:endCxn id="87" idx="1"/>
          </p:cNvCxnSpPr>
          <p:nvPr/>
        </p:nvCxnSpPr>
        <p:spPr>
          <a:xfrm>
            <a:off x="5680364" y="6136741"/>
            <a:ext cx="672885" cy="5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823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81D74-797A-C612-B350-43ABBE523311}"/>
            </a:ext>
          </a:extLst>
        </p:cNvPr>
        <p:cNvGrpSpPr/>
        <p:nvPr/>
      </p:nvGrpSpPr>
      <p:grpSpPr>
        <a:xfrm>
          <a:off x="0" y="0"/>
          <a:ext cx="0" cy="0"/>
          <a:chOff x="0" y="0"/>
          <a:chExt cx="0" cy="0"/>
        </a:xfrm>
      </p:grpSpPr>
      <p:sp>
        <p:nvSpPr>
          <p:cNvPr id="5" name="Espaço Reservado para Rodapé 3">
            <a:extLst>
              <a:ext uri="{FF2B5EF4-FFF2-40B4-BE49-F238E27FC236}">
                <a16:creationId xmlns:a16="http://schemas.microsoft.com/office/drawing/2014/main" id="{C180BED0-8613-22DE-1260-9A46C728A92B}"/>
              </a:ext>
            </a:extLst>
          </p:cNvPr>
          <p:cNvSpPr>
            <a:spLocks noGrp="1"/>
          </p:cNvSpPr>
          <p:nvPr>
            <p:ph type="ftr" sz="quarter" idx="11"/>
          </p:nvPr>
        </p:nvSpPr>
        <p:spPr>
          <a:xfrm>
            <a:off x="4038600" y="6356350"/>
            <a:ext cx="4114800" cy="365125"/>
          </a:xfrm>
        </p:spPr>
        <p:txBody>
          <a:bodyPr/>
          <a:lstStyle/>
          <a:p>
            <a:r>
              <a:rPr lang="pt-BR" dirty="0"/>
              <a:t>DBA </a:t>
            </a:r>
            <a:r>
              <a:rPr lang="pt-BR" dirty="0" err="1"/>
              <a:t>Assists</a:t>
            </a:r>
            <a:r>
              <a:rPr lang="pt-BR" dirty="0"/>
              <a:t> - Transformando Dados em Informação - www.dbaassists.com.br</a:t>
            </a:r>
          </a:p>
        </p:txBody>
      </p:sp>
      <p:pic>
        <p:nvPicPr>
          <p:cNvPr id="1026" name="Picture 2">
            <a:extLst>
              <a:ext uri="{FF2B5EF4-FFF2-40B4-BE49-F238E27FC236}">
                <a16:creationId xmlns:a16="http://schemas.microsoft.com/office/drawing/2014/main" id="{C04335A5-2127-BDD9-B99E-EF520F989D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330" y="1441348"/>
            <a:ext cx="6911340" cy="4548108"/>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2">
            <a:extLst>
              <a:ext uri="{FF2B5EF4-FFF2-40B4-BE49-F238E27FC236}">
                <a16:creationId xmlns:a16="http://schemas.microsoft.com/office/drawing/2014/main" id="{0177943F-7BD6-A77C-97D0-718E2221E649}"/>
              </a:ext>
            </a:extLst>
          </p:cNvPr>
          <p:cNvSpPr txBox="1"/>
          <p:nvPr/>
        </p:nvSpPr>
        <p:spPr>
          <a:xfrm>
            <a:off x="130373" y="301496"/>
            <a:ext cx="12061627" cy="923330"/>
          </a:xfrm>
          <a:prstGeom prst="rect">
            <a:avLst/>
          </a:prstGeom>
          <a:noFill/>
        </p:spPr>
        <p:txBody>
          <a:bodyPr wrap="square" rtlCol="0">
            <a:spAutoFit/>
          </a:bodyPr>
          <a:lstStyle/>
          <a:p>
            <a:r>
              <a:rPr lang="pt-BR" sz="5400" dirty="0">
                <a:solidFill>
                  <a:srgbClr val="007DA9"/>
                </a:solidFill>
                <a:latin typeface="Impact" panose="020B0806030902050204" pitchFamily="34" charset="0"/>
              </a:rPr>
              <a:t>SCD ou </a:t>
            </a:r>
            <a:r>
              <a:rPr lang="pt-BR" sz="5400" dirty="0" err="1">
                <a:solidFill>
                  <a:srgbClr val="007DA9"/>
                </a:solidFill>
                <a:latin typeface="Impact" panose="020B0806030902050204" pitchFamily="34" charset="0"/>
              </a:rPr>
              <a:t>Slowly</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Changing</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Dimensions</a:t>
            </a:r>
            <a:r>
              <a:rPr lang="pt-BR" sz="5400" dirty="0">
                <a:solidFill>
                  <a:srgbClr val="007DA9"/>
                </a:solidFill>
                <a:latin typeface="Impact" panose="020B0806030902050204" pitchFamily="34" charset="0"/>
              </a:rPr>
              <a:t> </a:t>
            </a:r>
          </a:p>
        </p:txBody>
      </p:sp>
      <p:sp>
        <p:nvSpPr>
          <p:cNvPr id="6" name="sketchy line">
            <a:extLst>
              <a:ext uri="{FF2B5EF4-FFF2-40B4-BE49-F238E27FC236}">
                <a16:creationId xmlns:a16="http://schemas.microsoft.com/office/drawing/2014/main" id="{6F2F89EF-5B1D-792E-AE47-43675A3B1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pic>
        <p:nvPicPr>
          <p:cNvPr id="7" name="Imagem 6" descr="Placa azul com letras brancas em fundo preto&#10;&#10;Descrição gerada automaticamente com confiança média">
            <a:extLst>
              <a:ext uri="{FF2B5EF4-FFF2-40B4-BE49-F238E27FC236}">
                <a16:creationId xmlns:a16="http://schemas.microsoft.com/office/drawing/2014/main" id="{7FB9A2C5-9805-6396-0D3E-480F3456EA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Tree>
    <p:extLst>
      <p:ext uri="{BB962C8B-B14F-4D97-AF65-F5344CB8AC3E}">
        <p14:creationId xmlns:p14="http://schemas.microsoft.com/office/powerpoint/2010/main" val="617241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3DA8E-A4DA-108D-9CC7-BA77B52E15C6}"/>
            </a:ext>
          </a:extLst>
        </p:cNvPr>
        <p:cNvGrpSpPr/>
        <p:nvPr/>
      </p:nvGrpSpPr>
      <p:grpSpPr>
        <a:xfrm>
          <a:off x="0" y="0"/>
          <a:ext cx="0" cy="0"/>
          <a:chOff x="0" y="0"/>
          <a:chExt cx="0" cy="0"/>
        </a:xfrm>
      </p:grpSpPr>
      <p:sp>
        <p:nvSpPr>
          <p:cNvPr id="5" name="Espaço Reservado para Rodapé 3">
            <a:extLst>
              <a:ext uri="{FF2B5EF4-FFF2-40B4-BE49-F238E27FC236}">
                <a16:creationId xmlns:a16="http://schemas.microsoft.com/office/drawing/2014/main" id="{A22FC3ED-57F0-0879-A296-2DE120D35DDF}"/>
              </a:ext>
            </a:extLst>
          </p:cNvPr>
          <p:cNvSpPr>
            <a:spLocks noGrp="1"/>
          </p:cNvSpPr>
          <p:nvPr>
            <p:ph type="ftr" sz="quarter" idx="11"/>
          </p:nvPr>
        </p:nvSpPr>
        <p:spPr>
          <a:xfrm>
            <a:off x="4038600" y="6356350"/>
            <a:ext cx="4114800" cy="365125"/>
          </a:xfrm>
        </p:spPr>
        <p:txBody>
          <a:bodyPr/>
          <a:lstStyle/>
          <a:p>
            <a:r>
              <a:rPr lang="pt-BR" dirty="0"/>
              <a:t>DBA </a:t>
            </a:r>
            <a:r>
              <a:rPr lang="pt-BR" dirty="0" err="1"/>
              <a:t>Assists</a:t>
            </a:r>
            <a:r>
              <a:rPr lang="pt-BR" dirty="0"/>
              <a:t> - Transformando Dados em Informação - www.dbaassists.com.br</a:t>
            </a:r>
          </a:p>
        </p:txBody>
      </p:sp>
      <p:sp>
        <p:nvSpPr>
          <p:cNvPr id="6" name="sketchy line">
            <a:extLst>
              <a:ext uri="{FF2B5EF4-FFF2-40B4-BE49-F238E27FC236}">
                <a16:creationId xmlns:a16="http://schemas.microsoft.com/office/drawing/2014/main" id="{7DA05E57-69C7-EFE2-539D-C6FF4CBC5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sp>
        <p:nvSpPr>
          <p:cNvPr id="8" name="CaixaDeTexto 7">
            <a:extLst>
              <a:ext uri="{FF2B5EF4-FFF2-40B4-BE49-F238E27FC236}">
                <a16:creationId xmlns:a16="http://schemas.microsoft.com/office/drawing/2014/main" id="{3ADF6065-638F-DAD6-8DA5-5567298034E5}"/>
              </a:ext>
            </a:extLst>
          </p:cNvPr>
          <p:cNvSpPr txBox="1"/>
          <p:nvPr/>
        </p:nvSpPr>
        <p:spPr>
          <a:xfrm>
            <a:off x="130373" y="301496"/>
            <a:ext cx="12061627" cy="923330"/>
          </a:xfrm>
          <a:prstGeom prst="rect">
            <a:avLst/>
          </a:prstGeom>
          <a:noFill/>
        </p:spPr>
        <p:txBody>
          <a:bodyPr wrap="square" rtlCol="0">
            <a:spAutoFit/>
          </a:bodyPr>
          <a:lstStyle/>
          <a:p>
            <a:r>
              <a:rPr lang="pt-BR" sz="5400" dirty="0">
                <a:solidFill>
                  <a:srgbClr val="007DA9"/>
                </a:solidFill>
                <a:latin typeface="Impact" panose="020B0806030902050204" pitchFamily="34" charset="0"/>
              </a:rPr>
              <a:t>SCD ou </a:t>
            </a:r>
            <a:r>
              <a:rPr lang="pt-BR" sz="5400" dirty="0" err="1">
                <a:solidFill>
                  <a:srgbClr val="007DA9"/>
                </a:solidFill>
                <a:latin typeface="Impact" panose="020B0806030902050204" pitchFamily="34" charset="0"/>
              </a:rPr>
              <a:t>Slowly</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Changing</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Dimensions</a:t>
            </a:r>
            <a:r>
              <a:rPr lang="pt-BR" sz="5400" dirty="0">
                <a:solidFill>
                  <a:srgbClr val="007DA9"/>
                </a:solidFill>
                <a:latin typeface="Impact" panose="020B0806030902050204" pitchFamily="34" charset="0"/>
              </a:rPr>
              <a:t> </a:t>
            </a:r>
          </a:p>
        </p:txBody>
      </p:sp>
      <p:pic>
        <p:nvPicPr>
          <p:cNvPr id="9" name="Imagem 8" descr="Placa azul com letras brancas em fundo preto&#10;&#10;Descrição gerada automaticamente com confiança média">
            <a:extLst>
              <a:ext uri="{FF2B5EF4-FFF2-40B4-BE49-F238E27FC236}">
                <a16:creationId xmlns:a16="http://schemas.microsoft.com/office/drawing/2014/main" id="{410D0FF1-C06A-A077-7BD5-8F3CDAFB69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2" name="Retângulo 1">
            <a:extLst>
              <a:ext uri="{FF2B5EF4-FFF2-40B4-BE49-F238E27FC236}">
                <a16:creationId xmlns:a16="http://schemas.microsoft.com/office/drawing/2014/main" id="{21B37D16-35FC-3F65-A9FC-484C0BE3F80B}"/>
              </a:ext>
            </a:extLst>
          </p:cNvPr>
          <p:cNvSpPr/>
          <p:nvPr/>
        </p:nvSpPr>
        <p:spPr>
          <a:xfrm>
            <a:off x="535115" y="3650489"/>
            <a:ext cx="1043502" cy="497491"/>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SCD</a:t>
            </a:r>
          </a:p>
        </p:txBody>
      </p:sp>
      <p:sp>
        <p:nvSpPr>
          <p:cNvPr id="3" name="Retângulo 2">
            <a:extLst>
              <a:ext uri="{FF2B5EF4-FFF2-40B4-BE49-F238E27FC236}">
                <a16:creationId xmlns:a16="http://schemas.microsoft.com/office/drawing/2014/main" id="{8BD10484-F834-8BEF-0759-8B24B7B5BFF4}"/>
              </a:ext>
            </a:extLst>
          </p:cNvPr>
          <p:cNvSpPr/>
          <p:nvPr/>
        </p:nvSpPr>
        <p:spPr>
          <a:xfrm>
            <a:off x="2234399" y="3650489"/>
            <a:ext cx="1388565" cy="497491"/>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SCD </a:t>
            </a:r>
            <a:r>
              <a:rPr lang="pt-BR" sz="1600" dirty="0" err="1">
                <a:latin typeface="Impact" panose="020B0806030902050204" pitchFamily="34" charset="0"/>
              </a:rPr>
              <a:t>Type</a:t>
            </a:r>
            <a:r>
              <a:rPr lang="pt-BR" sz="1600" dirty="0">
                <a:latin typeface="Impact" panose="020B0806030902050204" pitchFamily="34" charset="0"/>
              </a:rPr>
              <a:t> 1</a:t>
            </a:r>
          </a:p>
        </p:txBody>
      </p:sp>
      <p:cxnSp>
        <p:nvCxnSpPr>
          <p:cNvPr id="4" name="Conector de Seta Reta 3">
            <a:extLst>
              <a:ext uri="{FF2B5EF4-FFF2-40B4-BE49-F238E27FC236}">
                <a16:creationId xmlns:a16="http://schemas.microsoft.com/office/drawing/2014/main" id="{9E2C697A-AF95-B89E-92E0-B393F0D314C4}"/>
              </a:ext>
            </a:extLst>
          </p:cNvPr>
          <p:cNvCxnSpPr>
            <a:stCxn id="2" idx="3"/>
            <a:endCxn id="3" idx="1"/>
          </p:cNvCxnSpPr>
          <p:nvPr/>
        </p:nvCxnSpPr>
        <p:spPr>
          <a:xfrm>
            <a:off x="1578617" y="3899235"/>
            <a:ext cx="655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Imagem 10">
            <a:extLst>
              <a:ext uri="{FF2B5EF4-FFF2-40B4-BE49-F238E27FC236}">
                <a16:creationId xmlns:a16="http://schemas.microsoft.com/office/drawing/2014/main" id="{77E78A3F-FF91-A559-67BD-DC9801F07CE6}"/>
              </a:ext>
            </a:extLst>
          </p:cNvPr>
          <p:cNvPicPr>
            <a:picLocks noChangeAspect="1"/>
          </p:cNvPicPr>
          <p:nvPr/>
        </p:nvPicPr>
        <p:blipFill>
          <a:blip r:embed="rId4"/>
          <a:stretch>
            <a:fillRect/>
          </a:stretch>
        </p:blipFill>
        <p:spPr>
          <a:xfrm>
            <a:off x="4224691" y="2427832"/>
            <a:ext cx="7344800" cy="1171739"/>
          </a:xfrm>
          <a:prstGeom prst="rect">
            <a:avLst/>
          </a:prstGeom>
        </p:spPr>
      </p:pic>
      <p:sp>
        <p:nvSpPr>
          <p:cNvPr id="12" name="CaixaDeTexto 11">
            <a:extLst>
              <a:ext uri="{FF2B5EF4-FFF2-40B4-BE49-F238E27FC236}">
                <a16:creationId xmlns:a16="http://schemas.microsoft.com/office/drawing/2014/main" id="{624F8E72-EB44-6DAD-18CD-BA53937B5AB3}"/>
              </a:ext>
            </a:extLst>
          </p:cNvPr>
          <p:cNvSpPr txBox="1"/>
          <p:nvPr/>
        </p:nvSpPr>
        <p:spPr>
          <a:xfrm>
            <a:off x="4276437" y="1720774"/>
            <a:ext cx="2248949" cy="646331"/>
          </a:xfrm>
          <a:prstGeom prst="rect">
            <a:avLst/>
          </a:prstGeom>
          <a:noFill/>
          <a:ln w="38100">
            <a:solidFill>
              <a:srgbClr val="FF0000"/>
            </a:solidFill>
          </a:ln>
        </p:spPr>
        <p:txBody>
          <a:bodyPr wrap="none" rtlCol="0">
            <a:spAutoFit/>
          </a:bodyPr>
          <a:lstStyle/>
          <a:p>
            <a:r>
              <a:rPr lang="pt-BR" dirty="0"/>
              <a:t>SELECT * </a:t>
            </a:r>
          </a:p>
          <a:p>
            <a:r>
              <a:rPr lang="pt-BR" dirty="0"/>
              <a:t>FROM </a:t>
            </a:r>
            <a:r>
              <a:rPr lang="pt-BR" dirty="0" err="1"/>
              <a:t>dbo.TB_ALUNO</a:t>
            </a:r>
            <a:endParaRPr lang="pt-BR" dirty="0"/>
          </a:p>
        </p:txBody>
      </p:sp>
      <p:pic>
        <p:nvPicPr>
          <p:cNvPr id="14" name="Imagem 13">
            <a:extLst>
              <a:ext uri="{FF2B5EF4-FFF2-40B4-BE49-F238E27FC236}">
                <a16:creationId xmlns:a16="http://schemas.microsoft.com/office/drawing/2014/main" id="{949351F7-619C-ECD9-6E0E-57CA9F6FF7D6}"/>
              </a:ext>
            </a:extLst>
          </p:cNvPr>
          <p:cNvPicPr>
            <a:picLocks noChangeAspect="1"/>
          </p:cNvPicPr>
          <p:nvPr/>
        </p:nvPicPr>
        <p:blipFill>
          <a:blip r:embed="rId5"/>
          <a:stretch>
            <a:fillRect/>
          </a:stretch>
        </p:blipFill>
        <p:spPr>
          <a:xfrm>
            <a:off x="4224691" y="4898866"/>
            <a:ext cx="7468642" cy="1286054"/>
          </a:xfrm>
          <a:prstGeom prst="rect">
            <a:avLst/>
          </a:prstGeom>
        </p:spPr>
      </p:pic>
      <p:sp>
        <p:nvSpPr>
          <p:cNvPr id="15" name="CaixaDeTexto 14">
            <a:extLst>
              <a:ext uri="{FF2B5EF4-FFF2-40B4-BE49-F238E27FC236}">
                <a16:creationId xmlns:a16="http://schemas.microsoft.com/office/drawing/2014/main" id="{EDDA0C6D-9954-5C27-1FC1-A728BE700B68}"/>
              </a:ext>
            </a:extLst>
          </p:cNvPr>
          <p:cNvSpPr txBox="1"/>
          <p:nvPr/>
        </p:nvSpPr>
        <p:spPr>
          <a:xfrm>
            <a:off x="7626929" y="3982979"/>
            <a:ext cx="2248949" cy="925200"/>
          </a:xfrm>
          <a:prstGeom prst="rect">
            <a:avLst/>
          </a:prstGeom>
          <a:noFill/>
          <a:ln w="38100">
            <a:solidFill>
              <a:srgbClr val="FF0000"/>
            </a:solidFill>
          </a:ln>
        </p:spPr>
        <p:txBody>
          <a:bodyPr wrap="none" rtlCol="0">
            <a:spAutoFit/>
          </a:bodyPr>
          <a:lstStyle/>
          <a:p>
            <a:r>
              <a:rPr lang="pt-BR" dirty="0"/>
              <a:t>SELECT * </a:t>
            </a:r>
          </a:p>
          <a:p>
            <a:r>
              <a:rPr lang="pt-BR" dirty="0"/>
              <a:t>FROM </a:t>
            </a:r>
            <a:r>
              <a:rPr lang="pt-BR" dirty="0" err="1"/>
              <a:t>dbo.TB_ALUNO</a:t>
            </a:r>
            <a:endParaRPr lang="pt-BR" dirty="0"/>
          </a:p>
          <a:p>
            <a:endParaRPr lang="pt-BR" dirty="0"/>
          </a:p>
        </p:txBody>
      </p:sp>
      <p:sp>
        <p:nvSpPr>
          <p:cNvPr id="16" name="CaixaDeTexto 15">
            <a:extLst>
              <a:ext uri="{FF2B5EF4-FFF2-40B4-BE49-F238E27FC236}">
                <a16:creationId xmlns:a16="http://schemas.microsoft.com/office/drawing/2014/main" id="{E3B442A0-4148-CA37-F8C0-726B73ABA671}"/>
              </a:ext>
            </a:extLst>
          </p:cNvPr>
          <p:cNvSpPr txBox="1"/>
          <p:nvPr/>
        </p:nvSpPr>
        <p:spPr>
          <a:xfrm>
            <a:off x="4279428" y="3982128"/>
            <a:ext cx="3348000" cy="923330"/>
          </a:xfrm>
          <a:prstGeom prst="rect">
            <a:avLst/>
          </a:prstGeom>
          <a:noFill/>
          <a:ln w="38100">
            <a:solidFill>
              <a:srgbClr val="FF0000"/>
            </a:solidFill>
          </a:ln>
        </p:spPr>
        <p:txBody>
          <a:bodyPr wrap="none" rtlCol="0">
            <a:spAutoFit/>
          </a:bodyPr>
          <a:lstStyle/>
          <a:p>
            <a:r>
              <a:rPr lang="pt-BR" dirty="0"/>
              <a:t>UPDATE </a:t>
            </a:r>
            <a:r>
              <a:rPr lang="pt-BR" dirty="0" err="1"/>
              <a:t>dbo.TB_ALUNO</a:t>
            </a:r>
            <a:endParaRPr lang="pt-BR" dirty="0"/>
          </a:p>
          <a:p>
            <a:r>
              <a:rPr lang="pt-BR" dirty="0"/>
              <a:t>SET NUM_SERIE = 7 </a:t>
            </a:r>
          </a:p>
          <a:p>
            <a:r>
              <a:rPr lang="pt-BR" dirty="0"/>
              <a:t>WHERE NUM_MATRICULA = 1234</a:t>
            </a:r>
          </a:p>
        </p:txBody>
      </p:sp>
      <p:sp>
        <p:nvSpPr>
          <p:cNvPr id="20" name="Retângulo 19">
            <a:extLst>
              <a:ext uri="{FF2B5EF4-FFF2-40B4-BE49-F238E27FC236}">
                <a16:creationId xmlns:a16="http://schemas.microsoft.com/office/drawing/2014/main" id="{13E05E0E-BC6C-565D-89CF-0490343956E8}"/>
              </a:ext>
            </a:extLst>
          </p:cNvPr>
          <p:cNvSpPr/>
          <p:nvPr/>
        </p:nvSpPr>
        <p:spPr>
          <a:xfrm>
            <a:off x="4278746" y="1720774"/>
            <a:ext cx="7432194" cy="19593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Retângulo 21">
            <a:extLst>
              <a:ext uri="{FF2B5EF4-FFF2-40B4-BE49-F238E27FC236}">
                <a16:creationId xmlns:a16="http://schemas.microsoft.com/office/drawing/2014/main" id="{A437C1A5-4DBA-AC59-F75D-59832FDE48AD}"/>
              </a:ext>
            </a:extLst>
          </p:cNvPr>
          <p:cNvSpPr/>
          <p:nvPr/>
        </p:nvSpPr>
        <p:spPr>
          <a:xfrm>
            <a:off x="4280108" y="3981472"/>
            <a:ext cx="7432194" cy="21889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CaixaDeTexto 22">
            <a:extLst>
              <a:ext uri="{FF2B5EF4-FFF2-40B4-BE49-F238E27FC236}">
                <a16:creationId xmlns:a16="http://schemas.microsoft.com/office/drawing/2014/main" id="{5BAA712E-F92E-96EF-C966-8AAFF559F94A}"/>
              </a:ext>
            </a:extLst>
          </p:cNvPr>
          <p:cNvSpPr txBox="1"/>
          <p:nvPr/>
        </p:nvSpPr>
        <p:spPr>
          <a:xfrm>
            <a:off x="10302975" y="1719817"/>
            <a:ext cx="1422634" cy="369332"/>
          </a:xfrm>
          <a:prstGeom prst="rect">
            <a:avLst/>
          </a:prstGeom>
          <a:noFill/>
        </p:spPr>
        <p:txBody>
          <a:bodyPr wrap="none" rtlCol="0">
            <a:spAutoFit/>
          </a:bodyPr>
          <a:lstStyle/>
          <a:p>
            <a:r>
              <a:rPr lang="pt-BR" b="1" dirty="0">
                <a:solidFill>
                  <a:srgbClr val="FF0000"/>
                </a:solidFill>
              </a:rPr>
              <a:t>Momento 01</a:t>
            </a:r>
          </a:p>
        </p:txBody>
      </p:sp>
      <p:sp>
        <p:nvSpPr>
          <p:cNvPr id="24" name="CaixaDeTexto 23">
            <a:extLst>
              <a:ext uri="{FF2B5EF4-FFF2-40B4-BE49-F238E27FC236}">
                <a16:creationId xmlns:a16="http://schemas.microsoft.com/office/drawing/2014/main" id="{E6FBFECD-F1D3-647B-0CDE-D6C3C3B7B282}"/>
              </a:ext>
            </a:extLst>
          </p:cNvPr>
          <p:cNvSpPr txBox="1"/>
          <p:nvPr/>
        </p:nvSpPr>
        <p:spPr>
          <a:xfrm>
            <a:off x="10302975" y="3967000"/>
            <a:ext cx="1422634" cy="369332"/>
          </a:xfrm>
          <a:prstGeom prst="rect">
            <a:avLst/>
          </a:prstGeom>
          <a:noFill/>
        </p:spPr>
        <p:txBody>
          <a:bodyPr wrap="none" rtlCol="0">
            <a:spAutoFit/>
          </a:bodyPr>
          <a:lstStyle/>
          <a:p>
            <a:r>
              <a:rPr lang="pt-BR" b="1" dirty="0">
                <a:solidFill>
                  <a:srgbClr val="FF0000"/>
                </a:solidFill>
              </a:rPr>
              <a:t>Momento 02</a:t>
            </a:r>
          </a:p>
        </p:txBody>
      </p:sp>
      <p:sp>
        <p:nvSpPr>
          <p:cNvPr id="25" name="Chave Esquerda 24">
            <a:extLst>
              <a:ext uri="{FF2B5EF4-FFF2-40B4-BE49-F238E27FC236}">
                <a16:creationId xmlns:a16="http://schemas.microsoft.com/office/drawing/2014/main" id="{28467333-EDD1-EC82-9107-CE9FA39D2D97}"/>
              </a:ext>
            </a:extLst>
          </p:cNvPr>
          <p:cNvSpPr/>
          <p:nvPr/>
        </p:nvSpPr>
        <p:spPr>
          <a:xfrm>
            <a:off x="3796144" y="1412808"/>
            <a:ext cx="489528" cy="5024937"/>
          </a:xfrm>
          <a:prstGeom prst="leftBrace">
            <a:avLst/>
          </a:prstGeom>
          <a:ln w="57150">
            <a:solidFill>
              <a:srgbClr val="007DA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26" name="Conector reto 25">
            <a:extLst>
              <a:ext uri="{FF2B5EF4-FFF2-40B4-BE49-F238E27FC236}">
                <a16:creationId xmlns:a16="http://schemas.microsoft.com/office/drawing/2014/main" id="{7F0D533B-CEBA-5F43-DE5A-921A77005C42}"/>
              </a:ext>
            </a:extLst>
          </p:cNvPr>
          <p:cNvCxnSpPr>
            <a:cxnSpLocks/>
          </p:cNvCxnSpPr>
          <p:nvPr/>
        </p:nvCxnSpPr>
        <p:spPr>
          <a:xfrm>
            <a:off x="4238810" y="3854215"/>
            <a:ext cx="7316474" cy="0"/>
          </a:xfrm>
          <a:prstGeom prst="line">
            <a:avLst/>
          </a:prstGeom>
          <a:ln w="38100">
            <a:solidFill>
              <a:srgbClr val="007DA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5992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3DA8E-A4DA-108D-9CC7-BA77B52E15C6}"/>
            </a:ext>
          </a:extLst>
        </p:cNvPr>
        <p:cNvGrpSpPr/>
        <p:nvPr/>
      </p:nvGrpSpPr>
      <p:grpSpPr>
        <a:xfrm>
          <a:off x="0" y="0"/>
          <a:ext cx="0" cy="0"/>
          <a:chOff x="0" y="0"/>
          <a:chExt cx="0" cy="0"/>
        </a:xfrm>
      </p:grpSpPr>
      <p:sp>
        <p:nvSpPr>
          <p:cNvPr id="5" name="Espaço Reservado para Rodapé 3">
            <a:extLst>
              <a:ext uri="{FF2B5EF4-FFF2-40B4-BE49-F238E27FC236}">
                <a16:creationId xmlns:a16="http://schemas.microsoft.com/office/drawing/2014/main" id="{A22FC3ED-57F0-0879-A296-2DE120D35DDF}"/>
              </a:ext>
            </a:extLst>
          </p:cNvPr>
          <p:cNvSpPr>
            <a:spLocks noGrp="1"/>
          </p:cNvSpPr>
          <p:nvPr>
            <p:ph type="ftr" sz="quarter" idx="11"/>
          </p:nvPr>
        </p:nvSpPr>
        <p:spPr>
          <a:xfrm>
            <a:off x="4038600" y="6356350"/>
            <a:ext cx="4114800" cy="365125"/>
          </a:xfrm>
        </p:spPr>
        <p:txBody>
          <a:bodyPr/>
          <a:lstStyle/>
          <a:p>
            <a:r>
              <a:rPr lang="pt-BR" dirty="0"/>
              <a:t>DBA </a:t>
            </a:r>
            <a:r>
              <a:rPr lang="pt-BR" dirty="0" err="1"/>
              <a:t>Assists</a:t>
            </a:r>
            <a:r>
              <a:rPr lang="pt-BR" dirty="0"/>
              <a:t> - Transformando Dados em Informação - www.dbaassists.com.br</a:t>
            </a:r>
          </a:p>
        </p:txBody>
      </p:sp>
      <p:sp>
        <p:nvSpPr>
          <p:cNvPr id="6" name="sketchy line">
            <a:extLst>
              <a:ext uri="{FF2B5EF4-FFF2-40B4-BE49-F238E27FC236}">
                <a16:creationId xmlns:a16="http://schemas.microsoft.com/office/drawing/2014/main" id="{7DA05E57-69C7-EFE2-539D-C6FF4CBC5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sp>
        <p:nvSpPr>
          <p:cNvPr id="8" name="CaixaDeTexto 7">
            <a:extLst>
              <a:ext uri="{FF2B5EF4-FFF2-40B4-BE49-F238E27FC236}">
                <a16:creationId xmlns:a16="http://schemas.microsoft.com/office/drawing/2014/main" id="{3ADF6065-638F-DAD6-8DA5-5567298034E5}"/>
              </a:ext>
            </a:extLst>
          </p:cNvPr>
          <p:cNvSpPr txBox="1"/>
          <p:nvPr/>
        </p:nvSpPr>
        <p:spPr>
          <a:xfrm>
            <a:off x="130373" y="301496"/>
            <a:ext cx="12061627" cy="923330"/>
          </a:xfrm>
          <a:prstGeom prst="rect">
            <a:avLst/>
          </a:prstGeom>
          <a:noFill/>
        </p:spPr>
        <p:txBody>
          <a:bodyPr wrap="square" rtlCol="0">
            <a:spAutoFit/>
          </a:bodyPr>
          <a:lstStyle/>
          <a:p>
            <a:r>
              <a:rPr lang="pt-BR" sz="5400" dirty="0">
                <a:solidFill>
                  <a:srgbClr val="007DA9"/>
                </a:solidFill>
                <a:latin typeface="Impact" panose="020B0806030902050204" pitchFamily="34" charset="0"/>
              </a:rPr>
              <a:t>SCD ou </a:t>
            </a:r>
            <a:r>
              <a:rPr lang="pt-BR" sz="5400" dirty="0" err="1">
                <a:solidFill>
                  <a:srgbClr val="007DA9"/>
                </a:solidFill>
                <a:latin typeface="Impact" panose="020B0806030902050204" pitchFamily="34" charset="0"/>
              </a:rPr>
              <a:t>Slowly</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Changing</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Dimensions</a:t>
            </a:r>
            <a:r>
              <a:rPr lang="pt-BR" sz="5400" dirty="0">
                <a:solidFill>
                  <a:srgbClr val="007DA9"/>
                </a:solidFill>
                <a:latin typeface="Impact" panose="020B0806030902050204" pitchFamily="34" charset="0"/>
              </a:rPr>
              <a:t> </a:t>
            </a:r>
          </a:p>
        </p:txBody>
      </p:sp>
      <p:pic>
        <p:nvPicPr>
          <p:cNvPr id="9" name="Imagem 8" descr="Placa azul com letras brancas em fundo preto&#10;&#10;Descrição gerada automaticamente com confiança média">
            <a:extLst>
              <a:ext uri="{FF2B5EF4-FFF2-40B4-BE49-F238E27FC236}">
                <a16:creationId xmlns:a16="http://schemas.microsoft.com/office/drawing/2014/main" id="{410D0FF1-C06A-A077-7BD5-8F3CDAFB69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2" name="Retângulo 1">
            <a:extLst>
              <a:ext uri="{FF2B5EF4-FFF2-40B4-BE49-F238E27FC236}">
                <a16:creationId xmlns:a16="http://schemas.microsoft.com/office/drawing/2014/main" id="{21B37D16-35FC-3F65-A9FC-484C0BE3F80B}"/>
              </a:ext>
            </a:extLst>
          </p:cNvPr>
          <p:cNvSpPr/>
          <p:nvPr/>
        </p:nvSpPr>
        <p:spPr>
          <a:xfrm>
            <a:off x="535115" y="3650489"/>
            <a:ext cx="1043502" cy="497491"/>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SCD</a:t>
            </a:r>
          </a:p>
        </p:txBody>
      </p:sp>
      <p:sp>
        <p:nvSpPr>
          <p:cNvPr id="3" name="Retângulo 2">
            <a:extLst>
              <a:ext uri="{FF2B5EF4-FFF2-40B4-BE49-F238E27FC236}">
                <a16:creationId xmlns:a16="http://schemas.microsoft.com/office/drawing/2014/main" id="{8BD10484-F834-8BEF-0759-8B24B7B5BFF4}"/>
              </a:ext>
            </a:extLst>
          </p:cNvPr>
          <p:cNvSpPr/>
          <p:nvPr/>
        </p:nvSpPr>
        <p:spPr>
          <a:xfrm>
            <a:off x="2234399" y="3650489"/>
            <a:ext cx="1388565" cy="497491"/>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SCD </a:t>
            </a:r>
            <a:r>
              <a:rPr lang="pt-BR" sz="1600" dirty="0" err="1">
                <a:latin typeface="Impact" panose="020B0806030902050204" pitchFamily="34" charset="0"/>
              </a:rPr>
              <a:t>Type</a:t>
            </a:r>
            <a:r>
              <a:rPr lang="pt-BR" sz="1600" dirty="0">
                <a:latin typeface="Impact" panose="020B0806030902050204" pitchFamily="34" charset="0"/>
              </a:rPr>
              <a:t> 2</a:t>
            </a:r>
          </a:p>
        </p:txBody>
      </p:sp>
      <p:cxnSp>
        <p:nvCxnSpPr>
          <p:cNvPr id="4" name="Conector de Seta Reta 3">
            <a:extLst>
              <a:ext uri="{FF2B5EF4-FFF2-40B4-BE49-F238E27FC236}">
                <a16:creationId xmlns:a16="http://schemas.microsoft.com/office/drawing/2014/main" id="{9E2C697A-AF95-B89E-92E0-B393F0D314C4}"/>
              </a:ext>
            </a:extLst>
          </p:cNvPr>
          <p:cNvCxnSpPr>
            <a:stCxn id="2" idx="3"/>
            <a:endCxn id="3" idx="1"/>
          </p:cNvCxnSpPr>
          <p:nvPr/>
        </p:nvCxnSpPr>
        <p:spPr>
          <a:xfrm>
            <a:off x="1578617" y="3899235"/>
            <a:ext cx="655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Imagem 9">
            <a:extLst>
              <a:ext uri="{FF2B5EF4-FFF2-40B4-BE49-F238E27FC236}">
                <a16:creationId xmlns:a16="http://schemas.microsoft.com/office/drawing/2014/main" id="{C200E372-6DCD-83C6-9B86-9B66E3FF91ED}"/>
              </a:ext>
            </a:extLst>
          </p:cNvPr>
          <p:cNvPicPr>
            <a:picLocks noChangeAspect="1"/>
          </p:cNvPicPr>
          <p:nvPr/>
        </p:nvPicPr>
        <p:blipFill>
          <a:blip r:embed="rId4"/>
          <a:stretch>
            <a:fillRect/>
          </a:stretch>
        </p:blipFill>
        <p:spPr>
          <a:xfrm>
            <a:off x="4290103" y="2552405"/>
            <a:ext cx="7690236" cy="654887"/>
          </a:xfrm>
          <a:prstGeom prst="rect">
            <a:avLst/>
          </a:prstGeom>
        </p:spPr>
      </p:pic>
      <p:pic>
        <p:nvPicPr>
          <p:cNvPr id="12" name="Imagem 11">
            <a:extLst>
              <a:ext uri="{FF2B5EF4-FFF2-40B4-BE49-F238E27FC236}">
                <a16:creationId xmlns:a16="http://schemas.microsoft.com/office/drawing/2014/main" id="{6F6692A7-083C-03E0-262E-68DCA0778563}"/>
              </a:ext>
            </a:extLst>
          </p:cNvPr>
          <p:cNvPicPr>
            <a:picLocks noChangeAspect="1"/>
          </p:cNvPicPr>
          <p:nvPr/>
        </p:nvPicPr>
        <p:blipFill>
          <a:blip r:embed="rId5"/>
          <a:stretch>
            <a:fillRect/>
          </a:stretch>
        </p:blipFill>
        <p:spPr>
          <a:xfrm>
            <a:off x="4290103" y="5009363"/>
            <a:ext cx="7689600" cy="797624"/>
          </a:xfrm>
          <a:prstGeom prst="rect">
            <a:avLst/>
          </a:prstGeom>
        </p:spPr>
      </p:pic>
      <p:sp>
        <p:nvSpPr>
          <p:cNvPr id="13" name="CaixaDeTexto 12">
            <a:extLst>
              <a:ext uri="{FF2B5EF4-FFF2-40B4-BE49-F238E27FC236}">
                <a16:creationId xmlns:a16="http://schemas.microsoft.com/office/drawing/2014/main" id="{CE66F987-D208-DDA4-F12A-2D4204EEF915}"/>
              </a:ext>
            </a:extLst>
          </p:cNvPr>
          <p:cNvSpPr txBox="1"/>
          <p:nvPr/>
        </p:nvSpPr>
        <p:spPr>
          <a:xfrm>
            <a:off x="4207713" y="1706106"/>
            <a:ext cx="2248949" cy="646331"/>
          </a:xfrm>
          <a:prstGeom prst="rect">
            <a:avLst/>
          </a:prstGeom>
          <a:noFill/>
          <a:ln w="38100">
            <a:solidFill>
              <a:srgbClr val="FF0000"/>
            </a:solidFill>
          </a:ln>
        </p:spPr>
        <p:txBody>
          <a:bodyPr wrap="none" rtlCol="0">
            <a:spAutoFit/>
          </a:bodyPr>
          <a:lstStyle/>
          <a:p>
            <a:r>
              <a:rPr lang="pt-BR" dirty="0"/>
              <a:t>SELECT * </a:t>
            </a:r>
          </a:p>
          <a:p>
            <a:r>
              <a:rPr lang="pt-BR" dirty="0"/>
              <a:t>FROM </a:t>
            </a:r>
            <a:r>
              <a:rPr lang="pt-BR" dirty="0" err="1"/>
              <a:t>dbo.TB_ALUNO</a:t>
            </a:r>
            <a:endParaRPr lang="pt-BR" dirty="0"/>
          </a:p>
        </p:txBody>
      </p:sp>
      <p:sp>
        <p:nvSpPr>
          <p:cNvPr id="14" name="Retângulo 13">
            <a:extLst>
              <a:ext uri="{FF2B5EF4-FFF2-40B4-BE49-F238E27FC236}">
                <a16:creationId xmlns:a16="http://schemas.microsoft.com/office/drawing/2014/main" id="{32F66DA9-7E8C-6E25-6324-1621FD43E4DE}"/>
              </a:ext>
            </a:extLst>
          </p:cNvPr>
          <p:cNvSpPr/>
          <p:nvPr/>
        </p:nvSpPr>
        <p:spPr>
          <a:xfrm>
            <a:off x="4210021" y="1706106"/>
            <a:ext cx="7785483" cy="19593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46E64FB4-8962-84E9-ED17-11FE92BDA505}"/>
              </a:ext>
            </a:extLst>
          </p:cNvPr>
          <p:cNvSpPr txBox="1"/>
          <p:nvPr/>
        </p:nvSpPr>
        <p:spPr>
          <a:xfrm>
            <a:off x="10234251" y="1705149"/>
            <a:ext cx="1422634" cy="369332"/>
          </a:xfrm>
          <a:prstGeom prst="rect">
            <a:avLst/>
          </a:prstGeom>
          <a:noFill/>
        </p:spPr>
        <p:txBody>
          <a:bodyPr wrap="none" rtlCol="0">
            <a:spAutoFit/>
          </a:bodyPr>
          <a:lstStyle/>
          <a:p>
            <a:r>
              <a:rPr lang="pt-BR" b="1" dirty="0">
                <a:solidFill>
                  <a:srgbClr val="FF0000"/>
                </a:solidFill>
              </a:rPr>
              <a:t>Momento 01</a:t>
            </a:r>
          </a:p>
        </p:txBody>
      </p:sp>
      <p:sp>
        <p:nvSpPr>
          <p:cNvPr id="16" name="CaixaDeTexto 15">
            <a:extLst>
              <a:ext uri="{FF2B5EF4-FFF2-40B4-BE49-F238E27FC236}">
                <a16:creationId xmlns:a16="http://schemas.microsoft.com/office/drawing/2014/main" id="{2163AEB2-D977-8555-7A74-8ECA22A18A44}"/>
              </a:ext>
            </a:extLst>
          </p:cNvPr>
          <p:cNvSpPr txBox="1"/>
          <p:nvPr/>
        </p:nvSpPr>
        <p:spPr>
          <a:xfrm>
            <a:off x="7563770" y="3977966"/>
            <a:ext cx="2248949" cy="925200"/>
          </a:xfrm>
          <a:prstGeom prst="rect">
            <a:avLst/>
          </a:prstGeom>
          <a:noFill/>
          <a:ln w="38100">
            <a:solidFill>
              <a:srgbClr val="FF0000"/>
            </a:solidFill>
          </a:ln>
        </p:spPr>
        <p:txBody>
          <a:bodyPr wrap="none" rtlCol="0">
            <a:spAutoFit/>
          </a:bodyPr>
          <a:lstStyle/>
          <a:p>
            <a:r>
              <a:rPr lang="pt-BR" dirty="0"/>
              <a:t>SELECT * </a:t>
            </a:r>
          </a:p>
          <a:p>
            <a:r>
              <a:rPr lang="pt-BR" dirty="0"/>
              <a:t>FROM </a:t>
            </a:r>
            <a:r>
              <a:rPr lang="pt-BR" dirty="0" err="1"/>
              <a:t>dbo.TB_ALUNO</a:t>
            </a:r>
            <a:endParaRPr lang="pt-BR" dirty="0"/>
          </a:p>
          <a:p>
            <a:endParaRPr lang="pt-BR" dirty="0"/>
          </a:p>
        </p:txBody>
      </p:sp>
      <p:sp>
        <p:nvSpPr>
          <p:cNvPr id="17" name="CaixaDeTexto 16">
            <a:extLst>
              <a:ext uri="{FF2B5EF4-FFF2-40B4-BE49-F238E27FC236}">
                <a16:creationId xmlns:a16="http://schemas.microsoft.com/office/drawing/2014/main" id="{F791A0F1-8638-487B-1A38-9B02E232971F}"/>
              </a:ext>
            </a:extLst>
          </p:cNvPr>
          <p:cNvSpPr txBox="1"/>
          <p:nvPr/>
        </p:nvSpPr>
        <p:spPr>
          <a:xfrm>
            <a:off x="4216269" y="3977115"/>
            <a:ext cx="3348000" cy="923330"/>
          </a:xfrm>
          <a:prstGeom prst="rect">
            <a:avLst/>
          </a:prstGeom>
          <a:noFill/>
          <a:ln w="38100">
            <a:solidFill>
              <a:srgbClr val="FF0000"/>
            </a:solidFill>
          </a:ln>
        </p:spPr>
        <p:txBody>
          <a:bodyPr wrap="none" rtlCol="0">
            <a:spAutoFit/>
          </a:bodyPr>
          <a:lstStyle/>
          <a:p>
            <a:r>
              <a:rPr lang="pt-BR" dirty="0"/>
              <a:t>UPDATE </a:t>
            </a:r>
            <a:r>
              <a:rPr lang="pt-BR" dirty="0" err="1"/>
              <a:t>dbo.TB_ALUNO</a:t>
            </a:r>
            <a:endParaRPr lang="pt-BR" dirty="0"/>
          </a:p>
          <a:p>
            <a:r>
              <a:rPr lang="pt-BR" dirty="0"/>
              <a:t>SET NUM_SERIE = 7 </a:t>
            </a:r>
          </a:p>
          <a:p>
            <a:r>
              <a:rPr lang="pt-BR" dirty="0"/>
              <a:t>WHERE NUM_MATRICULA = 1234</a:t>
            </a:r>
          </a:p>
        </p:txBody>
      </p:sp>
      <p:sp>
        <p:nvSpPr>
          <p:cNvPr id="18" name="Retângulo 17">
            <a:extLst>
              <a:ext uri="{FF2B5EF4-FFF2-40B4-BE49-F238E27FC236}">
                <a16:creationId xmlns:a16="http://schemas.microsoft.com/office/drawing/2014/main" id="{B40C1BF4-80B7-DEB3-5296-2688FE90A203}"/>
              </a:ext>
            </a:extLst>
          </p:cNvPr>
          <p:cNvSpPr/>
          <p:nvPr/>
        </p:nvSpPr>
        <p:spPr>
          <a:xfrm>
            <a:off x="4207713" y="3976459"/>
            <a:ext cx="7787792" cy="21889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CaixaDeTexto 18">
            <a:extLst>
              <a:ext uri="{FF2B5EF4-FFF2-40B4-BE49-F238E27FC236}">
                <a16:creationId xmlns:a16="http://schemas.microsoft.com/office/drawing/2014/main" id="{FE506F49-901A-5003-69B6-1051ADD28CF6}"/>
              </a:ext>
            </a:extLst>
          </p:cNvPr>
          <p:cNvSpPr txBox="1"/>
          <p:nvPr/>
        </p:nvSpPr>
        <p:spPr>
          <a:xfrm>
            <a:off x="10230580" y="3961987"/>
            <a:ext cx="1422634" cy="369332"/>
          </a:xfrm>
          <a:prstGeom prst="rect">
            <a:avLst/>
          </a:prstGeom>
          <a:noFill/>
        </p:spPr>
        <p:txBody>
          <a:bodyPr wrap="none" rtlCol="0">
            <a:spAutoFit/>
          </a:bodyPr>
          <a:lstStyle/>
          <a:p>
            <a:r>
              <a:rPr lang="pt-BR" b="1" dirty="0">
                <a:solidFill>
                  <a:srgbClr val="FF0000"/>
                </a:solidFill>
              </a:rPr>
              <a:t>Momento 02</a:t>
            </a:r>
          </a:p>
        </p:txBody>
      </p:sp>
      <p:sp>
        <p:nvSpPr>
          <p:cNvPr id="22" name="Chave Esquerda 21">
            <a:extLst>
              <a:ext uri="{FF2B5EF4-FFF2-40B4-BE49-F238E27FC236}">
                <a16:creationId xmlns:a16="http://schemas.microsoft.com/office/drawing/2014/main" id="{B4BC94AC-B2B2-4A6E-8AE0-67751FE079DC}"/>
              </a:ext>
            </a:extLst>
          </p:cNvPr>
          <p:cNvSpPr/>
          <p:nvPr/>
        </p:nvSpPr>
        <p:spPr>
          <a:xfrm>
            <a:off x="3796144" y="1412808"/>
            <a:ext cx="489528" cy="5024937"/>
          </a:xfrm>
          <a:prstGeom prst="leftBrace">
            <a:avLst/>
          </a:prstGeom>
          <a:ln w="57150">
            <a:solidFill>
              <a:srgbClr val="007DA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23" name="Conector reto 22">
            <a:extLst>
              <a:ext uri="{FF2B5EF4-FFF2-40B4-BE49-F238E27FC236}">
                <a16:creationId xmlns:a16="http://schemas.microsoft.com/office/drawing/2014/main" id="{F395A647-9B8F-6E69-AC45-BFC410190ADB}"/>
              </a:ext>
            </a:extLst>
          </p:cNvPr>
          <p:cNvCxnSpPr>
            <a:cxnSpLocks/>
          </p:cNvCxnSpPr>
          <p:nvPr/>
        </p:nvCxnSpPr>
        <p:spPr>
          <a:xfrm>
            <a:off x="4238810" y="3854215"/>
            <a:ext cx="7316474" cy="0"/>
          </a:xfrm>
          <a:prstGeom prst="line">
            <a:avLst/>
          </a:prstGeom>
          <a:ln w="38100">
            <a:solidFill>
              <a:srgbClr val="007DA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6605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3DA8E-A4DA-108D-9CC7-BA77B52E15C6}"/>
            </a:ext>
          </a:extLst>
        </p:cNvPr>
        <p:cNvGrpSpPr/>
        <p:nvPr/>
      </p:nvGrpSpPr>
      <p:grpSpPr>
        <a:xfrm>
          <a:off x="0" y="0"/>
          <a:ext cx="0" cy="0"/>
          <a:chOff x="0" y="0"/>
          <a:chExt cx="0" cy="0"/>
        </a:xfrm>
      </p:grpSpPr>
      <p:sp>
        <p:nvSpPr>
          <p:cNvPr id="5" name="Espaço Reservado para Rodapé 3">
            <a:extLst>
              <a:ext uri="{FF2B5EF4-FFF2-40B4-BE49-F238E27FC236}">
                <a16:creationId xmlns:a16="http://schemas.microsoft.com/office/drawing/2014/main" id="{A22FC3ED-57F0-0879-A296-2DE120D35DDF}"/>
              </a:ext>
            </a:extLst>
          </p:cNvPr>
          <p:cNvSpPr>
            <a:spLocks noGrp="1"/>
          </p:cNvSpPr>
          <p:nvPr>
            <p:ph type="ftr" sz="quarter" idx="11"/>
          </p:nvPr>
        </p:nvSpPr>
        <p:spPr>
          <a:xfrm>
            <a:off x="4038600" y="6492875"/>
            <a:ext cx="4114800" cy="365125"/>
          </a:xfrm>
        </p:spPr>
        <p:txBody>
          <a:bodyPr/>
          <a:lstStyle/>
          <a:p>
            <a:r>
              <a:rPr lang="pt-BR" dirty="0"/>
              <a:t>DBA </a:t>
            </a:r>
            <a:r>
              <a:rPr lang="pt-BR" dirty="0" err="1"/>
              <a:t>Assists</a:t>
            </a:r>
            <a:r>
              <a:rPr lang="pt-BR" dirty="0"/>
              <a:t> - Transformando Dados em Informação - www.dbaassists.com.br</a:t>
            </a:r>
          </a:p>
        </p:txBody>
      </p:sp>
      <p:sp>
        <p:nvSpPr>
          <p:cNvPr id="6" name="sketchy line">
            <a:extLst>
              <a:ext uri="{FF2B5EF4-FFF2-40B4-BE49-F238E27FC236}">
                <a16:creationId xmlns:a16="http://schemas.microsoft.com/office/drawing/2014/main" id="{7DA05E57-69C7-EFE2-539D-C6FF4CBC5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062" y="1184695"/>
            <a:ext cx="11727443" cy="100858"/>
          </a:xfrm>
          <a:custGeom>
            <a:avLst/>
            <a:gdLst>
              <a:gd name="connsiteX0" fmla="*/ 0 w 11727443"/>
              <a:gd name="connsiteY0" fmla="*/ 0 h 100858"/>
              <a:gd name="connsiteX1" fmla="*/ 455301 w 11727443"/>
              <a:gd name="connsiteY1" fmla="*/ 0 h 100858"/>
              <a:gd name="connsiteX2" fmla="*/ 1379699 w 11727443"/>
              <a:gd name="connsiteY2" fmla="*/ 0 h 100858"/>
              <a:gd name="connsiteX3" fmla="*/ 2069549 w 11727443"/>
              <a:gd name="connsiteY3" fmla="*/ 0 h 100858"/>
              <a:gd name="connsiteX4" fmla="*/ 2524849 w 11727443"/>
              <a:gd name="connsiteY4" fmla="*/ 0 h 100858"/>
              <a:gd name="connsiteX5" fmla="*/ 2862876 w 11727443"/>
              <a:gd name="connsiteY5" fmla="*/ 0 h 100858"/>
              <a:gd name="connsiteX6" fmla="*/ 3787274 w 11727443"/>
              <a:gd name="connsiteY6" fmla="*/ 0 h 100858"/>
              <a:gd name="connsiteX7" fmla="*/ 4359849 w 11727443"/>
              <a:gd name="connsiteY7" fmla="*/ 0 h 100858"/>
              <a:gd name="connsiteX8" fmla="*/ 5284248 w 11727443"/>
              <a:gd name="connsiteY8" fmla="*/ 0 h 100858"/>
              <a:gd name="connsiteX9" fmla="*/ 5622274 w 11727443"/>
              <a:gd name="connsiteY9" fmla="*/ 0 h 100858"/>
              <a:gd name="connsiteX10" fmla="*/ 6077575 w 11727443"/>
              <a:gd name="connsiteY10" fmla="*/ 0 h 100858"/>
              <a:gd name="connsiteX11" fmla="*/ 7001973 w 11727443"/>
              <a:gd name="connsiteY11" fmla="*/ 0 h 100858"/>
              <a:gd name="connsiteX12" fmla="*/ 7926372 w 11727443"/>
              <a:gd name="connsiteY12" fmla="*/ 0 h 100858"/>
              <a:gd name="connsiteX13" fmla="*/ 8498947 w 11727443"/>
              <a:gd name="connsiteY13" fmla="*/ 0 h 100858"/>
              <a:gd name="connsiteX14" fmla="*/ 8836973 w 11727443"/>
              <a:gd name="connsiteY14" fmla="*/ 0 h 100858"/>
              <a:gd name="connsiteX15" fmla="*/ 9644097 w 11727443"/>
              <a:gd name="connsiteY15" fmla="*/ 0 h 100858"/>
              <a:gd name="connsiteX16" fmla="*/ 10333947 w 11727443"/>
              <a:gd name="connsiteY16" fmla="*/ 0 h 100858"/>
              <a:gd name="connsiteX17" fmla="*/ 10906522 w 11727443"/>
              <a:gd name="connsiteY17" fmla="*/ 0 h 100858"/>
              <a:gd name="connsiteX18" fmla="*/ 11727443 w 11727443"/>
              <a:gd name="connsiteY18" fmla="*/ 0 h 100858"/>
              <a:gd name="connsiteX19" fmla="*/ 11727443 w 11727443"/>
              <a:gd name="connsiteY19" fmla="*/ 100858 h 100858"/>
              <a:gd name="connsiteX20" fmla="*/ 10920319 w 11727443"/>
              <a:gd name="connsiteY20" fmla="*/ 100858 h 100858"/>
              <a:gd name="connsiteX21" fmla="*/ 10465018 w 11727443"/>
              <a:gd name="connsiteY21" fmla="*/ 100858 h 100858"/>
              <a:gd name="connsiteX22" fmla="*/ 9892443 w 11727443"/>
              <a:gd name="connsiteY22" fmla="*/ 100858 h 100858"/>
              <a:gd name="connsiteX23" fmla="*/ 8968045 w 11727443"/>
              <a:gd name="connsiteY23" fmla="*/ 100858 h 100858"/>
              <a:gd name="connsiteX24" fmla="*/ 8630018 w 11727443"/>
              <a:gd name="connsiteY24" fmla="*/ 100858 h 100858"/>
              <a:gd name="connsiteX25" fmla="*/ 8291992 w 11727443"/>
              <a:gd name="connsiteY25" fmla="*/ 100858 h 100858"/>
              <a:gd name="connsiteX26" fmla="*/ 7953966 w 11727443"/>
              <a:gd name="connsiteY26" fmla="*/ 100858 h 100858"/>
              <a:gd name="connsiteX27" fmla="*/ 7146842 w 11727443"/>
              <a:gd name="connsiteY27" fmla="*/ 100858 h 100858"/>
              <a:gd name="connsiteX28" fmla="*/ 6691541 w 11727443"/>
              <a:gd name="connsiteY28" fmla="*/ 100858 h 100858"/>
              <a:gd name="connsiteX29" fmla="*/ 5884417 w 11727443"/>
              <a:gd name="connsiteY29" fmla="*/ 100858 h 100858"/>
              <a:gd name="connsiteX30" fmla="*/ 5077293 w 11727443"/>
              <a:gd name="connsiteY30" fmla="*/ 100858 h 100858"/>
              <a:gd name="connsiteX31" fmla="*/ 4621992 w 11727443"/>
              <a:gd name="connsiteY31" fmla="*/ 100858 h 100858"/>
              <a:gd name="connsiteX32" fmla="*/ 3932143 w 11727443"/>
              <a:gd name="connsiteY32" fmla="*/ 100858 h 100858"/>
              <a:gd name="connsiteX33" fmla="*/ 3359567 w 11727443"/>
              <a:gd name="connsiteY33" fmla="*/ 100858 h 100858"/>
              <a:gd name="connsiteX34" fmla="*/ 2435169 w 11727443"/>
              <a:gd name="connsiteY34" fmla="*/ 100858 h 100858"/>
              <a:gd name="connsiteX35" fmla="*/ 1745319 w 11727443"/>
              <a:gd name="connsiteY35" fmla="*/ 100858 h 100858"/>
              <a:gd name="connsiteX36" fmla="*/ 938195 w 11727443"/>
              <a:gd name="connsiteY36" fmla="*/ 100858 h 100858"/>
              <a:gd name="connsiteX37" fmla="*/ 600169 w 11727443"/>
              <a:gd name="connsiteY37" fmla="*/ 100858 h 100858"/>
              <a:gd name="connsiteX38" fmla="*/ 0 w 11727443"/>
              <a:gd name="connsiteY38" fmla="*/ 100858 h 100858"/>
              <a:gd name="connsiteX39" fmla="*/ 0 w 11727443"/>
              <a:gd name="connsiteY39" fmla="*/ 0 h 100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727443" h="100858" fill="none" extrusionOk="0">
                <a:moveTo>
                  <a:pt x="0" y="0"/>
                </a:moveTo>
                <a:cubicBezTo>
                  <a:pt x="177575" y="-8335"/>
                  <a:pt x="289292" y="-22372"/>
                  <a:pt x="455301" y="0"/>
                </a:cubicBezTo>
                <a:cubicBezTo>
                  <a:pt x="621310" y="22372"/>
                  <a:pt x="959229" y="316"/>
                  <a:pt x="1379699" y="0"/>
                </a:cubicBezTo>
                <a:cubicBezTo>
                  <a:pt x="1800169" y="-316"/>
                  <a:pt x="1910290" y="-19988"/>
                  <a:pt x="2069549" y="0"/>
                </a:cubicBezTo>
                <a:cubicBezTo>
                  <a:pt x="2228808" y="19988"/>
                  <a:pt x="2328018" y="-6436"/>
                  <a:pt x="2524849" y="0"/>
                </a:cubicBezTo>
                <a:cubicBezTo>
                  <a:pt x="2721680" y="6436"/>
                  <a:pt x="2744923" y="692"/>
                  <a:pt x="2862876" y="0"/>
                </a:cubicBezTo>
                <a:cubicBezTo>
                  <a:pt x="2980829" y="-692"/>
                  <a:pt x="3455105" y="28803"/>
                  <a:pt x="3787274" y="0"/>
                </a:cubicBezTo>
                <a:cubicBezTo>
                  <a:pt x="4119443" y="-28803"/>
                  <a:pt x="4093258" y="3515"/>
                  <a:pt x="4359849" y="0"/>
                </a:cubicBezTo>
                <a:cubicBezTo>
                  <a:pt x="4626441" y="-3515"/>
                  <a:pt x="4994558" y="-15931"/>
                  <a:pt x="5284248" y="0"/>
                </a:cubicBezTo>
                <a:cubicBezTo>
                  <a:pt x="5573938" y="15931"/>
                  <a:pt x="5518095" y="-13412"/>
                  <a:pt x="5622274" y="0"/>
                </a:cubicBezTo>
                <a:cubicBezTo>
                  <a:pt x="5726453" y="13412"/>
                  <a:pt x="5919345" y="19043"/>
                  <a:pt x="6077575" y="0"/>
                </a:cubicBezTo>
                <a:cubicBezTo>
                  <a:pt x="6235805" y="-19043"/>
                  <a:pt x="6637812" y="29609"/>
                  <a:pt x="7001973" y="0"/>
                </a:cubicBezTo>
                <a:cubicBezTo>
                  <a:pt x="7366134" y="-29609"/>
                  <a:pt x="7716303" y="17424"/>
                  <a:pt x="7926372" y="0"/>
                </a:cubicBezTo>
                <a:cubicBezTo>
                  <a:pt x="8136441" y="-17424"/>
                  <a:pt x="8378864" y="-19420"/>
                  <a:pt x="8498947" y="0"/>
                </a:cubicBezTo>
                <a:cubicBezTo>
                  <a:pt x="8619031" y="19420"/>
                  <a:pt x="8765062" y="-15679"/>
                  <a:pt x="8836973" y="0"/>
                </a:cubicBezTo>
                <a:cubicBezTo>
                  <a:pt x="8908884" y="15679"/>
                  <a:pt x="9288035" y="12756"/>
                  <a:pt x="9644097" y="0"/>
                </a:cubicBezTo>
                <a:cubicBezTo>
                  <a:pt x="10000159" y="-12756"/>
                  <a:pt x="10089663" y="-5649"/>
                  <a:pt x="10333947" y="0"/>
                </a:cubicBezTo>
                <a:cubicBezTo>
                  <a:pt x="10578231" y="5649"/>
                  <a:pt x="10785095" y="27917"/>
                  <a:pt x="10906522" y="0"/>
                </a:cubicBezTo>
                <a:cubicBezTo>
                  <a:pt x="11027949" y="-27917"/>
                  <a:pt x="11562609" y="31188"/>
                  <a:pt x="11727443" y="0"/>
                </a:cubicBezTo>
                <a:cubicBezTo>
                  <a:pt x="11723584" y="38217"/>
                  <a:pt x="11731691" y="73296"/>
                  <a:pt x="11727443" y="100858"/>
                </a:cubicBezTo>
                <a:cubicBezTo>
                  <a:pt x="11381154" y="139297"/>
                  <a:pt x="11163895" y="69647"/>
                  <a:pt x="10920319" y="100858"/>
                </a:cubicBezTo>
                <a:cubicBezTo>
                  <a:pt x="10676743" y="132069"/>
                  <a:pt x="10625983" y="117071"/>
                  <a:pt x="10465018" y="100858"/>
                </a:cubicBezTo>
                <a:cubicBezTo>
                  <a:pt x="10304053" y="84645"/>
                  <a:pt x="10063410" y="105790"/>
                  <a:pt x="9892443" y="100858"/>
                </a:cubicBezTo>
                <a:cubicBezTo>
                  <a:pt x="9721477" y="95926"/>
                  <a:pt x="9298902" y="55708"/>
                  <a:pt x="8968045" y="100858"/>
                </a:cubicBezTo>
                <a:cubicBezTo>
                  <a:pt x="8637188" y="146008"/>
                  <a:pt x="8753098" y="98295"/>
                  <a:pt x="8630018" y="100858"/>
                </a:cubicBezTo>
                <a:cubicBezTo>
                  <a:pt x="8506938" y="103421"/>
                  <a:pt x="8382809" y="104606"/>
                  <a:pt x="8291992" y="100858"/>
                </a:cubicBezTo>
                <a:cubicBezTo>
                  <a:pt x="8201175" y="97110"/>
                  <a:pt x="8042573" y="88227"/>
                  <a:pt x="7953966" y="100858"/>
                </a:cubicBezTo>
                <a:cubicBezTo>
                  <a:pt x="7865359" y="113489"/>
                  <a:pt x="7327260" y="71433"/>
                  <a:pt x="7146842" y="100858"/>
                </a:cubicBezTo>
                <a:cubicBezTo>
                  <a:pt x="6966424" y="130283"/>
                  <a:pt x="6836691" y="78893"/>
                  <a:pt x="6691541" y="100858"/>
                </a:cubicBezTo>
                <a:cubicBezTo>
                  <a:pt x="6546391" y="122823"/>
                  <a:pt x="6161732" y="96929"/>
                  <a:pt x="5884417" y="100858"/>
                </a:cubicBezTo>
                <a:cubicBezTo>
                  <a:pt x="5607102" y="104787"/>
                  <a:pt x="5399769" y="71203"/>
                  <a:pt x="5077293" y="100858"/>
                </a:cubicBezTo>
                <a:cubicBezTo>
                  <a:pt x="4754817" y="130513"/>
                  <a:pt x="4780101" y="110562"/>
                  <a:pt x="4621992" y="100858"/>
                </a:cubicBezTo>
                <a:cubicBezTo>
                  <a:pt x="4463883" y="91154"/>
                  <a:pt x="4080268" y="82653"/>
                  <a:pt x="3932143" y="100858"/>
                </a:cubicBezTo>
                <a:cubicBezTo>
                  <a:pt x="3784018" y="119063"/>
                  <a:pt x="3606068" y="107585"/>
                  <a:pt x="3359567" y="100858"/>
                </a:cubicBezTo>
                <a:cubicBezTo>
                  <a:pt x="3113066" y="94131"/>
                  <a:pt x="2833730" y="108463"/>
                  <a:pt x="2435169" y="100858"/>
                </a:cubicBezTo>
                <a:cubicBezTo>
                  <a:pt x="2036608" y="93253"/>
                  <a:pt x="1979570" y="109496"/>
                  <a:pt x="1745319" y="100858"/>
                </a:cubicBezTo>
                <a:cubicBezTo>
                  <a:pt x="1511068" y="92221"/>
                  <a:pt x="1304277" y="99602"/>
                  <a:pt x="938195" y="100858"/>
                </a:cubicBezTo>
                <a:cubicBezTo>
                  <a:pt x="572113" y="102114"/>
                  <a:pt x="673750" y="115329"/>
                  <a:pt x="600169" y="100858"/>
                </a:cubicBezTo>
                <a:cubicBezTo>
                  <a:pt x="526588" y="86387"/>
                  <a:pt x="223952" y="122492"/>
                  <a:pt x="0" y="100858"/>
                </a:cubicBezTo>
                <a:cubicBezTo>
                  <a:pt x="-124" y="56937"/>
                  <a:pt x="-3196" y="35397"/>
                  <a:pt x="0" y="0"/>
                </a:cubicBezTo>
                <a:close/>
              </a:path>
              <a:path w="11727443" h="100858" stroke="0" extrusionOk="0">
                <a:moveTo>
                  <a:pt x="0" y="0"/>
                </a:moveTo>
                <a:cubicBezTo>
                  <a:pt x="226598" y="-20463"/>
                  <a:pt x="284703" y="21278"/>
                  <a:pt x="455301" y="0"/>
                </a:cubicBezTo>
                <a:cubicBezTo>
                  <a:pt x="625899" y="-21278"/>
                  <a:pt x="975360" y="-38169"/>
                  <a:pt x="1379699" y="0"/>
                </a:cubicBezTo>
                <a:cubicBezTo>
                  <a:pt x="1784038" y="38169"/>
                  <a:pt x="1553897" y="10715"/>
                  <a:pt x="1717725" y="0"/>
                </a:cubicBezTo>
                <a:cubicBezTo>
                  <a:pt x="1881553" y="-10715"/>
                  <a:pt x="1957404" y="7512"/>
                  <a:pt x="2055752" y="0"/>
                </a:cubicBezTo>
                <a:cubicBezTo>
                  <a:pt x="2154100" y="-7512"/>
                  <a:pt x="2455093" y="6931"/>
                  <a:pt x="2745601" y="0"/>
                </a:cubicBezTo>
                <a:cubicBezTo>
                  <a:pt x="3036109" y="-6931"/>
                  <a:pt x="3200578" y="-6899"/>
                  <a:pt x="3318177" y="0"/>
                </a:cubicBezTo>
                <a:cubicBezTo>
                  <a:pt x="3435776" y="6899"/>
                  <a:pt x="3830972" y="-29023"/>
                  <a:pt x="4125301" y="0"/>
                </a:cubicBezTo>
                <a:cubicBezTo>
                  <a:pt x="4419630" y="29023"/>
                  <a:pt x="4438628" y="-3380"/>
                  <a:pt x="4580601" y="0"/>
                </a:cubicBezTo>
                <a:cubicBezTo>
                  <a:pt x="4722574" y="3380"/>
                  <a:pt x="5287872" y="-26084"/>
                  <a:pt x="5505000" y="0"/>
                </a:cubicBezTo>
                <a:cubicBezTo>
                  <a:pt x="5722128" y="26084"/>
                  <a:pt x="5845495" y="-3138"/>
                  <a:pt x="6077575" y="0"/>
                </a:cubicBezTo>
                <a:cubicBezTo>
                  <a:pt x="6309655" y="3138"/>
                  <a:pt x="6416497" y="-9038"/>
                  <a:pt x="6532876" y="0"/>
                </a:cubicBezTo>
                <a:cubicBezTo>
                  <a:pt x="6649255" y="9038"/>
                  <a:pt x="6798774" y="17432"/>
                  <a:pt x="6988176" y="0"/>
                </a:cubicBezTo>
                <a:cubicBezTo>
                  <a:pt x="7177578" y="-17432"/>
                  <a:pt x="7432115" y="-1508"/>
                  <a:pt x="7560751" y="0"/>
                </a:cubicBezTo>
                <a:cubicBezTo>
                  <a:pt x="7689387" y="1508"/>
                  <a:pt x="7817048" y="19459"/>
                  <a:pt x="8016052" y="0"/>
                </a:cubicBezTo>
                <a:cubicBezTo>
                  <a:pt x="8215056" y="-19459"/>
                  <a:pt x="8384141" y="13593"/>
                  <a:pt x="8705902" y="0"/>
                </a:cubicBezTo>
                <a:cubicBezTo>
                  <a:pt x="9027663" y="-13593"/>
                  <a:pt x="8932873" y="-16432"/>
                  <a:pt x="9043928" y="0"/>
                </a:cubicBezTo>
                <a:cubicBezTo>
                  <a:pt x="9154983" y="16432"/>
                  <a:pt x="9568699" y="-30219"/>
                  <a:pt x="9733778" y="0"/>
                </a:cubicBezTo>
                <a:cubicBezTo>
                  <a:pt x="9898857" y="30219"/>
                  <a:pt x="9973728" y="-1849"/>
                  <a:pt x="10071804" y="0"/>
                </a:cubicBezTo>
                <a:cubicBezTo>
                  <a:pt x="10169880" y="1849"/>
                  <a:pt x="10558830" y="-12560"/>
                  <a:pt x="10996202" y="0"/>
                </a:cubicBezTo>
                <a:cubicBezTo>
                  <a:pt x="11433574" y="12560"/>
                  <a:pt x="11579031" y="-6546"/>
                  <a:pt x="11727443" y="0"/>
                </a:cubicBezTo>
                <a:cubicBezTo>
                  <a:pt x="11729168" y="25018"/>
                  <a:pt x="11723362" y="74256"/>
                  <a:pt x="11727443" y="100858"/>
                </a:cubicBezTo>
                <a:cubicBezTo>
                  <a:pt x="11466834" y="85519"/>
                  <a:pt x="11273864" y="83363"/>
                  <a:pt x="11154868" y="100858"/>
                </a:cubicBezTo>
                <a:cubicBezTo>
                  <a:pt x="11035872" y="118353"/>
                  <a:pt x="10917509" y="98250"/>
                  <a:pt x="10816842" y="100858"/>
                </a:cubicBezTo>
                <a:cubicBezTo>
                  <a:pt x="10716175" y="103466"/>
                  <a:pt x="10190281" y="93289"/>
                  <a:pt x="9892443" y="100858"/>
                </a:cubicBezTo>
                <a:cubicBezTo>
                  <a:pt x="9594605" y="108427"/>
                  <a:pt x="9385168" y="118111"/>
                  <a:pt x="9202594" y="100858"/>
                </a:cubicBezTo>
                <a:cubicBezTo>
                  <a:pt x="9020020" y="83605"/>
                  <a:pt x="8470284" y="126256"/>
                  <a:pt x="8278195" y="100858"/>
                </a:cubicBezTo>
                <a:cubicBezTo>
                  <a:pt x="8086106" y="75460"/>
                  <a:pt x="7779236" y="101234"/>
                  <a:pt x="7588345" y="100858"/>
                </a:cubicBezTo>
                <a:cubicBezTo>
                  <a:pt x="7397454" y="100483"/>
                  <a:pt x="7324210" y="98320"/>
                  <a:pt x="7250319" y="100858"/>
                </a:cubicBezTo>
                <a:cubicBezTo>
                  <a:pt x="7176428" y="103396"/>
                  <a:pt x="6743284" y="112839"/>
                  <a:pt x="6325921" y="100858"/>
                </a:cubicBezTo>
                <a:cubicBezTo>
                  <a:pt x="5908558" y="88877"/>
                  <a:pt x="6095670" y="116342"/>
                  <a:pt x="5870620" y="100858"/>
                </a:cubicBezTo>
                <a:cubicBezTo>
                  <a:pt x="5645570" y="85374"/>
                  <a:pt x="5700885" y="115088"/>
                  <a:pt x="5532594" y="100858"/>
                </a:cubicBezTo>
                <a:cubicBezTo>
                  <a:pt x="5364303" y="86628"/>
                  <a:pt x="5212740" y="105293"/>
                  <a:pt x="4960019" y="100858"/>
                </a:cubicBezTo>
                <a:cubicBezTo>
                  <a:pt x="4707298" y="96423"/>
                  <a:pt x="4491720" y="108840"/>
                  <a:pt x="4035620" y="100858"/>
                </a:cubicBezTo>
                <a:cubicBezTo>
                  <a:pt x="3579520" y="92876"/>
                  <a:pt x="3768890" y="79226"/>
                  <a:pt x="3580319" y="100858"/>
                </a:cubicBezTo>
                <a:cubicBezTo>
                  <a:pt x="3391748" y="122490"/>
                  <a:pt x="3059393" y="71723"/>
                  <a:pt x="2655921" y="100858"/>
                </a:cubicBezTo>
                <a:cubicBezTo>
                  <a:pt x="2252449" y="129993"/>
                  <a:pt x="2021995" y="121740"/>
                  <a:pt x="1848797" y="100858"/>
                </a:cubicBezTo>
                <a:cubicBezTo>
                  <a:pt x="1675599" y="79976"/>
                  <a:pt x="1263502" y="106737"/>
                  <a:pt x="924398" y="100858"/>
                </a:cubicBezTo>
                <a:cubicBezTo>
                  <a:pt x="585294" y="94979"/>
                  <a:pt x="216313" y="56521"/>
                  <a:pt x="0" y="100858"/>
                </a:cubicBezTo>
                <a:cubicBezTo>
                  <a:pt x="-4094" y="59488"/>
                  <a:pt x="2375" y="29231"/>
                  <a:pt x="0" y="0"/>
                </a:cubicBezTo>
                <a:close/>
              </a:path>
            </a:pathLst>
          </a:custGeom>
          <a:solidFill>
            <a:srgbClr val="007DA9"/>
          </a:solidFill>
          <a:ln w="44450" cap="rnd">
            <a:solidFill>
              <a:srgbClr val="007DA9"/>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DA9"/>
                </a:solidFill>
              </a:rPr>
              <a:t>‘</a:t>
            </a:r>
          </a:p>
        </p:txBody>
      </p:sp>
      <p:sp>
        <p:nvSpPr>
          <p:cNvPr id="8" name="CaixaDeTexto 7">
            <a:extLst>
              <a:ext uri="{FF2B5EF4-FFF2-40B4-BE49-F238E27FC236}">
                <a16:creationId xmlns:a16="http://schemas.microsoft.com/office/drawing/2014/main" id="{3ADF6065-638F-DAD6-8DA5-5567298034E5}"/>
              </a:ext>
            </a:extLst>
          </p:cNvPr>
          <p:cNvSpPr txBox="1"/>
          <p:nvPr/>
        </p:nvSpPr>
        <p:spPr>
          <a:xfrm>
            <a:off x="130373" y="301496"/>
            <a:ext cx="12061627" cy="923330"/>
          </a:xfrm>
          <a:prstGeom prst="rect">
            <a:avLst/>
          </a:prstGeom>
          <a:noFill/>
        </p:spPr>
        <p:txBody>
          <a:bodyPr wrap="square" rtlCol="0">
            <a:spAutoFit/>
          </a:bodyPr>
          <a:lstStyle/>
          <a:p>
            <a:r>
              <a:rPr lang="pt-BR" sz="5400" dirty="0">
                <a:solidFill>
                  <a:srgbClr val="007DA9"/>
                </a:solidFill>
                <a:latin typeface="Impact" panose="020B0806030902050204" pitchFamily="34" charset="0"/>
              </a:rPr>
              <a:t>SCD ou </a:t>
            </a:r>
            <a:r>
              <a:rPr lang="pt-BR" sz="5400" dirty="0" err="1">
                <a:solidFill>
                  <a:srgbClr val="007DA9"/>
                </a:solidFill>
                <a:latin typeface="Impact" panose="020B0806030902050204" pitchFamily="34" charset="0"/>
              </a:rPr>
              <a:t>Slowly</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Changing</a:t>
            </a:r>
            <a:r>
              <a:rPr lang="pt-BR" sz="5400" dirty="0">
                <a:solidFill>
                  <a:srgbClr val="007DA9"/>
                </a:solidFill>
                <a:latin typeface="Impact" panose="020B0806030902050204" pitchFamily="34" charset="0"/>
              </a:rPr>
              <a:t> </a:t>
            </a:r>
            <a:r>
              <a:rPr lang="pt-BR" sz="5400" dirty="0" err="1">
                <a:solidFill>
                  <a:srgbClr val="007DA9"/>
                </a:solidFill>
                <a:latin typeface="Impact" panose="020B0806030902050204" pitchFamily="34" charset="0"/>
              </a:rPr>
              <a:t>Dimensions</a:t>
            </a:r>
            <a:r>
              <a:rPr lang="pt-BR" sz="5400" dirty="0">
                <a:solidFill>
                  <a:srgbClr val="007DA9"/>
                </a:solidFill>
                <a:latin typeface="Impact" panose="020B0806030902050204" pitchFamily="34" charset="0"/>
              </a:rPr>
              <a:t> </a:t>
            </a:r>
          </a:p>
        </p:txBody>
      </p:sp>
      <p:pic>
        <p:nvPicPr>
          <p:cNvPr id="9" name="Imagem 8" descr="Placa azul com letras brancas em fundo preto&#10;&#10;Descrição gerada automaticamente com confiança média">
            <a:extLst>
              <a:ext uri="{FF2B5EF4-FFF2-40B4-BE49-F238E27FC236}">
                <a16:creationId xmlns:a16="http://schemas.microsoft.com/office/drawing/2014/main" id="{410D0FF1-C06A-A077-7BD5-8F3CDAFB69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367" y="168398"/>
            <a:ext cx="1403972" cy="1404610"/>
          </a:xfrm>
          <a:prstGeom prst="rect">
            <a:avLst/>
          </a:prstGeom>
        </p:spPr>
      </p:pic>
      <p:sp>
        <p:nvSpPr>
          <p:cNvPr id="2" name="Retângulo 1">
            <a:extLst>
              <a:ext uri="{FF2B5EF4-FFF2-40B4-BE49-F238E27FC236}">
                <a16:creationId xmlns:a16="http://schemas.microsoft.com/office/drawing/2014/main" id="{21B37D16-35FC-3F65-A9FC-484C0BE3F80B}"/>
              </a:ext>
            </a:extLst>
          </p:cNvPr>
          <p:cNvSpPr/>
          <p:nvPr/>
        </p:nvSpPr>
        <p:spPr>
          <a:xfrm>
            <a:off x="535115" y="3650489"/>
            <a:ext cx="1043502" cy="497491"/>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SCD</a:t>
            </a:r>
          </a:p>
        </p:txBody>
      </p:sp>
      <p:sp>
        <p:nvSpPr>
          <p:cNvPr id="3" name="Retângulo 2">
            <a:extLst>
              <a:ext uri="{FF2B5EF4-FFF2-40B4-BE49-F238E27FC236}">
                <a16:creationId xmlns:a16="http://schemas.microsoft.com/office/drawing/2014/main" id="{8BD10484-F834-8BEF-0759-8B24B7B5BFF4}"/>
              </a:ext>
            </a:extLst>
          </p:cNvPr>
          <p:cNvSpPr/>
          <p:nvPr/>
        </p:nvSpPr>
        <p:spPr>
          <a:xfrm>
            <a:off x="2234399" y="3650489"/>
            <a:ext cx="1388565" cy="497491"/>
          </a:xfrm>
          <a:prstGeom prst="rect">
            <a:avLst/>
          </a:prstGeom>
          <a:solidFill>
            <a:srgbClr val="007D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latin typeface="Impact" panose="020B0806030902050204" pitchFamily="34" charset="0"/>
              </a:rPr>
              <a:t>SCD </a:t>
            </a:r>
            <a:r>
              <a:rPr lang="pt-BR" sz="1600" dirty="0" err="1">
                <a:latin typeface="Impact" panose="020B0806030902050204" pitchFamily="34" charset="0"/>
              </a:rPr>
              <a:t>Type</a:t>
            </a:r>
            <a:r>
              <a:rPr lang="pt-BR" sz="1600" dirty="0">
                <a:latin typeface="Impact" panose="020B0806030902050204" pitchFamily="34" charset="0"/>
              </a:rPr>
              <a:t> 3</a:t>
            </a:r>
          </a:p>
        </p:txBody>
      </p:sp>
      <p:cxnSp>
        <p:nvCxnSpPr>
          <p:cNvPr id="4" name="Conector de Seta Reta 3">
            <a:extLst>
              <a:ext uri="{FF2B5EF4-FFF2-40B4-BE49-F238E27FC236}">
                <a16:creationId xmlns:a16="http://schemas.microsoft.com/office/drawing/2014/main" id="{9E2C697A-AF95-B89E-92E0-B393F0D314C4}"/>
              </a:ext>
            </a:extLst>
          </p:cNvPr>
          <p:cNvCxnSpPr>
            <a:stCxn id="2" idx="3"/>
            <a:endCxn id="3" idx="1"/>
          </p:cNvCxnSpPr>
          <p:nvPr/>
        </p:nvCxnSpPr>
        <p:spPr>
          <a:xfrm>
            <a:off x="1578617" y="3899235"/>
            <a:ext cx="655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Chave Esquerda 6">
            <a:extLst>
              <a:ext uri="{FF2B5EF4-FFF2-40B4-BE49-F238E27FC236}">
                <a16:creationId xmlns:a16="http://schemas.microsoft.com/office/drawing/2014/main" id="{02378D45-5D12-8AD0-8081-EA0DBABEB561}"/>
              </a:ext>
            </a:extLst>
          </p:cNvPr>
          <p:cNvSpPr/>
          <p:nvPr/>
        </p:nvSpPr>
        <p:spPr>
          <a:xfrm>
            <a:off x="3796144" y="1412808"/>
            <a:ext cx="489528" cy="5143694"/>
          </a:xfrm>
          <a:prstGeom prst="leftBrace">
            <a:avLst/>
          </a:prstGeom>
          <a:ln w="57150">
            <a:solidFill>
              <a:srgbClr val="007DA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10" name="Conector reto 9">
            <a:extLst>
              <a:ext uri="{FF2B5EF4-FFF2-40B4-BE49-F238E27FC236}">
                <a16:creationId xmlns:a16="http://schemas.microsoft.com/office/drawing/2014/main" id="{B70416C6-D751-786A-5E9E-FC92955EAD6C}"/>
              </a:ext>
            </a:extLst>
          </p:cNvPr>
          <p:cNvCxnSpPr>
            <a:cxnSpLocks/>
          </p:cNvCxnSpPr>
          <p:nvPr/>
        </p:nvCxnSpPr>
        <p:spPr>
          <a:xfrm>
            <a:off x="4238810" y="3059892"/>
            <a:ext cx="7750860" cy="0"/>
          </a:xfrm>
          <a:prstGeom prst="line">
            <a:avLst/>
          </a:prstGeom>
          <a:ln w="38100">
            <a:solidFill>
              <a:srgbClr val="007DA9"/>
            </a:solidFill>
          </a:ln>
        </p:spPr>
        <p:style>
          <a:lnRef idx="1">
            <a:schemeClr val="accent1"/>
          </a:lnRef>
          <a:fillRef idx="0">
            <a:schemeClr val="accent1"/>
          </a:fillRef>
          <a:effectRef idx="0">
            <a:schemeClr val="accent1"/>
          </a:effectRef>
          <a:fontRef idx="minor">
            <a:schemeClr val="tx1"/>
          </a:fontRef>
        </p:style>
      </p:cxnSp>
      <p:pic>
        <p:nvPicPr>
          <p:cNvPr id="12" name="Imagem 11">
            <a:extLst>
              <a:ext uri="{FF2B5EF4-FFF2-40B4-BE49-F238E27FC236}">
                <a16:creationId xmlns:a16="http://schemas.microsoft.com/office/drawing/2014/main" id="{AB596EBE-25F3-A305-D725-453B4F218ADD}"/>
              </a:ext>
            </a:extLst>
          </p:cNvPr>
          <p:cNvPicPr>
            <a:picLocks noChangeAspect="1"/>
          </p:cNvPicPr>
          <p:nvPr/>
        </p:nvPicPr>
        <p:blipFill rotWithShape="1">
          <a:blip r:embed="rId4"/>
          <a:srcRect t="36731"/>
          <a:stretch/>
        </p:blipFill>
        <p:spPr>
          <a:xfrm>
            <a:off x="4337645" y="2342940"/>
            <a:ext cx="6940708" cy="513721"/>
          </a:xfrm>
          <a:prstGeom prst="rect">
            <a:avLst/>
          </a:prstGeom>
        </p:spPr>
      </p:pic>
      <p:pic>
        <p:nvPicPr>
          <p:cNvPr id="14" name="Imagem 13">
            <a:extLst>
              <a:ext uri="{FF2B5EF4-FFF2-40B4-BE49-F238E27FC236}">
                <a16:creationId xmlns:a16="http://schemas.microsoft.com/office/drawing/2014/main" id="{1B376A00-2D29-D59C-7E0C-EA31E1341658}"/>
              </a:ext>
            </a:extLst>
          </p:cNvPr>
          <p:cNvPicPr>
            <a:picLocks noChangeAspect="1"/>
          </p:cNvPicPr>
          <p:nvPr/>
        </p:nvPicPr>
        <p:blipFill rotWithShape="1">
          <a:blip r:embed="rId5"/>
          <a:srcRect t="35094"/>
          <a:stretch/>
        </p:blipFill>
        <p:spPr>
          <a:xfrm>
            <a:off x="4337645" y="4102170"/>
            <a:ext cx="6940800" cy="516302"/>
          </a:xfrm>
          <a:prstGeom prst="rect">
            <a:avLst/>
          </a:prstGeom>
        </p:spPr>
      </p:pic>
      <p:cxnSp>
        <p:nvCxnSpPr>
          <p:cNvPr id="15" name="Conector reto 14">
            <a:extLst>
              <a:ext uri="{FF2B5EF4-FFF2-40B4-BE49-F238E27FC236}">
                <a16:creationId xmlns:a16="http://schemas.microsoft.com/office/drawing/2014/main" id="{AF50299C-B9CD-8EB2-2D56-AC521B0BF294}"/>
              </a:ext>
            </a:extLst>
          </p:cNvPr>
          <p:cNvCxnSpPr>
            <a:cxnSpLocks/>
          </p:cNvCxnSpPr>
          <p:nvPr/>
        </p:nvCxnSpPr>
        <p:spPr>
          <a:xfrm>
            <a:off x="4229574" y="4884070"/>
            <a:ext cx="7741529" cy="0"/>
          </a:xfrm>
          <a:prstGeom prst="line">
            <a:avLst/>
          </a:prstGeom>
          <a:ln w="38100">
            <a:solidFill>
              <a:srgbClr val="007DA9"/>
            </a:solidFill>
          </a:ln>
        </p:spPr>
        <p:style>
          <a:lnRef idx="1">
            <a:schemeClr val="accent1"/>
          </a:lnRef>
          <a:fillRef idx="0">
            <a:schemeClr val="accent1"/>
          </a:fillRef>
          <a:effectRef idx="0">
            <a:schemeClr val="accent1"/>
          </a:effectRef>
          <a:fontRef idx="minor">
            <a:schemeClr val="tx1"/>
          </a:fontRef>
        </p:style>
      </p:cxnSp>
      <p:pic>
        <p:nvPicPr>
          <p:cNvPr id="17" name="Imagem 16">
            <a:extLst>
              <a:ext uri="{FF2B5EF4-FFF2-40B4-BE49-F238E27FC236}">
                <a16:creationId xmlns:a16="http://schemas.microsoft.com/office/drawing/2014/main" id="{21A66441-B98B-36E8-5E39-6E5DB293A760}"/>
              </a:ext>
            </a:extLst>
          </p:cNvPr>
          <p:cNvPicPr>
            <a:picLocks noChangeAspect="1"/>
          </p:cNvPicPr>
          <p:nvPr/>
        </p:nvPicPr>
        <p:blipFill rotWithShape="1">
          <a:blip r:embed="rId6"/>
          <a:srcRect t="35543"/>
          <a:stretch/>
        </p:blipFill>
        <p:spPr>
          <a:xfrm>
            <a:off x="4285672" y="5793583"/>
            <a:ext cx="6940800" cy="526633"/>
          </a:xfrm>
          <a:prstGeom prst="rect">
            <a:avLst/>
          </a:prstGeom>
        </p:spPr>
      </p:pic>
      <p:sp>
        <p:nvSpPr>
          <p:cNvPr id="18" name="CaixaDeTexto 17">
            <a:extLst>
              <a:ext uri="{FF2B5EF4-FFF2-40B4-BE49-F238E27FC236}">
                <a16:creationId xmlns:a16="http://schemas.microsoft.com/office/drawing/2014/main" id="{7F04968C-B026-D479-40E4-90393D6F2026}"/>
              </a:ext>
            </a:extLst>
          </p:cNvPr>
          <p:cNvSpPr txBox="1"/>
          <p:nvPr/>
        </p:nvSpPr>
        <p:spPr>
          <a:xfrm>
            <a:off x="4207713" y="1622871"/>
            <a:ext cx="2022413" cy="584775"/>
          </a:xfrm>
          <a:prstGeom prst="rect">
            <a:avLst/>
          </a:prstGeom>
          <a:noFill/>
          <a:ln w="38100">
            <a:solidFill>
              <a:srgbClr val="FF0000"/>
            </a:solidFill>
          </a:ln>
        </p:spPr>
        <p:txBody>
          <a:bodyPr wrap="none" rtlCol="0">
            <a:spAutoFit/>
          </a:bodyPr>
          <a:lstStyle/>
          <a:p>
            <a:r>
              <a:rPr lang="pt-BR" sz="1600" dirty="0"/>
              <a:t>SELECT * </a:t>
            </a:r>
          </a:p>
          <a:p>
            <a:r>
              <a:rPr lang="pt-BR" sz="1600" dirty="0"/>
              <a:t>FROM </a:t>
            </a:r>
            <a:r>
              <a:rPr lang="pt-BR" sz="1600" dirty="0" err="1"/>
              <a:t>dbo.TB_ALUNO</a:t>
            </a:r>
            <a:endParaRPr lang="pt-BR" sz="1600" dirty="0"/>
          </a:p>
        </p:txBody>
      </p:sp>
      <p:sp>
        <p:nvSpPr>
          <p:cNvPr id="20" name="Retângulo 19">
            <a:extLst>
              <a:ext uri="{FF2B5EF4-FFF2-40B4-BE49-F238E27FC236}">
                <a16:creationId xmlns:a16="http://schemas.microsoft.com/office/drawing/2014/main" id="{8B33B88F-276B-6739-837D-09C82B5782BB}"/>
              </a:ext>
            </a:extLst>
          </p:cNvPr>
          <p:cNvSpPr/>
          <p:nvPr/>
        </p:nvSpPr>
        <p:spPr>
          <a:xfrm>
            <a:off x="4207713" y="1622871"/>
            <a:ext cx="7787792" cy="126030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CaixaDeTexto 20">
            <a:extLst>
              <a:ext uri="{FF2B5EF4-FFF2-40B4-BE49-F238E27FC236}">
                <a16:creationId xmlns:a16="http://schemas.microsoft.com/office/drawing/2014/main" id="{AC1037C5-802F-08AC-4C3A-E8BB9795FD90}"/>
              </a:ext>
            </a:extLst>
          </p:cNvPr>
          <p:cNvSpPr txBox="1"/>
          <p:nvPr/>
        </p:nvSpPr>
        <p:spPr>
          <a:xfrm>
            <a:off x="10567036" y="1622871"/>
            <a:ext cx="1422634" cy="369332"/>
          </a:xfrm>
          <a:prstGeom prst="rect">
            <a:avLst/>
          </a:prstGeom>
          <a:noFill/>
        </p:spPr>
        <p:txBody>
          <a:bodyPr wrap="none" rtlCol="0">
            <a:spAutoFit/>
          </a:bodyPr>
          <a:lstStyle/>
          <a:p>
            <a:r>
              <a:rPr lang="pt-BR" b="1" dirty="0">
                <a:solidFill>
                  <a:srgbClr val="FF0000"/>
                </a:solidFill>
              </a:rPr>
              <a:t>Momento 01</a:t>
            </a:r>
          </a:p>
        </p:txBody>
      </p:sp>
      <p:sp>
        <p:nvSpPr>
          <p:cNvPr id="23" name="Retângulo 22">
            <a:extLst>
              <a:ext uri="{FF2B5EF4-FFF2-40B4-BE49-F238E27FC236}">
                <a16:creationId xmlns:a16="http://schemas.microsoft.com/office/drawing/2014/main" id="{B1F195C0-2EBC-DBC2-13BE-77D16F09EAAE}"/>
              </a:ext>
            </a:extLst>
          </p:cNvPr>
          <p:cNvSpPr/>
          <p:nvPr/>
        </p:nvSpPr>
        <p:spPr>
          <a:xfrm>
            <a:off x="4216132" y="3308205"/>
            <a:ext cx="7787792" cy="13938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CaixaDeTexto 23">
            <a:extLst>
              <a:ext uri="{FF2B5EF4-FFF2-40B4-BE49-F238E27FC236}">
                <a16:creationId xmlns:a16="http://schemas.microsoft.com/office/drawing/2014/main" id="{265DC4D4-65DD-32E2-F4D4-D677AB76A55E}"/>
              </a:ext>
            </a:extLst>
          </p:cNvPr>
          <p:cNvSpPr txBox="1"/>
          <p:nvPr/>
        </p:nvSpPr>
        <p:spPr>
          <a:xfrm>
            <a:off x="10575455" y="3308205"/>
            <a:ext cx="1422634" cy="369332"/>
          </a:xfrm>
          <a:prstGeom prst="rect">
            <a:avLst/>
          </a:prstGeom>
          <a:noFill/>
        </p:spPr>
        <p:txBody>
          <a:bodyPr wrap="none" rtlCol="0">
            <a:spAutoFit/>
          </a:bodyPr>
          <a:lstStyle/>
          <a:p>
            <a:r>
              <a:rPr lang="pt-BR" b="1" dirty="0">
                <a:solidFill>
                  <a:srgbClr val="FF0000"/>
                </a:solidFill>
              </a:rPr>
              <a:t>Momento 02</a:t>
            </a:r>
          </a:p>
        </p:txBody>
      </p:sp>
      <p:sp>
        <p:nvSpPr>
          <p:cNvPr id="29" name="Retângulo 28">
            <a:extLst>
              <a:ext uri="{FF2B5EF4-FFF2-40B4-BE49-F238E27FC236}">
                <a16:creationId xmlns:a16="http://schemas.microsoft.com/office/drawing/2014/main" id="{311A72FD-94EA-CF43-A95E-FA61AA9D8D0A}"/>
              </a:ext>
            </a:extLst>
          </p:cNvPr>
          <p:cNvSpPr/>
          <p:nvPr/>
        </p:nvSpPr>
        <p:spPr>
          <a:xfrm>
            <a:off x="4216132" y="5003586"/>
            <a:ext cx="7787792" cy="136203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CaixaDeTexto 29">
            <a:extLst>
              <a:ext uri="{FF2B5EF4-FFF2-40B4-BE49-F238E27FC236}">
                <a16:creationId xmlns:a16="http://schemas.microsoft.com/office/drawing/2014/main" id="{A01A5B70-8545-96F6-6AAF-D6941A2181C7}"/>
              </a:ext>
            </a:extLst>
          </p:cNvPr>
          <p:cNvSpPr txBox="1"/>
          <p:nvPr/>
        </p:nvSpPr>
        <p:spPr>
          <a:xfrm>
            <a:off x="10575455" y="5003586"/>
            <a:ext cx="1422634" cy="369332"/>
          </a:xfrm>
          <a:prstGeom prst="rect">
            <a:avLst/>
          </a:prstGeom>
          <a:noFill/>
        </p:spPr>
        <p:txBody>
          <a:bodyPr wrap="none" rtlCol="0">
            <a:spAutoFit/>
          </a:bodyPr>
          <a:lstStyle/>
          <a:p>
            <a:r>
              <a:rPr lang="pt-BR" b="1" dirty="0">
                <a:solidFill>
                  <a:srgbClr val="FF0000"/>
                </a:solidFill>
              </a:rPr>
              <a:t>Momento 03</a:t>
            </a:r>
          </a:p>
        </p:txBody>
      </p:sp>
      <p:sp>
        <p:nvSpPr>
          <p:cNvPr id="31" name="CaixaDeTexto 30">
            <a:extLst>
              <a:ext uri="{FF2B5EF4-FFF2-40B4-BE49-F238E27FC236}">
                <a16:creationId xmlns:a16="http://schemas.microsoft.com/office/drawing/2014/main" id="{B44CA7DA-E848-3679-E05C-C7085FB61448}"/>
              </a:ext>
            </a:extLst>
          </p:cNvPr>
          <p:cNvSpPr txBox="1"/>
          <p:nvPr/>
        </p:nvSpPr>
        <p:spPr>
          <a:xfrm>
            <a:off x="4207713" y="3307813"/>
            <a:ext cx="2647263" cy="738664"/>
          </a:xfrm>
          <a:prstGeom prst="rect">
            <a:avLst/>
          </a:prstGeom>
          <a:noFill/>
          <a:ln w="38100">
            <a:solidFill>
              <a:srgbClr val="FF0000"/>
            </a:solidFill>
          </a:ln>
        </p:spPr>
        <p:txBody>
          <a:bodyPr wrap="none" rtlCol="0">
            <a:spAutoFit/>
          </a:bodyPr>
          <a:lstStyle/>
          <a:p>
            <a:r>
              <a:rPr lang="pt-BR" sz="1400" dirty="0"/>
              <a:t>UPDATE </a:t>
            </a:r>
            <a:r>
              <a:rPr lang="pt-BR" sz="1400" dirty="0" err="1"/>
              <a:t>dbo.TB_ALUNO</a:t>
            </a:r>
            <a:endParaRPr lang="pt-BR" sz="1400" dirty="0"/>
          </a:p>
          <a:p>
            <a:r>
              <a:rPr lang="pt-BR" sz="1400" dirty="0"/>
              <a:t>SET NUM_SERIE = 7 </a:t>
            </a:r>
          </a:p>
          <a:p>
            <a:r>
              <a:rPr lang="pt-BR" sz="1400" dirty="0"/>
              <a:t>WHERE NUM_MATRICULA = 1234</a:t>
            </a:r>
          </a:p>
        </p:txBody>
      </p:sp>
      <p:sp>
        <p:nvSpPr>
          <p:cNvPr id="32" name="CaixaDeTexto 31">
            <a:extLst>
              <a:ext uri="{FF2B5EF4-FFF2-40B4-BE49-F238E27FC236}">
                <a16:creationId xmlns:a16="http://schemas.microsoft.com/office/drawing/2014/main" id="{70034821-3C8E-B510-BD66-6F493A355BF2}"/>
              </a:ext>
            </a:extLst>
          </p:cNvPr>
          <p:cNvSpPr txBox="1"/>
          <p:nvPr/>
        </p:nvSpPr>
        <p:spPr>
          <a:xfrm>
            <a:off x="4207712" y="5003586"/>
            <a:ext cx="2647263" cy="738664"/>
          </a:xfrm>
          <a:prstGeom prst="rect">
            <a:avLst/>
          </a:prstGeom>
          <a:noFill/>
          <a:ln w="38100">
            <a:solidFill>
              <a:srgbClr val="FF0000"/>
            </a:solidFill>
          </a:ln>
        </p:spPr>
        <p:txBody>
          <a:bodyPr wrap="none" rtlCol="0">
            <a:spAutoFit/>
          </a:bodyPr>
          <a:lstStyle/>
          <a:p>
            <a:r>
              <a:rPr lang="pt-BR" sz="1400" dirty="0"/>
              <a:t>UPDATE </a:t>
            </a:r>
            <a:r>
              <a:rPr lang="pt-BR" sz="1400" dirty="0" err="1"/>
              <a:t>dbo.TB_ALUNO</a:t>
            </a:r>
            <a:endParaRPr lang="pt-BR" sz="1400" dirty="0"/>
          </a:p>
          <a:p>
            <a:r>
              <a:rPr lang="pt-BR" sz="1400" dirty="0"/>
              <a:t>SET NUM_SERIE = 8 </a:t>
            </a:r>
          </a:p>
          <a:p>
            <a:r>
              <a:rPr lang="pt-BR" sz="1400" dirty="0"/>
              <a:t>WHERE NUM_MATRICULA = 1234</a:t>
            </a:r>
          </a:p>
        </p:txBody>
      </p:sp>
    </p:spTree>
    <p:extLst>
      <p:ext uri="{BB962C8B-B14F-4D97-AF65-F5344CB8AC3E}">
        <p14:creationId xmlns:p14="http://schemas.microsoft.com/office/powerpoint/2010/main" val="372860899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56014</TotalTime>
  <Words>1631</Words>
  <Application>Microsoft Office PowerPoint</Application>
  <PresentationFormat>Widescreen</PresentationFormat>
  <Paragraphs>250</Paragraphs>
  <Slides>28</Slides>
  <Notes>9</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28</vt:i4>
      </vt:variant>
    </vt:vector>
  </HeadingPairs>
  <TitlesOfParts>
    <vt:vector size="35" baseType="lpstr">
      <vt:lpstr>-apple-system</vt:lpstr>
      <vt:lpstr>Aptos</vt:lpstr>
      <vt:lpstr>Arial</vt:lpstr>
      <vt:lpstr>Calibri</vt:lpstr>
      <vt:lpstr>Calibri Light</vt:lpstr>
      <vt:lpstr>Impact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Gabriel Quintella</dc:creator>
  <cp:lastModifiedBy>Gabriel Quintella</cp:lastModifiedBy>
  <cp:revision>483</cp:revision>
  <dcterms:created xsi:type="dcterms:W3CDTF">2024-02-17T14:08:37Z</dcterms:created>
  <dcterms:modified xsi:type="dcterms:W3CDTF">2024-10-17T11:52:43Z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ada0a2f-b917-4d51-b0d0-d418a10c8b23_Enabled">
    <vt:lpwstr>true</vt:lpwstr>
  </property>
  <property fmtid="{D5CDD505-2E9C-101B-9397-08002B2CF9AE}" pid="3" name="MSIP_Label_1ada0a2f-b917-4d51-b0d0-d418a10c8b23_SetDate">
    <vt:lpwstr>2024-06-12T18:01:52Z</vt:lpwstr>
  </property>
  <property fmtid="{D5CDD505-2E9C-101B-9397-08002B2CF9AE}" pid="4" name="MSIP_Label_1ada0a2f-b917-4d51-b0d0-d418a10c8b23_Method">
    <vt:lpwstr>Standard</vt:lpwstr>
  </property>
  <property fmtid="{D5CDD505-2E9C-101B-9397-08002B2CF9AE}" pid="5" name="MSIP_Label_1ada0a2f-b917-4d51-b0d0-d418a10c8b23_Name">
    <vt:lpwstr>1ada0a2f-b917-4d51-b0d0-d418a10c8b23</vt:lpwstr>
  </property>
  <property fmtid="{D5CDD505-2E9C-101B-9397-08002B2CF9AE}" pid="6" name="MSIP_Label_1ada0a2f-b917-4d51-b0d0-d418a10c8b23_SiteId">
    <vt:lpwstr>12a3af23-a769-4654-847f-958f3d479f4a</vt:lpwstr>
  </property>
  <property fmtid="{D5CDD505-2E9C-101B-9397-08002B2CF9AE}" pid="7" name="MSIP_Label_1ada0a2f-b917-4d51-b0d0-d418a10c8b23_ActionId">
    <vt:lpwstr>67b60621-427c-4511-9874-ff9b4329d30c</vt:lpwstr>
  </property>
  <property fmtid="{D5CDD505-2E9C-101B-9397-08002B2CF9AE}" pid="8" name="MSIP_Label_1ada0a2f-b917-4d51-b0d0-d418a10c8b23_ContentBits">
    <vt:lpwstr>0</vt:lpwstr>
  </property>
</Properties>
</file>